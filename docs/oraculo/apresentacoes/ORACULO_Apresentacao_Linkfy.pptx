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41148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8686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D4CC"/>
                </a:solidFill>
                <a:latin typeface="Segoe UI Semibold"/>
              </a:rPr>
              <a:t>HACKATHON IA COPPE/UFRJ 2026   |   TRILHA TRANSIÇÃO ENERGÉTICA   |   IDEATHON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984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Segoe UI Semibold"/>
              </a:rPr>
              <a:t>O.R.A.C.U.L.O.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B9C6E4"/>
                </a:solidFill>
                <a:latin typeface="Segoe UI"/>
              </a:rPr>
              <a:t>Observabilidade de Redes e Análise de Curtailment em Usinas e Limites Operacionais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017520"/>
            <a:ext cx="310896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6537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F2"/>
                </a:solidFill>
                <a:latin typeface="Segoe UI"/>
              </a:rPr>
              <a:t>O ONS dispõe de elevada observabilidade sobre o sistema que supervisiona; nas redes de distribuição, essa visão ainda depende de informações agregadas e estimativas. O O.R.A.C.U.L.O. entrega ao operador a visibilidade preditiva da fronteira transmissão–distribuição: onde está a MMGD, quanto poderá gerar nas horas seguintes, qual será o seu impacto sobre a carga supervisionada e em quais regiões poderão surgir excedentes de geração.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3246120"/>
            <a:ext cx="3410712" cy="1207008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3246120"/>
            <a:ext cx="3410712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45643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>
                <a:solidFill>
                  <a:srgbClr val="7FD4CC"/>
                </a:solidFill>
                <a:latin typeface="Segoe UI Semibold"/>
              </a:rPr>
              <a:t>POSICIONAMENTO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730752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Camada de observabilidade e inteligência preditiva da fronteira transmissão–distribuição.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212080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AC4"/>
                </a:solidFill>
                <a:latin typeface="Segoe UI Semibold"/>
              </a:rPr>
              <a:t>DESAFIOS ENDEREÇADOS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504688"/>
            <a:ext cx="1287475" cy="365760"/>
          </a:xfrm>
          <a:prstGeom prst="roundRect">
            <a:avLst>
              <a:gd name="adj" fmla="val 50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04688"/>
            <a:ext cx="12874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Curtailment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3899" y="5504688"/>
            <a:ext cx="3855110" cy="365760"/>
          </a:xfrm>
          <a:prstGeom prst="roundRect">
            <a:avLst>
              <a:gd name="adj" fmla="val 50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3899" y="5504688"/>
            <a:ext cx="385511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Demanda energética, clima e operação do sistema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6199632"/>
            <a:ext cx="10268712" cy="10972"/>
          </a:xfrm>
          <a:prstGeom prst="rect">
            <a:avLst/>
          </a:prstGeom>
          <a:solidFill>
            <a:srgbClr val="3345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Equipe Linkfy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6355080"/>
            <a:ext cx="4782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AC4"/>
                </a:solidFill>
                <a:latin typeface="Segoe UI"/>
              </a:rPr>
              <a:t>13 de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DESAFIO 1  |  CURTAILMENT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Um problema de sobreoferta diurna, estrutural e crescente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737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96B"/>
                </a:solidFill>
                <a:latin typeface="Segoe UI Semibold"/>
              </a:rPr>
              <a:t>≈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82495"/>
            <a:ext cx="1737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da geração potencial eólica e solar cortada em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298448"/>
            <a:ext cx="1737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06410"/>
                </a:solidFill>
                <a:latin typeface="Segoe UI Semibold"/>
              </a:rPr>
              <a:t>4.021 MWmed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1682495"/>
            <a:ext cx="1737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montante médio cortado no ano (Volt Robotics sobre dados do 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298448"/>
            <a:ext cx="1737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3262A"/>
                </a:solidFill>
                <a:latin typeface="Segoe UI Semibold"/>
              </a:rPr>
              <a:t>R$ 6,5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82495"/>
            <a:ext cx="1737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perdas estimadas no ano (Caderno de Desafios)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304288"/>
            <a:ext cx="4919472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68680" y="2892552"/>
            <a:ext cx="49194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8680" y="3480816"/>
            <a:ext cx="49194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868680" y="2516063"/>
            <a:ext cx="4919472" cy="1553017"/>
          </a:xfrm>
          <a:custGeom>
            <a:avLst/>
            <a:gdLst/>
            <a:ahLst/>
            <a:cxnLst/>
            <a:rect l="l" t="t" r="r" b="b"/>
            <a:pathLst>
              <a:path w="4919472" h="1553017">
                <a:moveTo>
                  <a:pt x="0" y="1235354"/>
                </a:moveTo>
                <a:lnTo>
                  <a:pt x="213890" y="1270650"/>
                </a:lnTo>
                <a:lnTo>
                  <a:pt x="427780" y="1288298"/>
                </a:lnTo>
                <a:lnTo>
                  <a:pt x="641670" y="1305946"/>
                </a:lnTo>
                <a:lnTo>
                  <a:pt x="855560" y="1305946"/>
                </a:lnTo>
                <a:lnTo>
                  <a:pt x="1069450" y="1270650"/>
                </a:lnTo>
                <a:lnTo>
                  <a:pt x="1283340" y="1094171"/>
                </a:lnTo>
                <a:lnTo>
                  <a:pt x="1497230" y="811804"/>
                </a:lnTo>
                <a:lnTo>
                  <a:pt x="1711120" y="494141"/>
                </a:lnTo>
                <a:lnTo>
                  <a:pt x="1925010" y="247070"/>
                </a:lnTo>
                <a:lnTo>
                  <a:pt x="2138900" y="70591"/>
                </a:lnTo>
                <a:lnTo>
                  <a:pt x="2352790" y="0"/>
                </a:lnTo>
                <a:lnTo>
                  <a:pt x="2566681" y="0"/>
                </a:lnTo>
                <a:lnTo>
                  <a:pt x="2780571" y="70591"/>
                </a:lnTo>
                <a:lnTo>
                  <a:pt x="2994461" y="211775"/>
                </a:lnTo>
                <a:lnTo>
                  <a:pt x="3208351" y="423550"/>
                </a:lnTo>
                <a:lnTo>
                  <a:pt x="3422241" y="705916"/>
                </a:lnTo>
                <a:lnTo>
                  <a:pt x="3636131" y="988283"/>
                </a:lnTo>
                <a:lnTo>
                  <a:pt x="3850021" y="1200058"/>
                </a:lnTo>
                <a:lnTo>
                  <a:pt x="4063911" y="1288298"/>
                </a:lnTo>
                <a:lnTo>
                  <a:pt x="4277801" y="1305946"/>
                </a:lnTo>
                <a:lnTo>
                  <a:pt x="4491691" y="1288298"/>
                </a:lnTo>
                <a:lnTo>
                  <a:pt x="4705581" y="1270650"/>
                </a:lnTo>
                <a:lnTo>
                  <a:pt x="4919472" y="1253002"/>
                </a:lnTo>
                <a:lnTo>
                  <a:pt x="4919472" y="1553017"/>
                </a:lnTo>
                <a:lnTo>
                  <a:pt x="0" y="1553017"/>
                </a:lnTo>
                <a:close/>
              </a:path>
            </a:pathLst>
          </a:custGeom>
          <a:solidFill>
            <a:srgbClr val="F7D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793690" y="2516063"/>
            <a:ext cx="1069451" cy="441198"/>
          </a:xfrm>
          <a:custGeom>
            <a:avLst/>
            <a:gdLst/>
            <a:ahLst/>
            <a:cxnLst/>
            <a:rect l="l" t="t" r="r" b="b"/>
            <a:pathLst>
              <a:path w="1069451" h="441198">
                <a:moveTo>
                  <a:pt x="0" y="247070"/>
                </a:moveTo>
                <a:lnTo>
                  <a:pt x="213890" y="70591"/>
                </a:lnTo>
                <a:lnTo>
                  <a:pt x="427780" y="0"/>
                </a:lnTo>
                <a:lnTo>
                  <a:pt x="641671" y="0"/>
                </a:lnTo>
                <a:lnTo>
                  <a:pt x="855561" y="70591"/>
                </a:lnTo>
                <a:lnTo>
                  <a:pt x="1069451" y="211775"/>
                </a:lnTo>
                <a:lnTo>
                  <a:pt x="1069451" y="388254"/>
                </a:lnTo>
                <a:lnTo>
                  <a:pt x="855561" y="388254"/>
                </a:lnTo>
                <a:lnTo>
                  <a:pt x="641671" y="388254"/>
                </a:lnTo>
                <a:lnTo>
                  <a:pt x="427780" y="388254"/>
                </a:lnTo>
                <a:lnTo>
                  <a:pt x="213890" y="405902"/>
                </a:lnTo>
                <a:lnTo>
                  <a:pt x="0" y="441198"/>
                </a:lnTo>
                <a:close/>
              </a:path>
            </a:pathLst>
          </a:cu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68680" y="2657246"/>
            <a:ext cx="4919472" cy="600029"/>
          </a:xfrm>
          <a:custGeom>
            <a:avLst/>
            <a:gdLst/>
            <a:ahLst/>
            <a:cxnLst/>
            <a:rect l="l" t="t" r="r" b="b"/>
            <a:pathLst>
              <a:path w="4919472" h="600029">
                <a:moveTo>
                  <a:pt x="0" y="494142"/>
                </a:moveTo>
                <a:lnTo>
                  <a:pt x="213890" y="529438"/>
                </a:lnTo>
                <a:lnTo>
                  <a:pt x="427780" y="564733"/>
                </a:lnTo>
                <a:lnTo>
                  <a:pt x="641670" y="582381"/>
                </a:lnTo>
                <a:lnTo>
                  <a:pt x="855560" y="600029"/>
                </a:lnTo>
                <a:lnTo>
                  <a:pt x="1069450" y="582381"/>
                </a:lnTo>
                <a:lnTo>
                  <a:pt x="1283340" y="529438"/>
                </a:lnTo>
                <a:lnTo>
                  <a:pt x="1497230" y="441198"/>
                </a:lnTo>
                <a:lnTo>
                  <a:pt x="1711120" y="352958"/>
                </a:lnTo>
                <a:lnTo>
                  <a:pt x="1925010" y="300015"/>
                </a:lnTo>
                <a:lnTo>
                  <a:pt x="2138900" y="264719"/>
                </a:lnTo>
                <a:lnTo>
                  <a:pt x="2352790" y="247071"/>
                </a:lnTo>
                <a:lnTo>
                  <a:pt x="2566681" y="247071"/>
                </a:lnTo>
                <a:lnTo>
                  <a:pt x="2780571" y="247071"/>
                </a:lnTo>
                <a:lnTo>
                  <a:pt x="2994461" y="247071"/>
                </a:lnTo>
                <a:lnTo>
                  <a:pt x="3208351" y="247071"/>
                </a:lnTo>
                <a:lnTo>
                  <a:pt x="3422241" y="211775"/>
                </a:lnTo>
                <a:lnTo>
                  <a:pt x="3636131" y="141183"/>
                </a:lnTo>
                <a:lnTo>
                  <a:pt x="3850021" y="35296"/>
                </a:lnTo>
                <a:lnTo>
                  <a:pt x="4063911" y="0"/>
                </a:lnTo>
                <a:lnTo>
                  <a:pt x="4277801" y="35296"/>
                </a:lnTo>
                <a:lnTo>
                  <a:pt x="4491691" y="141183"/>
                </a:lnTo>
                <a:lnTo>
                  <a:pt x="4705581" y="282367"/>
                </a:lnTo>
                <a:lnTo>
                  <a:pt x="4919472" y="405902"/>
                </a:lnTo>
              </a:path>
            </a:pathLst>
          </a:custGeom>
          <a:noFill/>
          <a:ln w="25400">
            <a:solidFill>
              <a:srgbClr val="172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68680" y="2516063"/>
            <a:ext cx="4919472" cy="1305946"/>
          </a:xfrm>
          <a:custGeom>
            <a:avLst/>
            <a:gdLst/>
            <a:ahLst/>
            <a:cxnLst/>
            <a:rect l="l" t="t" r="r" b="b"/>
            <a:pathLst>
              <a:path w="4919472" h="1305946">
                <a:moveTo>
                  <a:pt x="0" y="1235354"/>
                </a:moveTo>
                <a:lnTo>
                  <a:pt x="213890" y="1270650"/>
                </a:lnTo>
                <a:lnTo>
                  <a:pt x="427780" y="1288298"/>
                </a:lnTo>
                <a:lnTo>
                  <a:pt x="641670" y="1305946"/>
                </a:lnTo>
                <a:lnTo>
                  <a:pt x="855560" y="1305946"/>
                </a:lnTo>
                <a:lnTo>
                  <a:pt x="1069450" y="1270650"/>
                </a:lnTo>
                <a:lnTo>
                  <a:pt x="1283340" y="1094171"/>
                </a:lnTo>
                <a:lnTo>
                  <a:pt x="1497230" y="811804"/>
                </a:lnTo>
                <a:lnTo>
                  <a:pt x="1711120" y="494141"/>
                </a:lnTo>
                <a:lnTo>
                  <a:pt x="1925010" y="247070"/>
                </a:lnTo>
                <a:lnTo>
                  <a:pt x="2138900" y="70591"/>
                </a:lnTo>
                <a:lnTo>
                  <a:pt x="2352790" y="0"/>
                </a:lnTo>
                <a:lnTo>
                  <a:pt x="2566681" y="0"/>
                </a:lnTo>
                <a:lnTo>
                  <a:pt x="2780571" y="70591"/>
                </a:lnTo>
                <a:lnTo>
                  <a:pt x="2994461" y="211775"/>
                </a:lnTo>
                <a:lnTo>
                  <a:pt x="3208351" y="423550"/>
                </a:lnTo>
                <a:lnTo>
                  <a:pt x="3422241" y="705916"/>
                </a:lnTo>
                <a:lnTo>
                  <a:pt x="3636131" y="988283"/>
                </a:lnTo>
                <a:lnTo>
                  <a:pt x="3850021" y="1200058"/>
                </a:lnTo>
                <a:lnTo>
                  <a:pt x="4063911" y="1288298"/>
                </a:lnTo>
                <a:lnTo>
                  <a:pt x="4277801" y="1305946"/>
                </a:lnTo>
                <a:lnTo>
                  <a:pt x="4491691" y="1288298"/>
                </a:lnTo>
                <a:lnTo>
                  <a:pt x="4705581" y="1270650"/>
                </a:lnTo>
                <a:lnTo>
                  <a:pt x="4919472" y="1253002"/>
                </a:lnTo>
              </a:path>
            </a:pathLst>
          </a:custGeom>
          <a:noFill/>
          <a:ln w="19050">
            <a:solidFill>
              <a:srgbClr val="E0A52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286000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GW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114800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0h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0852" y="4114800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6h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4193" y="4114800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12h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533" y="4114800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18h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6984" y="4114800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24h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236" y="2339583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6B3E"/>
                </a:solidFill>
                <a:latin typeface="Segoe UI Semibold"/>
              </a:rPr>
              <a:t>excedente de geração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236" y="2495031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restrição por razão energética (ENE)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329684"/>
            <a:ext cx="146304" cy="82296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28853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carga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90472" y="4329684"/>
            <a:ext cx="146304" cy="82296"/>
          </a:xfrm>
          <a:prstGeom prst="rect">
            <a:avLst/>
          </a:prstGeom>
          <a:solidFill>
            <a:srgbClr val="F7D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0784" y="428853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geração renovável disponível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2073" y="4329684"/>
            <a:ext cx="146304" cy="8229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2385" y="428853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excedente → corte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90288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50" b="0">
                <a:solidFill>
                  <a:srgbClr val="1F2430"/>
                </a:solidFill>
                <a:latin typeface="Segoe UI"/>
              </a:rPr>
              <a:t>O ONS não impõe o corte por escolha: </a:t>
            </a:r>
            <a:r>
              <a:rPr sz="950" b="1">
                <a:solidFill>
                  <a:srgbClr val="17296B"/>
                </a:solidFill>
                <a:latin typeface="Segoe UI Semibold"/>
              </a:rPr>
              <a:t>coordena a redução de geração</a:t>
            </a:r>
            <a:r>
              <a:rPr sz="950" b="0">
                <a:solidFill>
                  <a:srgbClr val="1F2430"/>
                </a:solidFill>
                <a:latin typeface="Segoe UI"/>
              </a:rPr>
              <a:t> para preservar o equilíbrio instantâneo carga–geração e evitar risco de colapso.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50" b="1">
                <a:solidFill>
                  <a:srgbClr val="17296B"/>
                </a:solidFill>
                <a:latin typeface="Segoe UI Semibold"/>
              </a:rPr>
              <a:t>Desde abril de 2025 a razão energética supera as demais</a:t>
            </a:r>
            <a:r>
              <a:rPr sz="950" b="0">
                <a:solidFill>
                  <a:srgbClr val="1F2430"/>
                </a:solidFill>
                <a:latin typeface="Segoe UI"/>
              </a:rPr>
              <a:t> — o corte deixou de ser predominantemente gargalo de transmissão.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50" b="0">
                <a:solidFill>
                  <a:srgbClr val="1F2430"/>
                </a:solidFill>
                <a:latin typeface="Segoe UI"/>
              </a:rPr>
              <a:t>Curtailment e constrained-off são equivalentes na regulação brasileira (AIR nº 2022-002/SRG–ANEEL).</a:t>
            </a:r>
          </a:p>
        </p:txBody>
      </p:sp>
      <p:pic>
        <p:nvPicPr>
          <p:cNvPr id="34" name="Picture 3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98448"/>
            <a:ext cx="5513832" cy="3100826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172200" y="1298448"/>
            <a:ext cx="5513832" cy="3100826"/>
          </a:xfrm>
          <a:prstGeom prst="rect">
            <a:avLst/>
          </a:prstGeom>
          <a:noFill/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463282"/>
            <a:ext cx="5513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Figura 1 — Evolução do curtailment (jan/23–out/25) por classificação, contra o crescimento da capacidade EOL+UFV+MMGD (+~40 GW) e a variação da carga média (&lt;10 GW). Fonte: ONS, PAR/PEL 2025 — Sumário Executivo.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5138928"/>
            <a:ext cx="1764792" cy="12070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5138928"/>
            <a:ext cx="1764792" cy="29260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216" y="5266944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3262A"/>
                </a:solidFill>
                <a:latin typeface="Segoe UI Semibold"/>
              </a:rPr>
              <a:t>REL
Indisponibilidade externa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5678424"/>
            <a:ext cx="1508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Restrição elétrica fora das instalações da usina. Ressarcível.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292" y="5138928"/>
            <a:ext cx="1764792" cy="12070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51292" y="5138928"/>
            <a:ext cx="1764792" cy="29260"/>
          </a:xfrm>
          <a:prstGeom prst="rect">
            <a:avLst/>
          </a:prstGeom>
          <a:solidFill>
            <a:srgbClr val="7B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9308" y="5266944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B2C8A"/>
                </a:solidFill>
                <a:latin typeface="Segoe UI Semibold"/>
              </a:rPr>
              <a:t>CNF
Confiabilidade e segurança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9308" y="5678424"/>
            <a:ext cx="1508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Limites de exportação NE e N/NE. Ressarcível em período definido por lei.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30384" y="5138928"/>
            <a:ext cx="1764792" cy="12070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30384" y="5138928"/>
            <a:ext cx="1764792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0" y="5266944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B57"/>
                </a:solidFill>
                <a:latin typeface="Segoe UI Semibold"/>
              </a:rPr>
              <a:t>ENE
Razão energética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5678424"/>
            <a:ext cx="1508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Geração disponível supera a demanda. </a:t>
            </a:r>
            <a:r>
              <a:rPr sz="700" b="1">
                <a:solidFill>
                  <a:srgbClr val="17296B"/>
                </a:solidFill>
                <a:latin typeface="Segoe UI Semibold"/>
              </a:rPr>
              <a:t>Não é ressarcida — e é a que cresce.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DESAFIO 1  |  CURTAILMENT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A projeção do ONS concentra o corte na janela solar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525524" cy="1207007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772204"/>
            <a:ext cx="1525524" cy="35003"/>
          </a:xfrm>
          <a:prstGeom prst="rect">
            <a:avLst/>
          </a:prstGeom>
          <a:solidFill>
            <a:srgbClr val="D3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772204"/>
            <a:ext cx="1525524" cy="25603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34460"/>
            <a:ext cx="15255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96B"/>
                </a:solidFill>
                <a:latin typeface="Segoe UI Semibold"/>
              </a:rPr>
              <a:t>2,9%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71215"/>
            <a:ext cx="15255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00:00–06:59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91256"/>
            <a:ext cx="15255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A6473"/>
                </a:solidFill>
                <a:latin typeface="Segoe UI Semibold"/>
              </a:rPr>
              <a:t>máx. 10 GW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3308" y="1600200"/>
            <a:ext cx="871728" cy="1207007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83308" y="2353372"/>
            <a:ext cx="871728" cy="453835"/>
          </a:xfrm>
          <a:prstGeom prst="rect">
            <a:avLst/>
          </a:prstGeom>
          <a:solidFill>
            <a:srgbClr val="F7E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83308" y="2353372"/>
            <a:ext cx="871728" cy="25603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3308" y="2115628"/>
            <a:ext cx="871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410"/>
                </a:solidFill>
                <a:latin typeface="Segoe UI Semibold"/>
              </a:rPr>
              <a:t>37,6%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3308" y="2871215"/>
            <a:ext cx="871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07:00–08:59
16:00–17:59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3308" y="3191256"/>
            <a:ext cx="871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A6473"/>
                </a:solidFill>
                <a:latin typeface="Segoe UI Semibold"/>
              </a:rPr>
              <a:t>máx. 42 GW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9900" y="1600200"/>
            <a:ext cx="1525524" cy="1207007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09900" y="1903159"/>
            <a:ext cx="1525524" cy="904048"/>
          </a:xfrm>
          <a:prstGeom prst="rect">
            <a:avLst/>
          </a:prstGeom>
          <a:solidFill>
            <a:srgbClr val="CB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09900" y="1903159"/>
            <a:ext cx="1525524" cy="25603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09900" y="1665415"/>
            <a:ext cx="15255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9B57"/>
                </a:solidFill>
                <a:latin typeface="Segoe UI Semibold"/>
              </a:rPr>
              <a:t>74,9%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9900" y="2871215"/>
            <a:ext cx="15255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09:00–15:59
platô solar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9900" y="3191256"/>
            <a:ext cx="15255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A6473"/>
                </a:solidFill>
                <a:latin typeface="Segoe UI Semibold"/>
              </a:rPr>
              <a:t>máx. 52 GW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1600200"/>
            <a:ext cx="1307592" cy="1207007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90288" y="2778239"/>
            <a:ext cx="1307592" cy="28968"/>
          </a:xfrm>
          <a:prstGeom prst="rect">
            <a:avLst/>
          </a:prstGeom>
          <a:solidFill>
            <a:srgbClr val="D3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90288" y="2778239"/>
            <a:ext cx="1307592" cy="25603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2540495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96B"/>
                </a:solidFill>
                <a:latin typeface="Segoe UI Semibold"/>
              </a:rPr>
              <a:t>2,4%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2871215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18:00–23:59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191256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A6473"/>
                </a:solidFill>
                <a:latin typeface="Segoe UI Semibold"/>
              </a:rPr>
              <a:t>máx. 8 GW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325880"/>
            <a:ext cx="33448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% DO TEMPO COM CORTE DE GERAÇÃO (PROJEÇÃO 2026–2029)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7795" y="1325880"/>
            <a:ext cx="20500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base PEN/PMO + MMGD 4MD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" y="3822191"/>
            <a:ext cx="5120640" cy="13990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40664" y="4521707"/>
            <a:ext cx="5120640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740664" y="3878153"/>
            <a:ext cx="5120640" cy="1343070"/>
          </a:xfrm>
          <a:custGeom>
            <a:avLst/>
            <a:gdLst/>
            <a:ahLst/>
            <a:cxnLst/>
            <a:rect l="l" t="t" r="r" b="b"/>
            <a:pathLst>
              <a:path w="5120640" h="1343070">
                <a:moveTo>
                  <a:pt x="0" y="1287109"/>
                </a:moveTo>
                <a:lnTo>
                  <a:pt x="222636" y="1301100"/>
                </a:lnTo>
                <a:lnTo>
                  <a:pt x="445273" y="1301100"/>
                </a:lnTo>
                <a:lnTo>
                  <a:pt x="667909" y="1315090"/>
                </a:lnTo>
                <a:lnTo>
                  <a:pt x="890546" y="1315090"/>
                </a:lnTo>
                <a:lnTo>
                  <a:pt x="1113182" y="1301100"/>
                </a:lnTo>
                <a:lnTo>
                  <a:pt x="1335819" y="1203167"/>
                </a:lnTo>
                <a:lnTo>
                  <a:pt x="1558455" y="923361"/>
                </a:lnTo>
                <a:lnTo>
                  <a:pt x="1781092" y="531632"/>
                </a:lnTo>
                <a:lnTo>
                  <a:pt x="2003728" y="223845"/>
                </a:lnTo>
                <a:lnTo>
                  <a:pt x="2226365" y="55961"/>
                </a:lnTo>
                <a:lnTo>
                  <a:pt x="2449001" y="0"/>
                </a:lnTo>
                <a:lnTo>
                  <a:pt x="2671638" y="13990"/>
                </a:lnTo>
                <a:lnTo>
                  <a:pt x="2894274" y="111922"/>
                </a:lnTo>
                <a:lnTo>
                  <a:pt x="3116911" y="335767"/>
                </a:lnTo>
                <a:lnTo>
                  <a:pt x="3339547" y="643554"/>
                </a:lnTo>
                <a:lnTo>
                  <a:pt x="3562184" y="979322"/>
                </a:lnTo>
                <a:lnTo>
                  <a:pt x="3784820" y="1203167"/>
                </a:lnTo>
                <a:lnTo>
                  <a:pt x="4007457" y="1287109"/>
                </a:lnTo>
                <a:lnTo>
                  <a:pt x="4230093" y="1301100"/>
                </a:lnTo>
                <a:lnTo>
                  <a:pt x="4452730" y="1301100"/>
                </a:lnTo>
                <a:lnTo>
                  <a:pt x="4675366" y="1301100"/>
                </a:lnTo>
                <a:lnTo>
                  <a:pt x="4898003" y="1287109"/>
                </a:lnTo>
                <a:lnTo>
                  <a:pt x="5120640" y="1287109"/>
                </a:lnTo>
                <a:lnTo>
                  <a:pt x="5120640" y="1343070"/>
                </a:lnTo>
                <a:lnTo>
                  <a:pt x="0" y="1343070"/>
                </a:lnTo>
                <a:close/>
              </a:path>
            </a:pathLst>
          </a:custGeom>
          <a:solidFill>
            <a:srgbClr val="CBE7D5"/>
          </a:solidFill>
          <a:ln w="12700">
            <a:solidFill>
              <a:srgbClr val="2E9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0664" y="4857475"/>
            <a:ext cx="5120640" cy="363748"/>
          </a:xfrm>
          <a:prstGeom prst="rect">
            <a:avLst/>
          </a:prstGeom>
          <a:noFill/>
          <a:ln w="13970">
            <a:solidFill>
              <a:srgbClr val="2B43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740664" y="4857475"/>
            <a:ext cx="5120640" cy="363748"/>
          </a:xfrm>
          <a:custGeom>
            <a:avLst/>
            <a:gdLst/>
            <a:ahLst/>
            <a:cxnLst/>
            <a:rect l="l" t="t" r="r" b="b"/>
            <a:pathLst>
              <a:path w="5120640" h="363748">
                <a:moveTo>
                  <a:pt x="0" y="307787"/>
                </a:moveTo>
                <a:lnTo>
                  <a:pt x="222636" y="321778"/>
                </a:lnTo>
                <a:lnTo>
                  <a:pt x="445273" y="321778"/>
                </a:lnTo>
                <a:lnTo>
                  <a:pt x="667909" y="335768"/>
                </a:lnTo>
                <a:lnTo>
                  <a:pt x="890546" y="335768"/>
                </a:lnTo>
                <a:lnTo>
                  <a:pt x="1113182" y="321778"/>
                </a:lnTo>
                <a:lnTo>
                  <a:pt x="1335819" y="223845"/>
                </a:lnTo>
                <a:lnTo>
                  <a:pt x="1558455" y="0"/>
                </a:lnTo>
                <a:lnTo>
                  <a:pt x="1781092" y="0"/>
                </a:lnTo>
                <a:lnTo>
                  <a:pt x="2003728" y="0"/>
                </a:lnTo>
                <a:lnTo>
                  <a:pt x="2226365" y="0"/>
                </a:lnTo>
                <a:lnTo>
                  <a:pt x="2449001" y="0"/>
                </a:lnTo>
                <a:lnTo>
                  <a:pt x="2671638" y="0"/>
                </a:lnTo>
                <a:lnTo>
                  <a:pt x="2894274" y="0"/>
                </a:lnTo>
                <a:lnTo>
                  <a:pt x="3116911" y="0"/>
                </a:lnTo>
                <a:lnTo>
                  <a:pt x="3339547" y="0"/>
                </a:lnTo>
                <a:lnTo>
                  <a:pt x="3562184" y="0"/>
                </a:lnTo>
                <a:lnTo>
                  <a:pt x="3784820" y="223845"/>
                </a:lnTo>
                <a:lnTo>
                  <a:pt x="4007457" y="307787"/>
                </a:lnTo>
                <a:lnTo>
                  <a:pt x="4230093" y="321778"/>
                </a:lnTo>
                <a:lnTo>
                  <a:pt x="4452730" y="321778"/>
                </a:lnTo>
                <a:lnTo>
                  <a:pt x="4675366" y="321778"/>
                </a:lnTo>
                <a:lnTo>
                  <a:pt x="4898003" y="307787"/>
                </a:lnTo>
                <a:lnTo>
                  <a:pt x="5120640" y="307787"/>
                </a:lnTo>
                <a:lnTo>
                  <a:pt x="5120640" y="363748"/>
                </a:lnTo>
                <a:lnTo>
                  <a:pt x="0" y="363748"/>
                </a:lnTo>
                <a:close/>
              </a:path>
            </a:pathLst>
          </a:custGeom>
          <a:solidFill>
            <a:srgbClr val="9E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" y="4674595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B4393"/>
                </a:solidFill>
                <a:latin typeface="Segoe UI Semibold"/>
              </a:rPr>
              <a:t>4 GW de carga eletrointensiva (perfil flat)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584448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APROVEITAMENTO DA CARGA FLAT SOBRE UM CORTE CONCENTRADO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" y="5294375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Só a área escura abate corte: </a:t>
            </a:r>
            <a:r>
              <a:rPr sz="750" b="1">
                <a:solidFill>
                  <a:srgbClr val="17296B"/>
                </a:solidFill>
                <a:latin typeface="Segoe UI Semibold"/>
              </a:rPr>
              <a:t>eficiência teórica &lt; 20%</a:t>
            </a:r>
            <a:r>
              <a:rPr sz="750" b="0">
                <a:solidFill>
                  <a:srgbClr val="5A6473"/>
                </a:solidFill>
                <a:latin typeface="Segoe UI"/>
              </a:rPr>
              <a:t> do montante de carga alocado.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559552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Base PEN/PMO + MMGD 4MD. Metodologia do ONS: extrapolação determinística sobre 8.760 pontos horários verificados (out/2024–set/2025), gerando ~35 mil pontos futuros. Em cenário base CUST + 4MD, o corte máximo supera 60 GW e o tempo com corte na janela diurna passa de 80%.</a:t>
            </a:r>
          </a:p>
        </p:txBody>
      </p:sp>
      <p:pic>
        <p:nvPicPr>
          <p:cNvPr id="41" name="Picture 40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513832" cy="3100826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6172200" y="1325880"/>
            <a:ext cx="5513832" cy="3100826"/>
          </a:xfrm>
          <a:prstGeom prst="rect">
            <a:avLst/>
          </a:prstGeom>
          <a:noFill/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4490714"/>
            <a:ext cx="5513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Figura 2 — Distribuição da projeção dos cortes ao longo do tempo (2026–2029); cada ponto é uma das 8.760 horas de cada ano futuro. Os percentuais do gráfico referem-se à base PEN/PMO; o painel ao lado acrescenta a MMGD pela metodologia 4MD. Fonte: ONS, PAR/PEL 2025.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5074920"/>
            <a:ext cx="551383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corte médio projetado vai de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~2.900 MWmed (2026) a ~3.600 MWmed (2029)</a:t>
            </a:r>
            <a:r>
              <a:rPr sz="900" b="0">
                <a:solidFill>
                  <a:srgbClr val="1F2430"/>
                </a:solidFill>
                <a:latin typeface="Segoe UI"/>
              </a:rPr>
              <a:t>: a fotovoltaica sobe de ~24% para ~28% da geração potencial cortada; a eólica se estabiliza em ~11%.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4 GW de novas cargas eletrointensivas em 2029 (3 GW NE + 1 GW SE) reduzem o corte para ~2.900 MWmed — a redução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exige medidas integradas</a:t>
            </a:r>
            <a:r>
              <a:rPr sz="900" b="0">
                <a:solidFill>
                  <a:srgbClr val="1F2430"/>
                </a:solidFill>
                <a:latin typeface="Segoe UI"/>
              </a:rPr>
              <a:t> e, antes delas, saber onde e quando haverá excedente.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DESAFIO 1  |  RESPOSTA À PERGUNTA ORIENTADORA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Antecipar e classificar o risco de corte por razão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5855" cy="731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0292" cy="73152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17319"/>
            <a:ext cx="107286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0E7C74"/>
                </a:solidFill>
                <a:latin typeface="Segoe UI Semibold"/>
              </a:rPr>
              <a:t>PERGUNTA ORIENTADORA DO CADERNO DE DESAFIOS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430"/>
                </a:solidFill>
                <a:latin typeface="Segoe UI"/>
              </a:rPr>
              <a:t>“Como a inteligência artificial e a análise de dados podem ajudar a compreender, antecipar ou enfrentar o curtailment, ampliando o aproveitamento da geração renovável sem comprometer a segurança do sistema elétrico?”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15184"/>
            <a:ext cx="2590723" cy="171907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15184"/>
            <a:ext cx="2590723" cy="29260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743200"/>
            <a:ext cx="2334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296B"/>
                </a:solidFill>
                <a:latin typeface="Segoe UI Semibold"/>
              </a:rPr>
              <a:t>Entradas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980944"/>
            <a:ext cx="2334691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Constrained-off (bases tm e detail)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Carga verificada e MMGD estimada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Capacidade instalada corrigida (Pilares 1–2)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Meteorologia: ERA5 · ECMWF/GFS/WRF · INMET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963" y="2615184"/>
            <a:ext cx="2590723" cy="171907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7963" y="2615184"/>
            <a:ext cx="2590723" cy="2926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5979" y="2743200"/>
            <a:ext cx="2334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4"/>
                </a:solidFill>
                <a:latin typeface="Segoe UI Semibold"/>
              </a:rPr>
              <a:t>Motor preditivo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5979" y="2980944"/>
            <a:ext cx="2334691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Temporal Fusion Transformer com quantis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Perda assimétrica por patamar horário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Baselines: persistência, sazonal-naïve, GBM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Espacialização por mancha de MMGD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2331720"/>
            <a:ext cx="2590723" cy="1024128"/>
          </a:xfrm>
          <a:prstGeom prst="rect">
            <a:avLst/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2331720"/>
            <a:ext cx="2590723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1023" y="2459736"/>
            <a:ext cx="2334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9B57"/>
                </a:solidFill>
                <a:latin typeface="Segoe UI Semibold"/>
              </a:rPr>
              <a:t>ENE · razão energética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697479"/>
            <a:ext cx="23346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Preditor:</a:t>
            </a:r>
            <a:r>
              <a:rPr sz="750" b="0">
                <a:solidFill>
                  <a:srgbClr val="1F2430"/>
                </a:solidFill>
                <a:latin typeface="Segoe UI"/>
              </a:rPr>
              <a:t> balanço carga–geração projetado contra o mínimo técnico das fontes controláveis.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3593591"/>
            <a:ext cx="2590723" cy="1024128"/>
          </a:xfrm>
          <a:prstGeom prst="rect">
            <a:avLst/>
          </a:prstGeom>
          <a:solidFill>
            <a:srgbClr val="F7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3593591"/>
            <a:ext cx="2590723" cy="29260"/>
          </a:xfrm>
          <a:prstGeom prst="rect">
            <a:avLst/>
          </a:prstGeom>
          <a:solidFill>
            <a:srgbClr val="7B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3721607"/>
            <a:ext cx="2334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B2C8A"/>
                </a:solidFill>
                <a:latin typeface="Segoe UI Semibold"/>
              </a:rPr>
              <a:t>CNF · confiabilidade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1023" y="3959352"/>
            <a:ext cx="23346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Preditor:</a:t>
            </a:r>
            <a:r>
              <a:rPr sz="750" b="0">
                <a:solidFill>
                  <a:srgbClr val="1F2430"/>
                </a:solidFill>
                <a:latin typeface="Segoe UI"/>
              </a:rPr>
              <a:t> limites de exportação Nordeste e Norte/Nordeste e condições de segurança da Rede Básica.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051" y="2331720"/>
            <a:ext cx="2590723" cy="1024128"/>
          </a:xfrm>
          <a:prstGeom prst="rect">
            <a:avLst/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051" y="2331720"/>
            <a:ext cx="2590723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6067" y="2459736"/>
            <a:ext cx="2334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9B57"/>
                </a:solidFill>
                <a:latin typeface="Segoe UI Semibold"/>
              </a:rPr>
              <a:t>Resposta operativa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067" y="2697479"/>
            <a:ext cx="23346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Gestão de excedentes na distribuição, deslocamento de carga, resposta da demanda, armazenamento.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051" y="3593591"/>
            <a:ext cx="2590723" cy="1024128"/>
          </a:xfrm>
          <a:prstGeom prst="rect">
            <a:avLst/>
          </a:prstGeom>
          <a:solidFill>
            <a:srgbClr val="F7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051" y="3593591"/>
            <a:ext cx="2590723" cy="29260"/>
          </a:xfrm>
          <a:prstGeom prst="rect">
            <a:avLst/>
          </a:prstGeom>
          <a:solidFill>
            <a:srgbClr val="7B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6067" y="3721607"/>
            <a:ext cx="2334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B2C8A"/>
                </a:solidFill>
                <a:latin typeface="Segoe UI Semibold"/>
              </a:rPr>
              <a:t>Resposta operativa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067" y="3959352"/>
            <a:ext cx="23346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Redespacho, coordenação de intercâmbio e manobras programadas.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93643" y="3474720"/>
            <a:ext cx="274320" cy="0"/>
          </a:xfrm>
          <a:prstGeom prst="line">
            <a:avLst/>
          </a:prstGeom>
          <a:ln w="15875">
            <a:solidFill>
              <a:srgbClr val="2B43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58687" y="3474720"/>
            <a:ext cx="137160" cy="0"/>
          </a:xfrm>
          <a:prstGeom prst="line">
            <a:avLst/>
          </a:prstGeom>
          <a:ln w="15875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5847" y="2843784"/>
            <a:ext cx="0" cy="1261872"/>
          </a:xfrm>
          <a:prstGeom prst="line">
            <a:avLst/>
          </a:prstGeom>
          <a:ln w="15875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5847" y="2843784"/>
            <a:ext cx="137160" cy="0"/>
          </a:xfrm>
          <a:prstGeom prst="line">
            <a:avLst/>
          </a:prstGeom>
          <a:ln w="15875">
            <a:solidFill>
              <a:srgbClr val="2E9B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95847" y="4105656"/>
            <a:ext cx="137160" cy="0"/>
          </a:xfrm>
          <a:prstGeom prst="line">
            <a:avLst/>
          </a:prstGeom>
          <a:ln w="15875">
            <a:solidFill>
              <a:srgbClr val="7B2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823731" y="2843784"/>
            <a:ext cx="274320" cy="0"/>
          </a:xfrm>
          <a:prstGeom prst="line">
            <a:avLst/>
          </a:prstGeom>
          <a:ln w="15875">
            <a:solidFill>
              <a:srgbClr val="2E9B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823731" y="4105656"/>
            <a:ext cx="274320" cy="0"/>
          </a:xfrm>
          <a:prstGeom prst="line">
            <a:avLst/>
          </a:prstGeom>
          <a:ln w="15875">
            <a:solidFill>
              <a:srgbClr val="7B2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02920" y="4864608"/>
            <a:ext cx="11185855" cy="384048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937760"/>
            <a:ext cx="107286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Cadência declarada pelo ONS e adotada pela solução:   atualização a cada 30 minutos   ·   horizontes de 30 min, 3 h e D+1   ·   granularidade espacial por mancha de MMGD, não por subsistema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413248"/>
            <a:ext cx="5486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risco sai como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classificação probabilística por razão</a:t>
            </a:r>
            <a:r>
              <a:rPr sz="900" b="0">
                <a:solidFill>
                  <a:srgbClr val="1F2430"/>
                </a:solidFill>
                <a:latin typeface="Segoe UI"/>
              </a:rPr>
              <a:t>, não como número único: ENE e CNF têm causas e respostas operativas distintas, e o Caderno afirma que compreender a diferença é parte do desafio.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5413248"/>
            <a:ext cx="5486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B3262A"/>
                </a:solidFill>
                <a:latin typeface="Segoe UI"/>
              </a:rPr>
              <a:t>▪  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Promessa honesta:</a:t>
            </a:r>
            <a:r>
              <a:rPr sz="900" b="0">
                <a:solidFill>
                  <a:srgbClr val="1F2430"/>
                </a:solidFill>
                <a:latin typeface="Segoe UI"/>
              </a:rPr>
              <a:t> não elimina o corte. Reduz a margem de conservadorismo operativo e antecipa a alocação de flexibilidade, ampliando o aproveitamento renovável sem comprometer a segurança.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DESAFIO 2  |  DEMANDA ENERGÉTICA, CLIMA E OPERAÇÃO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O problema não é quanta energia, é a forma da curva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54480"/>
            <a:ext cx="5833872" cy="2496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2178558"/>
            <a:ext cx="58338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802636"/>
            <a:ext cx="58338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" y="3426714"/>
            <a:ext cx="5833872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868680" y="1829074"/>
            <a:ext cx="5833872" cy="1472824"/>
          </a:xfrm>
          <a:custGeom>
            <a:avLst/>
            <a:gdLst/>
            <a:ahLst/>
            <a:cxnLst/>
            <a:rect l="l" t="t" r="r" b="b"/>
            <a:pathLst>
              <a:path w="5833872" h="1472824">
                <a:moveTo>
                  <a:pt x="0" y="574152"/>
                </a:moveTo>
                <a:lnTo>
                  <a:pt x="253646" y="649041"/>
                </a:lnTo>
                <a:lnTo>
                  <a:pt x="507293" y="723930"/>
                </a:lnTo>
                <a:lnTo>
                  <a:pt x="760939" y="773857"/>
                </a:lnTo>
                <a:lnTo>
                  <a:pt x="1014586" y="798820"/>
                </a:lnTo>
                <a:lnTo>
                  <a:pt x="1268233" y="773857"/>
                </a:lnTo>
                <a:lnTo>
                  <a:pt x="1521879" y="698967"/>
                </a:lnTo>
                <a:lnTo>
                  <a:pt x="1775526" y="574152"/>
                </a:lnTo>
                <a:lnTo>
                  <a:pt x="2029172" y="424373"/>
                </a:lnTo>
                <a:lnTo>
                  <a:pt x="2282819" y="299557"/>
                </a:lnTo>
                <a:lnTo>
                  <a:pt x="2536466" y="224668"/>
                </a:lnTo>
                <a:lnTo>
                  <a:pt x="2790112" y="174742"/>
                </a:lnTo>
                <a:lnTo>
                  <a:pt x="3043759" y="149779"/>
                </a:lnTo>
                <a:lnTo>
                  <a:pt x="3297405" y="149779"/>
                </a:lnTo>
                <a:lnTo>
                  <a:pt x="3551052" y="149779"/>
                </a:lnTo>
                <a:lnTo>
                  <a:pt x="3804699" y="124815"/>
                </a:lnTo>
                <a:lnTo>
                  <a:pt x="4058345" y="74889"/>
                </a:lnTo>
                <a:lnTo>
                  <a:pt x="4311992" y="24963"/>
                </a:lnTo>
                <a:lnTo>
                  <a:pt x="4565638" y="0"/>
                </a:lnTo>
                <a:lnTo>
                  <a:pt x="4819285" y="0"/>
                </a:lnTo>
                <a:lnTo>
                  <a:pt x="5072932" y="49926"/>
                </a:lnTo>
                <a:lnTo>
                  <a:pt x="5326578" y="174742"/>
                </a:lnTo>
                <a:lnTo>
                  <a:pt x="5580225" y="324520"/>
                </a:lnTo>
                <a:lnTo>
                  <a:pt x="5833872" y="474299"/>
                </a:lnTo>
                <a:lnTo>
                  <a:pt x="5833872" y="474299"/>
                </a:lnTo>
                <a:lnTo>
                  <a:pt x="5580225" y="324520"/>
                </a:lnTo>
                <a:lnTo>
                  <a:pt x="5326578" y="174742"/>
                </a:lnTo>
                <a:lnTo>
                  <a:pt x="5072932" y="49926"/>
                </a:lnTo>
                <a:lnTo>
                  <a:pt x="4819285" y="0"/>
                </a:lnTo>
                <a:lnTo>
                  <a:pt x="4565638" y="24963"/>
                </a:lnTo>
                <a:lnTo>
                  <a:pt x="4311992" y="149779"/>
                </a:lnTo>
                <a:lnTo>
                  <a:pt x="4058345" y="449336"/>
                </a:lnTo>
                <a:lnTo>
                  <a:pt x="3804699" y="798820"/>
                </a:lnTo>
                <a:lnTo>
                  <a:pt x="3551052" y="1073414"/>
                </a:lnTo>
                <a:lnTo>
                  <a:pt x="3297405" y="1273119"/>
                </a:lnTo>
                <a:lnTo>
                  <a:pt x="3043759" y="1397935"/>
                </a:lnTo>
                <a:lnTo>
                  <a:pt x="2790112" y="1472824"/>
                </a:lnTo>
                <a:lnTo>
                  <a:pt x="2536466" y="1472824"/>
                </a:lnTo>
                <a:lnTo>
                  <a:pt x="2282819" y="1298082"/>
                </a:lnTo>
                <a:lnTo>
                  <a:pt x="2029172" y="1073414"/>
                </a:lnTo>
                <a:lnTo>
                  <a:pt x="1775526" y="873709"/>
                </a:lnTo>
                <a:lnTo>
                  <a:pt x="1521879" y="798820"/>
                </a:lnTo>
                <a:lnTo>
                  <a:pt x="1268233" y="798820"/>
                </a:lnTo>
                <a:lnTo>
                  <a:pt x="1014586" y="798820"/>
                </a:lnTo>
                <a:lnTo>
                  <a:pt x="760939" y="773857"/>
                </a:lnTo>
                <a:lnTo>
                  <a:pt x="507293" y="723930"/>
                </a:lnTo>
                <a:lnTo>
                  <a:pt x="253646" y="649041"/>
                </a:lnTo>
                <a:lnTo>
                  <a:pt x="0" y="574152"/>
                </a:lnTo>
                <a:close/>
              </a:path>
            </a:pathLst>
          </a:custGeom>
          <a:solidFill>
            <a:srgbClr val="F7D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68680" y="1829074"/>
            <a:ext cx="5833872" cy="798820"/>
          </a:xfrm>
          <a:custGeom>
            <a:avLst/>
            <a:gdLst/>
            <a:ahLst/>
            <a:cxnLst/>
            <a:rect l="l" t="t" r="r" b="b"/>
            <a:pathLst>
              <a:path w="5833872" h="798820">
                <a:moveTo>
                  <a:pt x="0" y="574152"/>
                </a:moveTo>
                <a:lnTo>
                  <a:pt x="253646" y="649041"/>
                </a:lnTo>
                <a:lnTo>
                  <a:pt x="507293" y="723930"/>
                </a:lnTo>
                <a:lnTo>
                  <a:pt x="760939" y="773857"/>
                </a:lnTo>
                <a:lnTo>
                  <a:pt x="1014586" y="798820"/>
                </a:lnTo>
                <a:lnTo>
                  <a:pt x="1268233" y="773857"/>
                </a:lnTo>
                <a:lnTo>
                  <a:pt x="1521879" y="698967"/>
                </a:lnTo>
                <a:lnTo>
                  <a:pt x="1775526" y="574152"/>
                </a:lnTo>
                <a:lnTo>
                  <a:pt x="2029172" y="424373"/>
                </a:lnTo>
                <a:lnTo>
                  <a:pt x="2282819" y="299557"/>
                </a:lnTo>
                <a:lnTo>
                  <a:pt x="2536466" y="224668"/>
                </a:lnTo>
                <a:lnTo>
                  <a:pt x="2790112" y="174742"/>
                </a:lnTo>
                <a:lnTo>
                  <a:pt x="3043759" y="149779"/>
                </a:lnTo>
                <a:lnTo>
                  <a:pt x="3297405" y="149779"/>
                </a:lnTo>
                <a:lnTo>
                  <a:pt x="3551052" y="149779"/>
                </a:lnTo>
                <a:lnTo>
                  <a:pt x="3804699" y="124815"/>
                </a:lnTo>
                <a:lnTo>
                  <a:pt x="4058345" y="74889"/>
                </a:lnTo>
                <a:lnTo>
                  <a:pt x="4311992" y="24963"/>
                </a:lnTo>
                <a:lnTo>
                  <a:pt x="4565638" y="0"/>
                </a:lnTo>
                <a:lnTo>
                  <a:pt x="4819285" y="0"/>
                </a:lnTo>
                <a:lnTo>
                  <a:pt x="5072932" y="49926"/>
                </a:lnTo>
                <a:lnTo>
                  <a:pt x="5326578" y="174742"/>
                </a:lnTo>
                <a:lnTo>
                  <a:pt x="5580225" y="324520"/>
                </a:lnTo>
                <a:lnTo>
                  <a:pt x="5833872" y="474299"/>
                </a:lnTo>
              </a:path>
            </a:pathLst>
          </a:custGeom>
          <a:noFill/>
          <a:ln w="19050">
            <a:solidFill>
              <a:srgbClr val="5A6473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68680" y="1829074"/>
            <a:ext cx="5833872" cy="1472824"/>
          </a:xfrm>
          <a:custGeom>
            <a:avLst/>
            <a:gdLst/>
            <a:ahLst/>
            <a:cxnLst/>
            <a:rect l="l" t="t" r="r" b="b"/>
            <a:pathLst>
              <a:path w="5833872" h="1472824">
                <a:moveTo>
                  <a:pt x="0" y="574152"/>
                </a:moveTo>
                <a:lnTo>
                  <a:pt x="253646" y="649041"/>
                </a:lnTo>
                <a:lnTo>
                  <a:pt x="507293" y="723930"/>
                </a:lnTo>
                <a:lnTo>
                  <a:pt x="760939" y="773857"/>
                </a:lnTo>
                <a:lnTo>
                  <a:pt x="1014586" y="798820"/>
                </a:lnTo>
                <a:lnTo>
                  <a:pt x="1268233" y="798820"/>
                </a:lnTo>
                <a:lnTo>
                  <a:pt x="1521879" y="798820"/>
                </a:lnTo>
                <a:lnTo>
                  <a:pt x="1775526" y="873709"/>
                </a:lnTo>
                <a:lnTo>
                  <a:pt x="2029172" y="1073414"/>
                </a:lnTo>
                <a:lnTo>
                  <a:pt x="2282819" y="1298082"/>
                </a:lnTo>
                <a:lnTo>
                  <a:pt x="2536466" y="1472824"/>
                </a:lnTo>
                <a:lnTo>
                  <a:pt x="2790112" y="1472824"/>
                </a:lnTo>
                <a:lnTo>
                  <a:pt x="3043759" y="1397935"/>
                </a:lnTo>
                <a:lnTo>
                  <a:pt x="3297405" y="1273119"/>
                </a:lnTo>
                <a:lnTo>
                  <a:pt x="3551052" y="1073414"/>
                </a:lnTo>
                <a:lnTo>
                  <a:pt x="3804699" y="798820"/>
                </a:lnTo>
                <a:lnTo>
                  <a:pt x="4058345" y="449336"/>
                </a:lnTo>
                <a:lnTo>
                  <a:pt x="4311992" y="149779"/>
                </a:lnTo>
                <a:lnTo>
                  <a:pt x="4565638" y="24963"/>
                </a:lnTo>
                <a:lnTo>
                  <a:pt x="4819285" y="0"/>
                </a:lnTo>
                <a:lnTo>
                  <a:pt x="5072932" y="49926"/>
                </a:lnTo>
                <a:lnTo>
                  <a:pt x="5326578" y="174742"/>
                </a:lnTo>
                <a:lnTo>
                  <a:pt x="5580225" y="324520"/>
                </a:lnTo>
                <a:lnTo>
                  <a:pt x="5833872" y="474299"/>
                </a:lnTo>
              </a:path>
            </a:pathLst>
          </a:custGeom>
          <a:noFill/>
          <a:ln w="31750">
            <a:solidFill>
              <a:srgbClr val="172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17904"/>
            <a:ext cx="347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GW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096512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0h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098" y="4096512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6684" y="4096512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1271" y="4096512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12h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5857" y="4096512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16h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0444" y="4096512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20h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4096512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23h</a:t>
            </a:r>
          </a:p>
        </p:txBody>
      </p:sp>
      <p:sp>
        <p:nvSpPr>
          <p:cNvPr id="21" name="Oval 20"/>
          <p:cNvSpPr/>
          <p:nvPr/>
        </p:nvSpPr>
        <p:spPr>
          <a:xfrm>
            <a:off x="3486249" y="3256178"/>
            <a:ext cx="91440" cy="91440"/>
          </a:xfrm>
          <a:prstGeom prst="ellipse">
            <a:avLst/>
          </a:prstGeom>
          <a:solidFill>
            <a:srgbClr val="1729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2018" y="342991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296B"/>
                </a:solidFill>
                <a:latin typeface="Segoe UI Semibold"/>
              </a:rPr>
              <a:t>barriga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2018" y="3594506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vale de carga supervisionada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658792" y="1953889"/>
            <a:ext cx="1674068" cy="1298083"/>
          </a:xfrm>
          <a:prstGeom prst="line">
            <a:avLst/>
          </a:prstGeom>
          <a:ln w="22225">
            <a:solidFill>
              <a:srgbClr val="B32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64627" y="340175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3262A"/>
                </a:solidFill>
                <a:latin typeface="Segoe UI Semibold"/>
              </a:rPr>
              <a:t>pescoço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627" y="3566342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rampa vespertina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347446" y="1829074"/>
            <a:ext cx="0" cy="1472824"/>
          </a:xfrm>
          <a:prstGeom prst="line">
            <a:avLst/>
          </a:prstGeom>
          <a:ln w="12700">
            <a:solidFill>
              <a:srgbClr val="0E7C74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77755" y="165433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74"/>
                </a:solidFill>
                <a:latin typeface="Segoe UI Semibold"/>
              </a:rPr>
              <a:t>amplitude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7755" y="180978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74"/>
                </a:solidFill>
                <a:latin typeface="Segoe UI Semibold"/>
              </a:rPr>
              <a:t>~59 GW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280160"/>
            <a:ext cx="6309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CURVA DO PATO — ESQUEMA EM CENÁRIO PROSPECTIVO 2029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311396"/>
            <a:ext cx="146304" cy="82296"/>
          </a:xfrm>
          <a:prstGeom prst="rect">
            <a:avLst/>
          </a:prstGeom>
          <a:solidFill>
            <a:srgbClr val="5A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427024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carga global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61718" y="4311396"/>
            <a:ext cx="146304" cy="82296"/>
          </a:xfrm>
          <a:prstGeom prst="rect">
            <a:avLst/>
          </a:prstGeom>
          <a:solidFill>
            <a:srgbClr val="F7D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72030" y="427024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MMGD + Tipo III (não supervisionada)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27601" y="4311396"/>
            <a:ext cx="146304" cy="82296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7913" y="427024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carga supervisionada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553712"/>
            <a:ext cx="6309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ONS prevê a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carga global</a:t>
            </a:r>
            <a:r>
              <a:rPr sz="900" b="0">
                <a:solidFill>
                  <a:srgbClr val="1F2430"/>
                </a:solidFill>
                <a:latin typeface="Segoe UI"/>
              </a:rPr>
              <a:t> e dela abate a geração que não supervisiona (MMGD e Tipo III), chegando à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carga supervisionada</a:t>
            </a:r>
            <a:r>
              <a:rPr sz="900" b="0">
                <a:solidFill>
                  <a:srgbClr val="1F2430"/>
                </a:solidFill>
                <a:latin typeface="Segoe UI"/>
              </a:rPr>
              <a:t> — a que efetivamente opera. Quanto maior a MMGD, mais profunda a barriga e mais severo o pescoço.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Na operação atual o ONS já relata rampas de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35 GW para 80–90 GW em 5 a 6 horas</a:t>
            </a:r>
            <a:r>
              <a:rPr sz="900" b="0">
                <a:solidFill>
                  <a:srgbClr val="1F2430"/>
                </a:solidFill>
                <a:latin typeface="Segoe UI"/>
              </a:rPr>
              <a:t>, com acionamento de térmicas mais caras e impacto direto em CMO/PLD. A carga máxima do SIN é projetada em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~129 GW em 2030</a:t>
            </a:r>
            <a:r>
              <a:rPr sz="900" b="0">
                <a:solidFill>
                  <a:srgbClr val="1F2430"/>
                </a:solidFill>
                <a:latin typeface="Segoe UI"/>
              </a:rPr>
              <a:t>, +17% sobre a máxima não coincidente verificada em 2025.</a:t>
            </a:r>
          </a:p>
        </p:txBody>
      </p:sp>
      <p:pic>
        <p:nvPicPr>
          <p:cNvPr id="38" name="Picture 3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280160"/>
            <a:ext cx="4690872" cy="2638016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995160" y="1280160"/>
            <a:ext cx="4690872" cy="2638016"/>
          </a:xfrm>
          <a:prstGeom prst="rect">
            <a:avLst/>
          </a:prstGeom>
          <a:noFill/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3982184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Figura 3 — Carga supervisionada mínima verificada: 40.373 MW (05/nov/23, 25,6 GW de MMGD), 39.024 MW (11/ago/24, 32,8 GW) e 31.804 MW (10/ago/25, 42,8 GW). Fonte: ONS, PAR/PEL 2025.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4553712"/>
            <a:ext cx="4690872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95160" y="4553712"/>
            <a:ext cx="4690872" cy="2926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23176" y="468172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4"/>
                </a:solidFill>
                <a:latin typeface="Segoe UI Semibold"/>
              </a:rPr>
              <a:t>Demanda não é consumo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23176" y="4919472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Demanda</a:t>
            </a:r>
            <a:r>
              <a:rPr sz="800" b="0">
                <a:solidFill>
                  <a:srgbClr val="1F2430"/>
                </a:solidFill>
                <a:latin typeface="Segoe UI"/>
              </a:rPr>
              <a:t> é a potência solicitada num intervalo; </a:t>
            </a:r>
            <a:r>
              <a:rPr sz="800" b="1">
                <a:solidFill>
                  <a:srgbClr val="17296B"/>
                </a:solidFill>
                <a:latin typeface="Segoe UI Semibold"/>
              </a:rPr>
              <a:t>consumo</a:t>
            </a:r>
            <a:r>
              <a:rPr sz="800" b="0">
                <a:solidFill>
                  <a:srgbClr val="1F2430"/>
                </a:solidFill>
                <a:latin typeface="Segoe UI"/>
              </a:rPr>
              <a:t> é a energia total num período. Dois dias com o mesmo consumo podem exigir condições operativas completamente distintas — por isso o alvo da previsão é a forma da curva, hora a hora, e sobretudo os seus extremos.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705856"/>
            <a:ext cx="11185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74"/>
                </a:solidFill>
                <a:latin typeface="Segoe UI Semibold"/>
              </a:rPr>
              <a:t>VETORES QUE MOVEM A CURVA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90702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907024"/>
            <a:ext cx="60350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MMGD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8720" y="5907024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20" y="5907024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Data centers e cargas de IA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57015" y="5907024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7015" y="5907024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Eletrificação da mobilidade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25312" y="5907024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25312" y="5907024"/>
            <a:ext cx="126187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Clima extremo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69479" y="5907024"/>
            <a:ext cx="2505456" cy="256032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69479" y="5907024"/>
            <a:ext cx="25054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Baterias e resposta da demanda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DESAFIO 2  |  RESPOSTA À PERGUNTA ORIENTADORA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Carga supervisionada com erro ponderado pelo custo operativo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50292" cy="658368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1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0E7C74"/>
                </a:solidFill>
                <a:latin typeface="Segoe UI Semibold"/>
              </a:rPr>
              <a:t>PERGUNTA ORIENTADORA DO CADERNO DE DESAFIOS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430"/>
                </a:solidFill>
                <a:latin typeface="Segoe UI"/>
              </a:rPr>
              <a:t>“Como a inteligência artificial e a análise de dados podem ajudar a compreender os fatores que influenciam a demanda de energia elétrica e apoiar uma operação mais segura e eficiente do sistema elétrico?”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04287"/>
            <a:ext cx="3411626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79191"/>
            <a:ext cx="3411626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2920" y="3054095"/>
            <a:ext cx="3411626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502920" y="2428006"/>
            <a:ext cx="3411626" cy="1000994"/>
          </a:xfrm>
          <a:custGeom>
            <a:avLst/>
            <a:gdLst/>
            <a:ahLst/>
            <a:cxnLst/>
            <a:rect l="l" t="t" r="r" b="b"/>
            <a:pathLst>
              <a:path w="3411626" h="1000994">
                <a:moveTo>
                  <a:pt x="0" y="258684"/>
                </a:moveTo>
                <a:lnTo>
                  <a:pt x="148331" y="292425"/>
                </a:lnTo>
                <a:lnTo>
                  <a:pt x="296663" y="326166"/>
                </a:lnTo>
                <a:lnTo>
                  <a:pt x="444994" y="348661"/>
                </a:lnTo>
                <a:lnTo>
                  <a:pt x="593326" y="359908"/>
                </a:lnTo>
                <a:lnTo>
                  <a:pt x="741657" y="348661"/>
                </a:lnTo>
                <a:lnTo>
                  <a:pt x="889989" y="314919"/>
                </a:lnTo>
                <a:lnTo>
                  <a:pt x="1038321" y="258684"/>
                </a:lnTo>
                <a:lnTo>
                  <a:pt x="1186652" y="191201"/>
                </a:lnTo>
                <a:lnTo>
                  <a:pt x="1334984" y="134965"/>
                </a:lnTo>
                <a:lnTo>
                  <a:pt x="1483315" y="101224"/>
                </a:lnTo>
                <a:lnTo>
                  <a:pt x="1631647" y="78730"/>
                </a:lnTo>
                <a:lnTo>
                  <a:pt x="1779978" y="67483"/>
                </a:lnTo>
                <a:lnTo>
                  <a:pt x="1928310" y="67483"/>
                </a:lnTo>
                <a:lnTo>
                  <a:pt x="2076642" y="67483"/>
                </a:lnTo>
                <a:lnTo>
                  <a:pt x="2224973" y="56235"/>
                </a:lnTo>
                <a:lnTo>
                  <a:pt x="2373305" y="33741"/>
                </a:lnTo>
                <a:lnTo>
                  <a:pt x="2521636" y="11247"/>
                </a:lnTo>
                <a:lnTo>
                  <a:pt x="2669968" y="0"/>
                </a:lnTo>
                <a:lnTo>
                  <a:pt x="2818300" y="0"/>
                </a:lnTo>
                <a:lnTo>
                  <a:pt x="2966631" y="22494"/>
                </a:lnTo>
                <a:lnTo>
                  <a:pt x="3114963" y="78730"/>
                </a:lnTo>
                <a:lnTo>
                  <a:pt x="3263294" y="146212"/>
                </a:lnTo>
                <a:lnTo>
                  <a:pt x="3411626" y="213695"/>
                </a:lnTo>
                <a:lnTo>
                  <a:pt x="3411626" y="1000994"/>
                </a:lnTo>
                <a:lnTo>
                  <a:pt x="0" y="1000994"/>
                </a:lnTo>
                <a:close/>
              </a:path>
            </a:pathLst>
          </a:custGeom>
          <a:solidFill>
            <a:srgbClr val="D3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02920" y="2428006"/>
            <a:ext cx="3411626" cy="359908"/>
          </a:xfrm>
          <a:custGeom>
            <a:avLst/>
            <a:gdLst/>
            <a:ahLst/>
            <a:cxnLst/>
            <a:rect l="l" t="t" r="r" b="b"/>
            <a:pathLst>
              <a:path w="3411626" h="359908">
                <a:moveTo>
                  <a:pt x="0" y="258684"/>
                </a:moveTo>
                <a:lnTo>
                  <a:pt x="148331" y="292425"/>
                </a:lnTo>
                <a:lnTo>
                  <a:pt x="296663" y="326166"/>
                </a:lnTo>
                <a:lnTo>
                  <a:pt x="444994" y="348661"/>
                </a:lnTo>
                <a:lnTo>
                  <a:pt x="593326" y="359908"/>
                </a:lnTo>
                <a:lnTo>
                  <a:pt x="741657" y="348661"/>
                </a:lnTo>
                <a:lnTo>
                  <a:pt x="889989" y="314919"/>
                </a:lnTo>
                <a:lnTo>
                  <a:pt x="1038321" y="258684"/>
                </a:lnTo>
                <a:lnTo>
                  <a:pt x="1186652" y="191201"/>
                </a:lnTo>
                <a:lnTo>
                  <a:pt x="1334984" y="134965"/>
                </a:lnTo>
                <a:lnTo>
                  <a:pt x="1483315" y="101224"/>
                </a:lnTo>
                <a:lnTo>
                  <a:pt x="1631647" y="78730"/>
                </a:lnTo>
                <a:lnTo>
                  <a:pt x="1779978" y="67483"/>
                </a:lnTo>
                <a:lnTo>
                  <a:pt x="1928310" y="67483"/>
                </a:lnTo>
                <a:lnTo>
                  <a:pt x="2076642" y="67483"/>
                </a:lnTo>
                <a:lnTo>
                  <a:pt x="2224973" y="56235"/>
                </a:lnTo>
                <a:lnTo>
                  <a:pt x="2373305" y="33741"/>
                </a:lnTo>
                <a:lnTo>
                  <a:pt x="2521636" y="11247"/>
                </a:lnTo>
                <a:lnTo>
                  <a:pt x="2669968" y="0"/>
                </a:lnTo>
                <a:lnTo>
                  <a:pt x="2818300" y="0"/>
                </a:lnTo>
                <a:lnTo>
                  <a:pt x="2966631" y="22494"/>
                </a:lnTo>
                <a:lnTo>
                  <a:pt x="3114963" y="78730"/>
                </a:lnTo>
                <a:lnTo>
                  <a:pt x="3263294" y="146212"/>
                </a:lnTo>
                <a:lnTo>
                  <a:pt x="3411626" y="213695"/>
                </a:lnTo>
              </a:path>
            </a:pathLst>
          </a:custGeom>
          <a:noFill/>
          <a:ln w="22225">
            <a:solidFill>
              <a:srgbClr val="5A64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66543"/>
            <a:ext cx="341162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A6473"/>
                </a:solidFill>
                <a:latin typeface="Segoe UI Semibold"/>
              </a:rPr>
              <a:t>Carga global prevista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0034" y="2304287"/>
            <a:ext cx="3411626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390034" y="2679191"/>
            <a:ext cx="3411626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90034" y="3054095"/>
            <a:ext cx="3411626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390034" y="2844149"/>
            <a:ext cx="3411626" cy="584851"/>
          </a:xfrm>
          <a:custGeom>
            <a:avLst/>
            <a:gdLst/>
            <a:ahLst/>
            <a:cxnLst/>
            <a:rect l="l" t="t" r="r" b="b"/>
            <a:pathLst>
              <a:path w="3411626" h="584851">
                <a:moveTo>
                  <a:pt x="0" y="584850"/>
                </a:moveTo>
                <a:lnTo>
                  <a:pt x="148331" y="584850"/>
                </a:lnTo>
                <a:lnTo>
                  <a:pt x="296663" y="584850"/>
                </a:lnTo>
                <a:lnTo>
                  <a:pt x="444995" y="584850"/>
                </a:lnTo>
                <a:lnTo>
                  <a:pt x="593326" y="584850"/>
                </a:lnTo>
                <a:lnTo>
                  <a:pt x="741658" y="573603"/>
                </a:lnTo>
                <a:lnTo>
                  <a:pt x="889989" y="539862"/>
                </a:lnTo>
                <a:lnTo>
                  <a:pt x="1038321" y="449885"/>
                </a:lnTo>
                <a:lnTo>
                  <a:pt x="1186653" y="292425"/>
                </a:lnTo>
                <a:lnTo>
                  <a:pt x="1334984" y="134966"/>
                </a:lnTo>
                <a:lnTo>
                  <a:pt x="1483316" y="22495"/>
                </a:lnTo>
                <a:lnTo>
                  <a:pt x="1631647" y="0"/>
                </a:lnTo>
                <a:lnTo>
                  <a:pt x="1779979" y="22495"/>
                </a:lnTo>
                <a:lnTo>
                  <a:pt x="1928310" y="78730"/>
                </a:lnTo>
                <a:lnTo>
                  <a:pt x="2076642" y="168707"/>
                </a:lnTo>
                <a:lnTo>
                  <a:pt x="2224974" y="281178"/>
                </a:lnTo>
                <a:lnTo>
                  <a:pt x="2373305" y="416144"/>
                </a:lnTo>
                <a:lnTo>
                  <a:pt x="2521637" y="528615"/>
                </a:lnTo>
                <a:lnTo>
                  <a:pt x="2669968" y="573603"/>
                </a:lnTo>
                <a:lnTo>
                  <a:pt x="2818300" y="584850"/>
                </a:lnTo>
                <a:lnTo>
                  <a:pt x="2966632" y="584850"/>
                </a:lnTo>
                <a:lnTo>
                  <a:pt x="3114963" y="584850"/>
                </a:lnTo>
                <a:lnTo>
                  <a:pt x="3263295" y="584850"/>
                </a:lnTo>
                <a:lnTo>
                  <a:pt x="3411626" y="584850"/>
                </a:lnTo>
                <a:lnTo>
                  <a:pt x="3411626" y="584851"/>
                </a:lnTo>
                <a:lnTo>
                  <a:pt x="0" y="584851"/>
                </a:lnTo>
                <a:close/>
              </a:path>
            </a:pathLst>
          </a:custGeom>
          <a:solidFill>
            <a:srgbClr val="F7D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390034" y="2844149"/>
            <a:ext cx="3411626" cy="584850"/>
          </a:xfrm>
          <a:custGeom>
            <a:avLst/>
            <a:gdLst/>
            <a:ahLst/>
            <a:cxnLst/>
            <a:rect l="l" t="t" r="r" b="b"/>
            <a:pathLst>
              <a:path w="3411626" h="584850">
                <a:moveTo>
                  <a:pt x="0" y="584850"/>
                </a:moveTo>
                <a:lnTo>
                  <a:pt x="148331" y="584850"/>
                </a:lnTo>
                <a:lnTo>
                  <a:pt x="296663" y="584850"/>
                </a:lnTo>
                <a:lnTo>
                  <a:pt x="444995" y="584850"/>
                </a:lnTo>
                <a:lnTo>
                  <a:pt x="593326" y="584850"/>
                </a:lnTo>
                <a:lnTo>
                  <a:pt x="741658" y="573603"/>
                </a:lnTo>
                <a:lnTo>
                  <a:pt x="889989" y="539862"/>
                </a:lnTo>
                <a:lnTo>
                  <a:pt x="1038321" y="449885"/>
                </a:lnTo>
                <a:lnTo>
                  <a:pt x="1186653" y="292425"/>
                </a:lnTo>
                <a:lnTo>
                  <a:pt x="1334984" y="134966"/>
                </a:lnTo>
                <a:lnTo>
                  <a:pt x="1483316" y="22495"/>
                </a:lnTo>
                <a:lnTo>
                  <a:pt x="1631647" y="0"/>
                </a:lnTo>
                <a:lnTo>
                  <a:pt x="1779979" y="22495"/>
                </a:lnTo>
                <a:lnTo>
                  <a:pt x="1928310" y="78730"/>
                </a:lnTo>
                <a:lnTo>
                  <a:pt x="2076642" y="168707"/>
                </a:lnTo>
                <a:lnTo>
                  <a:pt x="2224974" y="281178"/>
                </a:lnTo>
                <a:lnTo>
                  <a:pt x="2373305" y="416144"/>
                </a:lnTo>
                <a:lnTo>
                  <a:pt x="2521637" y="528615"/>
                </a:lnTo>
                <a:lnTo>
                  <a:pt x="2669968" y="573603"/>
                </a:lnTo>
                <a:lnTo>
                  <a:pt x="2818300" y="584850"/>
                </a:lnTo>
                <a:lnTo>
                  <a:pt x="2966632" y="584850"/>
                </a:lnTo>
                <a:lnTo>
                  <a:pt x="3114963" y="584850"/>
                </a:lnTo>
                <a:lnTo>
                  <a:pt x="3263295" y="584850"/>
                </a:lnTo>
                <a:lnTo>
                  <a:pt x="3411626" y="584850"/>
                </a:lnTo>
              </a:path>
            </a:pathLst>
          </a:custGeom>
          <a:noFill/>
          <a:ln w="22225">
            <a:solidFill>
              <a:srgbClr val="E0A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0034" y="2066543"/>
            <a:ext cx="341162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0A522"/>
                </a:solidFill>
                <a:latin typeface="Segoe UI Semibold"/>
              </a:rPr>
              <a:t>MMGD estimada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7148" y="2304287"/>
            <a:ext cx="3411626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277148" y="2679191"/>
            <a:ext cx="3411627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77148" y="3054095"/>
            <a:ext cx="3411627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8277148" y="2428006"/>
            <a:ext cx="3411627" cy="1000994"/>
          </a:xfrm>
          <a:custGeom>
            <a:avLst/>
            <a:gdLst/>
            <a:ahLst/>
            <a:cxnLst/>
            <a:rect l="l" t="t" r="r" b="b"/>
            <a:pathLst>
              <a:path w="3411627" h="1000994">
                <a:moveTo>
                  <a:pt x="0" y="258684"/>
                </a:moveTo>
                <a:lnTo>
                  <a:pt x="148332" y="292425"/>
                </a:lnTo>
                <a:lnTo>
                  <a:pt x="296663" y="326166"/>
                </a:lnTo>
                <a:lnTo>
                  <a:pt x="444995" y="348661"/>
                </a:lnTo>
                <a:lnTo>
                  <a:pt x="593327" y="359908"/>
                </a:lnTo>
                <a:lnTo>
                  <a:pt x="741658" y="359908"/>
                </a:lnTo>
                <a:lnTo>
                  <a:pt x="889990" y="359908"/>
                </a:lnTo>
                <a:lnTo>
                  <a:pt x="1038321" y="393649"/>
                </a:lnTo>
                <a:lnTo>
                  <a:pt x="1186653" y="483626"/>
                </a:lnTo>
                <a:lnTo>
                  <a:pt x="1334985" y="584850"/>
                </a:lnTo>
                <a:lnTo>
                  <a:pt x="1483316" y="663580"/>
                </a:lnTo>
                <a:lnTo>
                  <a:pt x="1631648" y="663580"/>
                </a:lnTo>
                <a:lnTo>
                  <a:pt x="1779979" y="629839"/>
                </a:lnTo>
                <a:lnTo>
                  <a:pt x="1928311" y="573603"/>
                </a:lnTo>
                <a:lnTo>
                  <a:pt x="2076642" y="483626"/>
                </a:lnTo>
                <a:lnTo>
                  <a:pt x="2224974" y="359908"/>
                </a:lnTo>
                <a:lnTo>
                  <a:pt x="2373306" y="202448"/>
                </a:lnTo>
                <a:lnTo>
                  <a:pt x="2521637" y="67483"/>
                </a:lnTo>
                <a:lnTo>
                  <a:pt x="2669969" y="11247"/>
                </a:lnTo>
                <a:lnTo>
                  <a:pt x="2818300" y="0"/>
                </a:lnTo>
                <a:lnTo>
                  <a:pt x="2966632" y="22494"/>
                </a:lnTo>
                <a:lnTo>
                  <a:pt x="3114964" y="78730"/>
                </a:lnTo>
                <a:lnTo>
                  <a:pt x="3263295" y="146212"/>
                </a:lnTo>
                <a:lnTo>
                  <a:pt x="3411627" y="213695"/>
                </a:lnTo>
                <a:lnTo>
                  <a:pt x="3411627" y="1000994"/>
                </a:lnTo>
                <a:lnTo>
                  <a:pt x="0" y="1000994"/>
                </a:lnTo>
                <a:close/>
              </a:path>
            </a:pathLst>
          </a:custGeom>
          <a:solidFill>
            <a:srgbClr val="D3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8277148" y="2428006"/>
            <a:ext cx="3411627" cy="663580"/>
          </a:xfrm>
          <a:custGeom>
            <a:avLst/>
            <a:gdLst/>
            <a:ahLst/>
            <a:cxnLst/>
            <a:rect l="l" t="t" r="r" b="b"/>
            <a:pathLst>
              <a:path w="3411627" h="663580">
                <a:moveTo>
                  <a:pt x="0" y="258684"/>
                </a:moveTo>
                <a:lnTo>
                  <a:pt x="148332" y="292425"/>
                </a:lnTo>
                <a:lnTo>
                  <a:pt x="296663" y="326166"/>
                </a:lnTo>
                <a:lnTo>
                  <a:pt x="444995" y="348661"/>
                </a:lnTo>
                <a:lnTo>
                  <a:pt x="593327" y="359908"/>
                </a:lnTo>
                <a:lnTo>
                  <a:pt x="741658" y="359908"/>
                </a:lnTo>
                <a:lnTo>
                  <a:pt x="889990" y="359908"/>
                </a:lnTo>
                <a:lnTo>
                  <a:pt x="1038321" y="393649"/>
                </a:lnTo>
                <a:lnTo>
                  <a:pt x="1186653" y="483626"/>
                </a:lnTo>
                <a:lnTo>
                  <a:pt x="1334985" y="584850"/>
                </a:lnTo>
                <a:lnTo>
                  <a:pt x="1483316" y="663580"/>
                </a:lnTo>
                <a:lnTo>
                  <a:pt x="1631648" y="663580"/>
                </a:lnTo>
                <a:lnTo>
                  <a:pt x="1779979" y="629839"/>
                </a:lnTo>
                <a:lnTo>
                  <a:pt x="1928311" y="573603"/>
                </a:lnTo>
                <a:lnTo>
                  <a:pt x="2076642" y="483626"/>
                </a:lnTo>
                <a:lnTo>
                  <a:pt x="2224974" y="359908"/>
                </a:lnTo>
                <a:lnTo>
                  <a:pt x="2373306" y="202448"/>
                </a:lnTo>
                <a:lnTo>
                  <a:pt x="2521637" y="67483"/>
                </a:lnTo>
                <a:lnTo>
                  <a:pt x="2669969" y="11247"/>
                </a:lnTo>
                <a:lnTo>
                  <a:pt x="2818300" y="0"/>
                </a:lnTo>
                <a:lnTo>
                  <a:pt x="2966632" y="22494"/>
                </a:lnTo>
                <a:lnTo>
                  <a:pt x="3114964" y="78730"/>
                </a:lnTo>
                <a:lnTo>
                  <a:pt x="3263295" y="146212"/>
                </a:lnTo>
                <a:lnTo>
                  <a:pt x="3411627" y="213695"/>
                </a:lnTo>
              </a:path>
            </a:pathLst>
          </a:custGeom>
          <a:noFill/>
          <a:ln w="22225">
            <a:solidFill>
              <a:srgbClr val="172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7148" y="2066543"/>
            <a:ext cx="341162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7296B"/>
                </a:solidFill>
                <a:latin typeface="Segoe UI Semibold"/>
              </a:rPr>
              <a:t>Carga supervisionada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4546" y="265633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96B"/>
                </a:solidFill>
                <a:latin typeface="Segoe UI Semibold"/>
              </a:rPr>
              <a:t>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1660" y="265633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96B"/>
                </a:solidFill>
                <a:latin typeface="Segoe UI Semibold"/>
              </a:rPr>
              <a:t>=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" y="4279392"/>
            <a:ext cx="3163824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32104" y="4951476"/>
            <a:ext cx="3163824" cy="0"/>
          </a:xfrm>
          <a:prstGeom prst="line">
            <a:avLst/>
          </a:prstGeom>
          <a:ln w="9525">
            <a:solidFill>
              <a:srgbClr val="EAEE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14016" y="4279392"/>
            <a:ext cx="0" cy="1344167"/>
          </a:xfrm>
          <a:prstGeom prst="line">
            <a:avLst/>
          </a:prstGeom>
          <a:ln w="9525">
            <a:solidFill>
              <a:srgbClr val="D8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832104" y="4279392"/>
            <a:ext cx="3163824" cy="1317284"/>
          </a:xfrm>
          <a:custGeom>
            <a:avLst/>
            <a:gdLst/>
            <a:ahLst/>
            <a:cxnLst/>
            <a:rect l="l" t="t" r="r" b="b"/>
            <a:pathLst>
              <a:path w="3163824" h="1317284">
                <a:moveTo>
                  <a:pt x="0" y="0"/>
                </a:moveTo>
                <a:lnTo>
                  <a:pt x="1581912" y="1317284"/>
                </a:lnTo>
                <a:lnTo>
                  <a:pt x="3163824" y="887150"/>
                </a:lnTo>
              </a:path>
            </a:pathLst>
          </a:custGeom>
          <a:noFill/>
          <a:ln w="25400">
            <a:solidFill>
              <a:srgbClr val="B32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32104" y="4467575"/>
            <a:ext cx="3163824" cy="1129101"/>
          </a:xfrm>
          <a:custGeom>
            <a:avLst/>
            <a:gdLst/>
            <a:ahLst/>
            <a:cxnLst/>
            <a:rect l="l" t="t" r="r" b="b"/>
            <a:pathLst>
              <a:path w="3163824" h="1129101">
                <a:moveTo>
                  <a:pt x="0" y="752734"/>
                </a:moveTo>
                <a:lnTo>
                  <a:pt x="1581912" y="1129101"/>
                </a:lnTo>
                <a:lnTo>
                  <a:pt x="3163824" y="0"/>
                </a:lnTo>
              </a:path>
            </a:pathLst>
          </a:custGeom>
          <a:noFill/>
          <a:ln w="25400">
            <a:solidFill>
              <a:srgbClr val="0E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32104" y="4951475"/>
            <a:ext cx="3163824" cy="645201"/>
          </a:xfrm>
          <a:custGeom>
            <a:avLst/>
            <a:gdLst/>
            <a:ahLst/>
            <a:cxnLst/>
            <a:rect l="l" t="t" r="r" b="b"/>
            <a:pathLst>
              <a:path w="3163824" h="645201">
                <a:moveTo>
                  <a:pt x="0" y="0"/>
                </a:moveTo>
                <a:lnTo>
                  <a:pt x="1581912" y="645201"/>
                </a:lnTo>
                <a:lnTo>
                  <a:pt x="3163824" y="0"/>
                </a:lnTo>
              </a:path>
            </a:pathLst>
          </a:custGeom>
          <a:noFill/>
          <a:ln w="15875">
            <a:solidFill>
              <a:srgbClr val="8A93A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005072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CUSTO OPERATIVO DO ERRO, POR PATAMAR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4682642"/>
            <a:ext cx="310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custo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" y="5678423"/>
            <a:ext cx="1581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◀ subestimação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14016" y="5678423"/>
            <a:ext cx="1581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superestimação 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" y="5920740"/>
            <a:ext cx="146304" cy="82296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" y="5879592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ponta noturna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78177" y="5920740"/>
            <a:ext cx="146304" cy="82296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88489" y="5879592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mínima diurna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4251" y="5920740"/>
            <a:ext cx="146304" cy="82296"/>
          </a:xfrm>
          <a:prstGeom prst="rect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4563" y="5879592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MAPE (simétrico)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4005072"/>
            <a:ext cx="3749039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Perda assimétrica por patamar horário:</a:t>
            </a:r>
            <a:r>
              <a:rPr sz="850" b="0">
                <a:solidFill>
                  <a:srgbClr val="1F2430"/>
                </a:solidFill>
                <a:latin typeface="Segoe UI"/>
              </a:rPr>
              <a:t> subestimar a ponta noturna pode significar acionamento emergencial; superestimar a mínima diurna significa térmica cara ligada à toa. O ONS declarou não dispor ainda de função de erro específica para a curva de carga.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Fatores tratados:</a:t>
            </a:r>
            <a:r>
              <a:rPr sz="850" b="0">
                <a:solidFill>
                  <a:srgbClr val="1F2430"/>
                </a:solidFill>
                <a:latin typeface="Segoe UI"/>
              </a:rPr>
              <a:t> calendário e efeito de feriado/fim de semana — os mínimos históricos ocorreram em domingos e no Dia dos Pais; temperatura, ponto de orvalho e desconforto térmico com efeitos não lineares e defasados; irradiância e nebulosidade por mancha.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850" b="1">
                <a:solidFill>
                  <a:srgbClr val="17296B"/>
                </a:solidFill>
                <a:latin typeface="Segoe UI Semibold"/>
              </a:rPr>
              <a:t>ERA5 é reanálise:</a:t>
            </a:r>
            <a:r>
              <a:rPr sz="850" b="0">
                <a:solidFill>
                  <a:srgbClr val="1F2430"/>
                </a:solidFill>
                <a:latin typeface="Segoe UI"/>
              </a:rPr>
              <a:t> serve a treino, backtest e reconstrução histórica. Em operação as covariáveis futuras vêm de ECMWF, GFS, WRF e INMET, com declaração do viés de perfect-prog.</a:t>
            </a:r>
          </a:p>
        </p:txBody>
      </p:sp>
      <p:pic>
        <p:nvPicPr>
          <p:cNvPr id="46" name="Picture 4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4005072"/>
            <a:ext cx="3502152" cy="1969513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8183879" y="4005072"/>
            <a:ext cx="3502152" cy="1969513"/>
          </a:xfrm>
          <a:prstGeom prst="rect">
            <a:avLst/>
          </a:prstGeom>
          <a:noFill/>
          <a:ln w="9525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6038593"/>
            <a:ext cx="3502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Figura 5 — Prospectiva 2029: mínima de 29,6 GW às 10h e máxima de 89,3 GW às 19h; ~33,6 GW de rampa em 3 h. Fonte: ONS, PAR/PEL 2025.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ARQUITETURA COMUM  |  CAUSA RAIZ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296B"/>
                </a:solidFill>
                <a:latin typeface="Segoe UI Semibold"/>
              </a:rPr>
              <a:t>A lacuna é institucional: 63,5 GW na distribuição, fora da visibilidade do TSO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3383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296B"/>
                </a:solidFill>
                <a:latin typeface="Segoe UI Semibold"/>
              </a:rPr>
              <a:t>63,5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82495"/>
            <a:ext cx="33832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3"/>
                </a:solidFill>
                <a:latin typeface="Segoe UI"/>
              </a:rPr>
              <a:t>MMGD + usinas Tipo III conectadas à distribuição — cerca de 25% da capacidade instalada de geração do 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298448"/>
            <a:ext cx="3383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06410"/>
                </a:solidFill>
                <a:latin typeface="Segoe UI Semibold"/>
              </a:rPr>
              <a:t>217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682495"/>
            <a:ext cx="33832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3"/>
                </a:solidFill>
                <a:latin typeface="Segoe UI"/>
              </a:rPr>
              <a:t>transformações de fronteira passíveis de operar em fluxo reverso, em 18 estados (eram 203)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298448"/>
            <a:ext cx="3383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C74"/>
                </a:solidFill>
                <a:latin typeface="Segoe UI Semibold"/>
              </a:rPr>
              <a:t>46% → 64%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682495"/>
            <a:ext cx="33832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3"/>
                </a:solidFill>
                <a:latin typeface="Segoe UI"/>
              </a:rPr>
              <a:t>participação máxima da GD no atendimento à demanda global: 46% em 2025, com projeção de 64% em 2029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9463"/>
            <a:ext cx="5309463" cy="1975104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9311" y="2569463"/>
            <a:ext cx="5309463" cy="1975104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53094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TRANSMISSÃO — SUPERVISIONADA PELO ONS (TSO)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2331720"/>
            <a:ext cx="53094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06410"/>
                </a:solidFill>
                <a:latin typeface="Segoe UI Semibold"/>
              </a:rPr>
              <a:t>DISTRIBUIÇÃO — SEM DSO CONSTITUÍDO</a:t>
            </a:r>
          </a:p>
        </p:txBody>
      </p:sp>
      <p:sp>
        <p:nvSpPr>
          <p:cNvPr id="16" name="Oval 15"/>
          <p:cNvSpPr/>
          <p:nvPr/>
        </p:nvSpPr>
        <p:spPr>
          <a:xfrm>
            <a:off x="722376" y="3063239"/>
            <a:ext cx="182880" cy="182880"/>
          </a:xfrm>
          <a:prstGeom prst="ellipse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13816" y="3246120"/>
            <a:ext cx="0" cy="329183"/>
          </a:xfrm>
          <a:prstGeom prst="line">
            <a:avLst/>
          </a:prstGeom>
          <a:ln w="12700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284933" y="3063239"/>
            <a:ext cx="182880" cy="182880"/>
          </a:xfrm>
          <a:prstGeom prst="ellipse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376373" y="3246120"/>
            <a:ext cx="0" cy="329183"/>
          </a:xfrm>
          <a:prstGeom prst="line">
            <a:avLst/>
          </a:prstGeom>
          <a:ln w="12700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847490" y="3063239"/>
            <a:ext cx="182880" cy="182880"/>
          </a:xfrm>
          <a:prstGeom prst="ellipse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938930" y="3246120"/>
            <a:ext cx="0" cy="329183"/>
          </a:xfrm>
          <a:prstGeom prst="line">
            <a:avLst/>
          </a:prstGeom>
          <a:ln w="12700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410047" y="3063239"/>
            <a:ext cx="182880" cy="182880"/>
          </a:xfrm>
          <a:prstGeom prst="ellipse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501487" y="3246120"/>
            <a:ext cx="0" cy="329183"/>
          </a:xfrm>
          <a:prstGeom prst="line">
            <a:avLst/>
          </a:prstGeom>
          <a:ln w="12700">
            <a:solidFill>
              <a:srgbClr val="2B43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2376" y="3575303"/>
            <a:ext cx="4998567" cy="0"/>
          </a:xfrm>
          <a:prstGeom prst="line">
            <a:avLst/>
          </a:prstGeom>
          <a:ln w="28575">
            <a:solidFill>
              <a:srgbClr val="1729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" y="3648456"/>
            <a:ext cx="49985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Rede Básica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813048"/>
            <a:ext cx="49985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telemetria, previsão e despacho centralizado: o operador vê e comanda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4069079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PREVCARGA e PREVCARGA PMO  ·  quatro subsistemas e quatro centros regionais  ·  atualização a cada 30 min  ·  três áreas de meteorologia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03823" y="3282696"/>
            <a:ext cx="384048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72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03823" y="3428999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T–D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784951" y="3081527"/>
            <a:ext cx="621792" cy="0"/>
          </a:xfrm>
          <a:prstGeom prst="line">
            <a:avLst/>
          </a:prstGeom>
          <a:ln w="22225">
            <a:solidFill>
              <a:srgbClr val="2E9B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998567" y="2843783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E9B57"/>
                </a:solidFill>
                <a:latin typeface="Segoe UI Semibold"/>
              </a:rPr>
              <a:t>fluxo reverso D → T</a:t>
            </a:r>
          </a:p>
        </p:txBody>
      </p:sp>
      <p:sp>
        <p:nvSpPr>
          <p:cNvPr id="32" name="Oval 31"/>
          <p:cNvSpPr/>
          <p:nvPr/>
        </p:nvSpPr>
        <p:spPr>
          <a:xfrm>
            <a:off x="8129541" y="2935464"/>
            <a:ext cx="80052" cy="8005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02428" y="3371515"/>
            <a:ext cx="67011" cy="67011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39084" y="3347283"/>
            <a:ext cx="52006" cy="52006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81214" y="2857916"/>
            <a:ext cx="54439" cy="5443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35673" y="3701641"/>
            <a:ext cx="55952" cy="5595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9131" y="3460341"/>
            <a:ext cx="93621" cy="93621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64934" y="3202268"/>
            <a:ext cx="94926" cy="94926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777300" y="3733121"/>
            <a:ext cx="63532" cy="6353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56159" y="2906415"/>
            <a:ext cx="64395" cy="64395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874" y="2970379"/>
            <a:ext cx="76882" cy="7688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78042" y="3184975"/>
            <a:ext cx="75334" cy="75334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8738" y="2843842"/>
            <a:ext cx="59708" cy="59708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886961" y="3251888"/>
            <a:ext cx="64654" cy="64654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21907" y="3280767"/>
            <a:ext cx="63997" cy="63997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47875" y="3556257"/>
            <a:ext cx="61452" cy="6145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54098" y="3347948"/>
            <a:ext cx="90303" cy="90303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12407" y="3080869"/>
            <a:ext cx="95105" cy="95105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17389" y="3231198"/>
            <a:ext cx="84908" cy="84908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00244" y="3326637"/>
            <a:ext cx="52084" cy="52084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21254" y="3621893"/>
            <a:ext cx="76490" cy="76490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835520" y="3116174"/>
            <a:ext cx="82080" cy="82080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461553" y="3418545"/>
            <a:ext cx="71149" cy="7114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66324" y="3825080"/>
            <a:ext cx="71967" cy="71967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798377" y="2833706"/>
            <a:ext cx="82364" cy="82364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712088" y="3871138"/>
            <a:ext cx="87870" cy="87870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36594" y="3197153"/>
            <a:ext cx="80862" cy="80862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62211" y="3293272"/>
            <a:ext cx="57975" cy="57975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112375" y="2830267"/>
            <a:ext cx="85415" cy="85415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81085" y="3049356"/>
            <a:ext cx="68166" cy="68166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821243" y="2861687"/>
            <a:ext cx="70828" cy="70828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232776" y="3748807"/>
            <a:ext cx="87749" cy="8774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785521" y="3083165"/>
            <a:ext cx="69279" cy="6927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93975" y="3746545"/>
            <a:ext cx="94079" cy="94079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290619" y="2973342"/>
            <a:ext cx="60897" cy="60897"/>
          </a:xfrm>
          <a:prstGeom prst="ellipse">
            <a:avLst/>
          </a:prstGeom>
          <a:solidFill>
            <a:srgbClr val="E0A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580479" y="3977639"/>
            <a:ext cx="4907127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1919" y="4050791"/>
            <a:ext cx="47242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MMGD e Tipo III: </a:t>
            </a:r>
            <a:r>
              <a:rPr sz="750" b="1">
                <a:solidFill>
                  <a:srgbClr val="C06410"/>
                </a:solidFill>
                <a:latin typeface="Segoe UI Semibold"/>
              </a:rPr>
              <a:t>sem telemetria, sem controlabilidade, sem interface TSO–DSO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4681728"/>
            <a:ext cx="54864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O ONS é o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TSO</a:t>
            </a:r>
            <a:r>
              <a:rPr sz="900" b="0">
                <a:solidFill>
                  <a:srgbClr val="1F2430"/>
                </a:solidFill>
                <a:latin typeface="Segoe UI"/>
              </a:rPr>
              <a:t> do SIN; o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DSO não está constituído no Brasil</a:t>
            </a:r>
            <a:r>
              <a:rPr sz="900" b="0">
                <a:solidFill>
                  <a:srgbClr val="1F2430"/>
                </a:solidFill>
                <a:latin typeface="Segoe UI"/>
              </a:rPr>
              <a:t> e, portanto, não existe interface de comunicação TSO–DSO. Faltam controlabilidade e regulamentação — lacuna que o próprio ONS reconheceu ao abrir o Projeto Interface ONS/DSO, em 2024.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Nas SEs Nova Mutum e Brasnorte já há risco de sobrecarga em condição normal, e a medida normatizada é o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corte manual da GD solicitado por telefone e procedimento</a:t>
            </a:r>
            <a:r>
              <a:rPr sz="900" b="0">
                <a:solidFill>
                  <a:srgbClr val="1F2430"/>
                </a:solidFill>
                <a:latin typeface="Segoe UI"/>
              </a:rPr>
              <a:t>, não por interface.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9632" y="4681728"/>
            <a:ext cx="54864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0">
                <a:solidFill>
                  <a:srgbClr val="1F2430"/>
                </a:solidFill>
                <a:latin typeface="Segoe UI"/>
              </a:rPr>
              <a:t>A prospecção para 2029 indica domingos com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excedente de até 4.909 MW entre 10h e 12h</a:t>
            </a:r>
            <a:r>
              <a:rPr sz="900" b="0">
                <a:solidFill>
                  <a:srgbClr val="1F2430"/>
                </a:solidFill>
                <a:latin typeface="Segoe UI"/>
              </a:rPr>
              <a:t>, com todas as fontes centralizadas no mínimo técnico; projetam-se de 7 a 12 dias por ano com possibilidade de perda de controlabilidade já em 2026.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>
                <a:solidFill>
                  <a:srgbClr val="0E7C74"/>
                </a:solidFill>
                <a:latin typeface="Segoe UI"/>
              </a:rPr>
              <a:t>▪   </a:t>
            </a:r>
            <a:r>
              <a:rPr sz="900" b="1">
                <a:solidFill>
                  <a:srgbClr val="17296B"/>
                </a:solidFill>
                <a:latin typeface="Segoe UI Semibold"/>
              </a:rPr>
              <a:t>Decisão de engenharia:</a:t>
            </a:r>
            <a:r>
              <a:rPr sz="900" b="0">
                <a:solidFill>
                  <a:srgbClr val="1F2430"/>
                </a:solidFill>
                <a:latin typeface="Segoe UI"/>
              </a:rPr>
              <a:t> um único modelo espacializado de MMGD alimenta as duas saídas. Cada desafio mantém a sua resposta; a eficiência vem de resolver a causa raiz compartilhada uma única vez.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ENCAIXE INSTITUCIONAL E DIFERENCIAL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Uma camada técnica para duas frentes que o ONS já declarou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99616"/>
            <a:ext cx="2149388" cy="804672"/>
          </a:xfrm>
          <a:prstGeom prst="rect">
            <a:avLst/>
          </a:prstGeom>
          <a:solidFill>
            <a:srgbClr val="E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99616"/>
            <a:ext cx="2149388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09343"/>
            <a:ext cx="19299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2E9B57"/>
                </a:solidFill>
                <a:latin typeface="Segoe UI Semibold"/>
              </a:rPr>
              <a:t>ENDEREÇADA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73936"/>
            <a:ext cx="19299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Parametrização, validação e calibração
de modelos de carga e MMGD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2036" y="1499616"/>
            <a:ext cx="2149388" cy="804672"/>
          </a:xfrm>
          <a:prstGeom prst="rect">
            <a:avLst/>
          </a:prstGeom>
          <a:solidFill>
            <a:srgbClr val="E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2036" y="1499616"/>
            <a:ext cx="2149388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764" y="1609343"/>
            <a:ext cx="19299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2E9B57"/>
                </a:solidFill>
                <a:latin typeface="Segoe UI Semibold"/>
              </a:rPr>
              <a:t>ENDEREÇADA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764" y="1773936"/>
            <a:ext cx="19299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Projeto Interface
ONS/DSO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1153" y="1499616"/>
            <a:ext cx="2149388" cy="804672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1153" y="1499616"/>
            <a:ext cx="2149388" cy="29260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0881" y="1609343"/>
            <a:ext cx="19299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06410"/>
                </a:solidFill>
                <a:latin typeface="Segoe UI Semibold"/>
              </a:rPr>
              <a:t>ADJACENTE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0881" y="1773936"/>
            <a:ext cx="19299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7296B"/>
                </a:solidFill>
                <a:latin typeface="Segoe UI"/>
              </a:rPr>
              <a:t>Plano de Gestão de Excedentes
na Rede de Distribuição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80269" y="1499616"/>
            <a:ext cx="2149388" cy="804672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80269" y="1499616"/>
            <a:ext cx="2149388" cy="29260"/>
          </a:xfrm>
          <a:prstGeom prst="rect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9997" y="1609343"/>
            <a:ext cx="19299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8A93A1"/>
                </a:solidFill>
                <a:latin typeface="Segoe UI Semibold"/>
              </a:rPr>
              <a:t>FORA DO ESCOPO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9997" y="1773936"/>
            <a:ext cx="19299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Revisão de classificação de
modalidades de operação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39386" y="1499616"/>
            <a:ext cx="2149388" cy="804672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39386" y="1499616"/>
            <a:ext cx="2149388" cy="29260"/>
          </a:xfrm>
          <a:prstGeom prst="rect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9114" y="1609343"/>
            <a:ext cx="19299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8A93A1"/>
                </a:solidFill>
                <a:latin typeface="Segoe UI Semibold"/>
              </a:rPr>
              <a:t>FORA DO ESCOPO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9114" y="1773936"/>
            <a:ext cx="19299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Atualização do Módulo 3
do PRODIST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280160"/>
            <a:ext cx="11185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AS CINCO FRENTES DO ONS DIANTE DOS IMPACTOS DA GD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414016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Encaixe direto:</a:t>
            </a:r>
            <a:r>
              <a:rPr sz="800" b="0">
                <a:solidFill>
                  <a:srgbClr val="5A6473"/>
                </a:solidFill>
                <a:latin typeface="Segoe UI"/>
              </a:rPr>
              <a:t> validação contra dados verificados, calibração espacial e predição probabilística com granularidade de mancha — insumo para a parametrização do Composite Load Model (CLM).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2414016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Segundo encaixe:</a:t>
            </a:r>
            <a:r>
              <a:rPr sz="800" b="0">
                <a:solidFill>
                  <a:srgbClr val="5A6473"/>
                </a:solidFill>
                <a:latin typeface="Segoe UI"/>
              </a:rPr>
              <a:t> propomos o conteúdo informacional da interface — qual grandeza, com que granularidade, com que antecedência e em que formato TSO e DSO precisam trocar. Uma interface precisa de um payload.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163824"/>
            <a:ext cx="5394960" cy="658367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163824"/>
            <a:ext cx="45720" cy="658367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236976"/>
            <a:ext cx="28053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74"/>
                </a:solidFill>
                <a:latin typeface="Segoe UI Semibold"/>
              </a:rPr>
              <a:t>Camada 1 · Realidade física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3401568"/>
            <a:ext cx="30211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Satélite + YOLOv8-seg — o painel existe no telhado?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0056" y="3255264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0056" y="3273552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A6473"/>
                </a:solidFill>
                <a:latin typeface="Segoe UI Semibold"/>
              </a:rPr>
              <a:t>mensal / trimestral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904487"/>
            <a:ext cx="5394960" cy="658367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904487"/>
            <a:ext cx="45720" cy="658367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3977639"/>
            <a:ext cx="28053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B4393"/>
                </a:solidFill>
                <a:latin typeface="Segoe UI Semibold"/>
              </a:rPr>
              <a:t>Camada 2 · Topologia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4142231"/>
            <a:ext cx="30211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BDGD (ANEEL) — a que transformador está conectado?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0056" y="3995927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0056" y="4014215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A6473"/>
                </a:solidFill>
                <a:latin typeface="Segoe UI Semibold"/>
              </a:rPr>
              <a:t>anual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645152"/>
            <a:ext cx="5394960" cy="658367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645152"/>
            <a:ext cx="45720" cy="658367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4718304"/>
            <a:ext cx="28053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6410"/>
                </a:solidFill>
                <a:latin typeface="Segoe UI Semibold"/>
              </a:rPr>
              <a:t>Camada 3 · Cadastro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4882896"/>
            <a:ext cx="30211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Empreendimentos de GD (ANEEL) — foi homologado, e quando?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0056" y="4736592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0056" y="4754880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A6473"/>
                </a:solidFill>
                <a:latin typeface="Segoe UI Semibold"/>
              </a:rPr>
              <a:t>diária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2907792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TRÊS CAMADAS DE EVIDÊNCIA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06056" y="3163824"/>
            <a:ext cx="21899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Consta na ANEEL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96044" y="3163824"/>
            <a:ext cx="21899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Não consta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849624"/>
            <a:ext cx="1024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Detectado
no satélite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33488" y="3611879"/>
            <a:ext cx="2135124" cy="804671"/>
          </a:xfrm>
          <a:prstGeom prst="rect">
            <a:avLst/>
          </a:prstGeom>
          <a:solidFill>
            <a:srgbClr val="EC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33488" y="3611879"/>
            <a:ext cx="2135124" cy="25603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34072" y="3694176"/>
            <a:ext cx="1933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9B57"/>
                </a:solidFill>
                <a:latin typeface="Segoe UI Semibold"/>
              </a:rPr>
              <a:t>MMGD confirmada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34072" y="3858768"/>
            <a:ext cx="193395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Ausente na BDGD → </a:t>
            </a:r>
            <a:r>
              <a:rPr sz="700" b="1">
                <a:solidFill>
                  <a:srgbClr val="17296B"/>
                </a:solidFill>
                <a:latin typeface="Segoe UI Semibold"/>
              </a:rPr>
              <a:t>lag de sistema</a:t>
            </a:r>
            <a:r>
              <a:rPr sz="700" b="0">
                <a:solidFill>
                  <a:srgbClr val="1F2430"/>
                </a:solidFill>
                <a:latin typeface="Segoe UI"/>
              </a:rPr>
              <a:t>: defasagem administrativa. Entra no fator de correção.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23476" y="3611879"/>
            <a:ext cx="2135124" cy="804671"/>
          </a:xfrm>
          <a:prstGeom prst="rect">
            <a:avLst/>
          </a:prstGeom>
          <a:solidFill>
            <a:srgbClr val="FA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523476" y="3611879"/>
            <a:ext cx="2135124" cy="25603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24060" y="3694176"/>
            <a:ext cx="1933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262A"/>
                </a:solidFill>
                <a:latin typeface="Segoe UI Semibold"/>
              </a:rPr>
              <a:t>Não homologada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24060" y="3858768"/>
            <a:ext cx="193395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Presente e gerando sem registro → </a:t>
            </a:r>
            <a:r>
              <a:rPr sz="700" b="1">
                <a:solidFill>
                  <a:srgbClr val="17296B"/>
                </a:solidFill>
                <a:latin typeface="Segoe UI Semibold"/>
              </a:rPr>
              <a:t>exceção escalada</a:t>
            </a:r>
            <a:r>
              <a:rPr sz="700" b="0">
                <a:solidFill>
                  <a:srgbClr val="1F2430"/>
                </a:solidFill>
                <a:latin typeface="Segoe UI"/>
              </a:rPr>
              <a:t>, fora do fator de correção.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4709159"/>
            <a:ext cx="1024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Não
detectado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33488" y="4471416"/>
            <a:ext cx="2135124" cy="804671"/>
          </a:xfrm>
          <a:prstGeom prst="rect">
            <a:avLst/>
          </a:prstGeom>
          <a:solidFill>
            <a:srgbClr val="FA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33488" y="4471416"/>
            <a:ext cx="2135124" cy="25603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34072" y="4553712"/>
            <a:ext cx="1933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06410"/>
                </a:solidFill>
                <a:latin typeface="Segoe UI Semibold"/>
              </a:rPr>
              <a:t>Cadastro sem evidência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34072" y="4718303"/>
            <a:ext cx="193395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Imagem defasada ou obra não concluída → revisar captura.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3476" y="4471416"/>
            <a:ext cx="2135124" cy="804671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23476" y="4471416"/>
            <a:ext cx="2135124" cy="25603"/>
          </a:xfrm>
          <a:prstGeom prst="rect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24060" y="4553712"/>
            <a:ext cx="1933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A93A1"/>
                </a:solidFill>
                <a:latin typeface="Segoe UI Semibold"/>
              </a:rPr>
              <a:t>Sem evidência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24060" y="4718303"/>
            <a:ext cx="193395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Nada a corrigir no cadastro.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200" y="2907792"/>
            <a:ext cx="5513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LÓGICA DE DESEMPATE DO CADASTRO DE MMGD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543153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473"/>
                </a:solidFill>
                <a:latin typeface="Segoe UI"/>
              </a:rPr>
              <a:t>O valor não está em nenhuma camada isolada, e sim no cruzamento: sem o desempate diário, o modelo trataria defasagem administrativa e instalação irregular como a mesma coisa, corrigindo a MMGD estimada sobre base errada. </a:t>
            </a:r>
            <a:r>
              <a:rPr sz="800" b="1">
                <a:solidFill>
                  <a:srgbClr val="17296B"/>
                </a:solidFill>
                <a:latin typeface="Segoe UI Semibold"/>
              </a:rPr>
              <a:t>Prova de execução:</a:t>
            </a:r>
            <a:r>
              <a:rPr sz="800" b="0">
                <a:solidFill>
                  <a:srgbClr val="5A6473"/>
                </a:solidFill>
                <a:latin typeface="Segoe UI"/>
              </a:rPr>
              <a:t> a equipe já entregou a parametrização e o mapeamento espacial da MMGD sob a perspectiva das distribuidoras em trabalho anterior.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ARQUITETURA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Cinco pilares, das fontes abertas às duas saídas operativas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874519" cy="2761487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FONTES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1"/>
            <a:ext cx="1691639" cy="57607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1508760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Portal de Dados Abertos do ONS · MCP oficial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95144"/>
            <a:ext cx="1691639" cy="57607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1508760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BDGD (ANEEL) · Open Buildings · IBGE · OSM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62655"/>
            <a:ext cx="1691639" cy="57607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7"/>
            <a:ext cx="1508760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Imagens de satélite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30167"/>
            <a:ext cx="1691639" cy="57607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19"/>
            <a:ext cx="1508760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F2430"/>
                </a:solidFill>
                <a:latin typeface="Segoe UI"/>
              </a:rPr>
              <a:t>ERA5 · ECMWF / GFS / WRF · INMET</a:t>
            </a:r>
          </a:p>
        </p:txBody>
      </p:sp>
      <p:sp>
        <p:nvSpPr>
          <p:cNvPr id="16" name="Pentagon 15"/>
          <p:cNvSpPr/>
          <p:nvPr/>
        </p:nvSpPr>
        <p:spPr>
          <a:xfrm>
            <a:off x="2615183" y="2404871"/>
            <a:ext cx="1454444" cy="1024128"/>
          </a:xfrm>
          <a:prstGeom prst="homePlate">
            <a:avLst>
              <a:gd name="adj" fmla="val 28000"/>
            </a:avLst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 Semibold"/>
              </a:rPr>
              <a:t>Pilar 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Segoe UI"/>
              </a:rPr>
              <a:t>Ingestão e contratos de dados</a:t>
            </a:r>
          </a:p>
        </p:txBody>
      </p:sp>
      <p:sp>
        <p:nvSpPr>
          <p:cNvPr id="17" name="Chevron 16"/>
          <p:cNvSpPr/>
          <p:nvPr/>
        </p:nvSpPr>
        <p:spPr>
          <a:xfrm>
            <a:off x="3923324" y="2404871"/>
            <a:ext cx="1454444" cy="1024128"/>
          </a:xfrm>
          <a:prstGeom prst="chevron">
            <a:avLst>
              <a:gd name="adj" fmla="val 28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 Semibold"/>
              </a:rPr>
              <a:t>Pilar 1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Segoe UI"/>
              </a:rPr>
              <a:t>Engenharia de dados espaciais</a:t>
            </a:r>
          </a:p>
        </p:txBody>
      </p:sp>
      <p:sp>
        <p:nvSpPr>
          <p:cNvPr id="18" name="Chevron 17"/>
          <p:cNvSpPr/>
          <p:nvPr/>
        </p:nvSpPr>
        <p:spPr>
          <a:xfrm>
            <a:off x="5231465" y="2404871"/>
            <a:ext cx="1454444" cy="1024128"/>
          </a:xfrm>
          <a:prstGeom prst="chevron">
            <a:avLst>
              <a:gd name="adj" fmla="val 28000"/>
            </a:avLst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 Semibold"/>
              </a:rPr>
              <a:t>Pilar 2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Segoe UI"/>
              </a:rPr>
              <a:t>Auditoria por visão computacional</a:t>
            </a:r>
          </a:p>
        </p:txBody>
      </p:sp>
      <p:sp>
        <p:nvSpPr>
          <p:cNvPr id="19" name="Chevron 18"/>
          <p:cNvSpPr/>
          <p:nvPr/>
        </p:nvSpPr>
        <p:spPr>
          <a:xfrm>
            <a:off x="6539605" y="2404871"/>
            <a:ext cx="1454444" cy="1024128"/>
          </a:xfrm>
          <a:prstGeom prst="chevron">
            <a:avLst>
              <a:gd name="adj" fmla="val 28000"/>
            </a:avLst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 Semibold"/>
              </a:rPr>
              <a:t>Pilar 3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Segoe UI"/>
              </a:rPr>
              <a:t>Motor preditivo temporal</a:t>
            </a:r>
          </a:p>
        </p:txBody>
      </p:sp>
      <p:sp>
        <p:nvSpPr>
          <p:cNvPr id="20" name="Chevron 19"/>
          <p:cNvSpPr/>
          <p:nvPr/>
        </p:nvSpPr>
        <p:spPr>
          <a:xfrm>
            <a:off x="7847746" y="2404871"/>
            <a:ext cx="1454444" cy="1024128"/>
          </a:xfrm>
          <a:prstGeom prst="chevron">
            <a:avLst>
              <a:gd name="adj" fmla="val 28000"/>
            </a:avLst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 Semibold"/>
              </a:rPr>
              <a:t>Pilar 4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Segoe UI"/>
              </a:rPr>
              <a:t>Decisão e interface TSO–DSO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9935" y="1298448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SAÍDAS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39935" y="1773935"/>
            <a:ext cx="2148840" cy="10241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39935" y="1773935"/>
            <a:ext cx="2148840" cy="29260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7951" y="1901951"/>
            <a:ext cx="1892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4393"/>
                </a:solidFill>
                <a:latin typeface="Segoe UI Semibold"/>
              </a:rPr>
              <a:t>Saída 1 · Carga supervisionada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7951" y="2139695"/>
            <a:ext cx="18928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P10 / P50 / P90  ·  30 min, 3 h e D+1  ·  atualização a cada 30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39935" y="3035807"/>
            <a:ext cx="2148840" cy="10241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39935" y="3035807"/>
            <a:ext cx="2148840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7951" y="3163823"/>
            <a:ext cx="1892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9B57"/>
                </a:solidFill>
                <a:latin typeface="Segoe UI Semibold"/>
              </a:rPr>
              <a:t>Saída 2 · Risco de curtailment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7951" y="3401567"/>
            <a:ext cx="18928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Classificação probabilística por razão (ENE / CNF), por área de concessão e por fronteira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14015" y="2916935"/>
            <a:ext cx="182880" cy="0"/>
          </a:xfrm>
          <a:prstGeom prst="line">
            <a:avLst/>
          </a:prstGeom>
          <a:ln w="15875">
            <a:solidFill>
              <a:srgbClr val="2B43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20479" y="2916935"/>
            <a:ext cx="182880" cy="0"/>
          </a:xfrm>
          <a:prstGeom prst="line">
            <a:avLst/>
          </a:prstGeom>
          <a:ln w="15875">
            <a:solidFill>
              <a:srgbClr val="2B43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02920" y="4462272"/>
            <a:ext cx="2697480" cy="144475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462272"/>
            <a:ext cx="2697480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636008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4"/>
                </a:solidFill>
                <a:latin typeface="Segoe UI Semibold"/>
              </a:rPr>
              <a:t>Pilar 1 · Dados espaciais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937760"/>
            <a:ext cx="2295144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BDGD (ANEEL) sanitizada: subestações, alimentadores, transformadores, UCs e GD cadastrada.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Agregação por mancha de carga e de MMGD (fecho convexo e alternativas côncavas).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Ganho: manchas sub-municipais, onde as grades de 25 km e 10 km do ONS não alcançam.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4816" y="4462272"/>
            <a:ext cx="2697480" cy="144475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34816" y="4462272"/>
            <a:ext cx="2697480" cy="32004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5984" y="4636008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410"/>
                </a:solidFill>
                <a:latin typeface="Segoe UI Semibold"/>
              </a:rPr>
              <a:t>Pilar 2 · Visão computacional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5984" y="4937760"/>
            <a:ext cx="2295144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YOLOv8-seg com fine-tuning local e degradação artificial de imagem.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Auditoria em três camadas e lógica de desempate (slide 8).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Entrega o fator de correção da capacidade instalada cadastrada.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6713" y="4462272"/>
            <a:ext cx="2697480" cy="144475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66713" y="4462272"/>
            <a:ext cx="2697480" cy="32004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7881" y="4636008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4393"/>
                </a:solidFill>
                <a:latin typeface="Segoe UI Semibold"/>
              </a:rPr>
              <a:t>Pilar 3 · Motor preditivo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7881" y="4937760"/>
            <a:ext cx="2295144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Temporal Fusion Transformer com quantis, contra baselines obrigatórios.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Perda assimétrica por patamar horário.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Entradas: constrained-off (tm e detail), carga verificada, MMGD estimada, térmicas por motivo de despacho, meteorologia.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98610" y="4462272"/>
            <a:ext cx="2697480" cy="144475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98610" y="4462272"/>
            <a:ext cx="26974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99778" y="4636008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9B57"/>
                </a:solidFill>
                <a:latin typeface="Segoe UI Semibold"/>
              </a:rPr>
              <a:t>Pilar 4 · Decisão e interface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99778" y="4937760"/>
            <a:ext cx="2295144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Mapa híbrido, painel de despacho preditivo e painel de excedentes por transformação de fronteira.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Explicabilidade no padrão glass box do próprio ONS.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É o payload que a interface TSO–DSO ainda não tem.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998464"/>
            <a:ext cx="11185855" cy="365760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062472"/>
            <a:ext cx="107286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Pilar 0 — ingestão pelo Portal de Dados Abertos (85 conjuntos, com dicionários oficiais) e pelo MCP oficial do ONS, com a proposta de publicar os modelos do O.R.A.C.U.L.O. como tools no próprio MCP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O painel do operador: previsão, excedente e alerta rastreável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7863840" cy="470916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7863840" cy="365760"/>
          </a:xfrm>
          <a:prstGeom prst="rect">
            <a:avLst/>
          </a:prstGeom>
          <a:solidFill>
            <a:srgbClr val="16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D1C5"/>
                </a:solidFill>
                <a:latin typeface="Segoe UI Semibold"/>
              </a:rPr>
              <a:t>O.R.A.C.U.L.O.  ·  Painel de Despacho Preditivo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08176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6839B"/>
                </a:solidFill>
                <a:latin typeface="Segoe UI"/>
              </a:rPr>
              <a:t>subsistema NE  ·  D+1  ·  atualizado há 12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828799"/>
            <a:ext cx="3685031" cy="2103120"/>
          </a:xfrm>
          <a:prstGeom prst="rect">
            <a:avLst/>
          </a:prstGeom>
          <a:solidFill>
            <a:srgbClr val="16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920239"/>
            <a:ext cx="34289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76839B"/>
                </a:solidFill>
                <a:latin typeface="Segoe UI Semibold"/>
              </a:rPr>
              <a:t>MAPA HÍBRIDO  ·  DENSIDADE DE MMGD POR ÁREA DE CONCESSÃO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121408"/>
            <a:ext cx="3428999" cy="1682495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2837" y="2556523"/>
            <a:ext cx="166805" cy="166805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16973" y="2542482"/>
            <a:ext cx="136006" cy="136006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0036" y="2542845"/>
            <a:ext cx="139892" cy="139892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5459" y="2320917"/>
            <a:ext cx="110039" cy="110039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5250" y="2708734"/>
            <a:ext cx="145704" cy="145704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0723" y="2794152"/>
            <a:ext cx="170513" cy="170513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60581" y="2623207"/>
            <a:ext cx="96697" cy="96697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4413" y="2578259"/>
            <a:ext cx="87741" cy="87741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1111" y="2417216"/>
            <a:ext cx="85046" cy="85046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23383" y="2995581"/>
            <a:ext cx="159327" cy="159327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475385" y="3124497"/>
            <a:ext cx="127995" cy="127995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79877" y="3030903"/>
            <a:ext cx="107731" cy="107731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74870" y="3310418"/>
            <a:ext cx="159125" cy="159125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11958" y="2952587"/>
            <a:ext cx="103296" cy="103296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11719" y="2789124"/>
            <a:ext cx="152365" cy="152365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02399" y="3246628"/>
            <a:ext cx="117638" cy="117638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87179" y="3264686"/>
            <a:ext cx="82345" cy="82345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73043" y="3278918"/>
            <a:ext cx="125271" cy="125271"/>
          </a:xfrm>
          <a:prstGeom prst="ellipse">
            <a:avLst/>
          </a:prstGeom>
          <a:solidFill>
            <a:srgbClr val="A87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017757" y="2503399"/>
            <a:ext cx="88974" cy="88974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77738" y="2710453"/>
            <a:ext cx="106964" cy="106964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88955" y="2425902"/>
            <a:ext cx="170451" cy="170451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3464" y="2337055"/>
            <a:ext cx="104825" cy="104825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05745" y="2278943"/>
            <a:ext cx="155175" cy="155175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72181" y="2578051"/>
            <a:ext cx="123208" cy="123208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5212" y="2690371"/>
            <a:ext cx="94271" cy="94271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780224" y="2328242"/>
            <a:ext cx="120769" cy="120769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471413" y="2389991"/>
            <a:ext cx="171077" cy="171077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923544" y="2432303"/>
            <a:ext cx="3136391" cy="1097281"/>
          </a:xfrm>
          <a:custGeom>
            <a:avLst/>
            <a:gdLst/>
            <a:ahLst/>
            <a:cxnLst/>
            <a:rect l="l" t="t" r="r" b="b"/>
            <a:pathLst>
              <a:path w="3136391" h="1097281">
                <a:moveTo>
                  <a:pt x="0" y="1097281"/>
                </a:moveTo>
                <a:lnTo>
                  <a:pt x="1037843" y="164593"/>
                </a:lnTo>
                <a:lnTo>
                  <a:pt x="1997963" y="402336"/>
                </a:lnTo>
                <a:lnTo>
                  <a:pt x="3136391" y="0"/>
                </a:lnTo>
              </a:path>
            </a:pathLst>
          </a:custGeom>
          <a:noFill/>
          <a:ln w="1905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7824" y="3483864"/>
            <a:ext cx="91440" cy="9144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15667" y="2551176"/>
            <a:ext cx="91440" cy="9144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4215" y="2386584"/>
            <a:ext cx="91440" cy="9144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843783" y="2756915"/>
            <a:ext cx="155448" cy="155448"/>
          </a:xfrm>
          <a:prstGeom prst="ellipse">
            <a:avLst/>
          </a:prstGeom>
          <a:solidFill>
            <a:srgbClr val="F0B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49523" y="2907791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0B030"/>
                </a:solidFill>
                <a:latin typeface="Segoe UI Semibold"/>
              </a:rPr>
              <a:t>SE de fronteira</a:t>
            </a:r>
          </a:p>
        </p:txBody>
      </p:sp>
      <p:sp>
        <p:nvSpPr>
          <p:cNvPr id="46" name="Oval 45"/>
          <p:cNvSpPr/>
          <p:nvPr/>
        </p:nvSpPr>
        <p:spPr>
          <a:xfrm>
            <a:off x="800100" y="3872484"/>
            <a:ext cx="82296" cy="82296"/>
          </a:xfrm>
          <a:prstGeom prst="ellipse">
            <a:avLst/>
          </a:prstGeom>
          <a:solidFill>
            <a:srgbClr val="C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" y="384962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MMGD</a:t>
            </a:r>
          </a:p>
        </p:txBody>
      </p:sp>
      <p:sp>
        <p:nvSpPr>
          <p:cNvPr id="48" name="Oval 47"/>
          <p:cNvSpPr/>
          <p:nvPr/>
        </p:nvSpPr>
        <p:spPr>
          <a:xfrm>
            <a:off x="1293876" y="3872484"/>
            <a:ext cx="82296" cy="82296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17320" y="384962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rede básica</a:t>
            </a:r>
          </a:p>
        </p:txBody>
      </p:sp>
      <p:sp>
        <p:nvSpPr>
          <p:cNvPr id="50" name="Oval 49"/>
          <p:cNvSpPr/>
          <p:nvPr/>
        </p:nvSpPr>
        <p:spPr>
          <a:xfrm>
            <a:off x="2075688" y="3872484"/>
            <a:ext cx="82296" cy="82296"/>
          </a:xfrm>
          <a:prstGeom prst="ellipse">
            <a:avLst/>
          </a:prstGeom>
          <a:solidFill>
            <a:srgbClr val="F0B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9132" y="3849624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alerta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17136" y="1828799"/>
            <a:ext cx="3685031" cy="2103120"/>
          </a:xfrm>
          <a:prstGeom prst="rect">
            <a:avLst/>
          </a:prstGeom>
          <a:solidFill>
            <a:srgbClr val="16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5151" y="1920239"/>
            <a:ext cx="34289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76839B"/>
                </a:solidFill>
                <a:latin typeface="Segoe UI Semibold"/>
              </a:rPr>
              <a:t>CARGA SUPERVISIONADA PREVISTA  ·  P10 / P50 / P90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45151" y="2121408"/>
            <a:ext cx="3428999" cy="1536191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4645151" y="2633472"/>
            <a:ext cx="3429000" cy="0"/>
          </a:xfrm>
          <a:prstGeom prst="line">
            <a:avLst/>
          </a:prstGeom>
          <a:ln w="9525">
            <a:solidFill>
              <a:srgbClr val="273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645151" y="3145535"/>
            <a:ext cx="3429000" cy="0"/>
          </a:xfrm>
          <a:prstGeom prst="line">
            <a:avLst/>
          </a:prstGeom>
          <a:ln w="9525">
            <a:solidFill>
              <a:srgbClr val="273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986934" y="2121408"/>
            <a:ext cx="894521" cy="1536191"/>
          </a:xfrm>
          <a:prstGeom prst="rect">
            <a:avLst/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645151" y="2209835"/>
            <a:ext cx="3429000" cy="1316228"/>
          </a:xfrm>
          <a:custGeom>
            <a:avLst/>
            <a:gdLst/>
            <a:ahLst/>
            <a:cxnLst/>
            <a:rect l="l" t="t" r="r" b="b"/>
            <a:pathLst>
              <a:path w="3429000" h="1316228">
                <a:moveTo>
                  <a:pt x="0" y="465946"/>
                </a:moveTo>
                <a:lnTo>
                  <a:pt x="149087" y="526721"/>
                </a:lnTo>
                <a:lnTo>
                  <a:pt x="298174" y="587497"/>
                </a:lnTo>
                <a:lnTo>
                  <a:pt x="447261" y="628014"/>
                </a:lnTo>
                <a:lnTo>
                  <a:pt x="596348" y="648273"/>
                </a:lnTo>
                <a:lnTo>
                  <a:pt x="745435" y="648273"/>
                </a:lnTo>
                <a:lnTo>
                  <a:pt x="894522" y="648273"/>
                </a:lnTo>
                <a:lnTo>
                  <a:pt x="1043609" y="709048"/>
                </a:lnTo>
                <a:lnTo>
                  <a:pt x="1192696" y="871116"/>
                </a:lnTo>
                <a:lnTo>
                  <a:pt x="1341783" y="1053443"/>
                </a:lnTo>
                <a:lnTo>
                  <a:pt x="1490870" y="1195253"/>
                </a:lnTo>
                <a:lnTo>
                  <a:pt x="1639957" y="1195253"/>
                </a:lnTo>
                <a:lnTo>
                  <a:pt x="1789044" y="1134477"/>
                </a:lnTo>
                <a:lnTo>
                  <a:pt x="1938131" y="1033185"/>
                </a:lnTo>
                <a:lnTo>
                  <a:pt x="2087218" y="871116"/>
                </a:lnTo>
                <a:lnTo>
                  <a:pt x="2236305" y="648273"/>
                </a:lnTo>
                <a:lnTo>
                  <a:pt x="2385392" y="364653"/>
                </a:lnTo>
                <a:lnTo>
                  <a:pt x="2534479" y="121551"/>
                </a:lnTo>
                <a:lnTo>
                  <a:pt x="2683566" y="20258"/>
                </a:lnTo>
                <a:lnTo>
                  <a:pt x="2832653" y="0"/>
                </a:lnTo>
                <a:lnTo>
                  <a:pt x="2981740" y="40517"/>
                </a:lnTo>
                <a:lnTo>
                  <a:pt x="3130827" y="141809"/>
                </a:lnTo>
                <a:lnTo>
                  <a:pt x="3279914" y="263360"/>
                </a:lnTo>
                <a:lnTo>
                  <a:pt x="3429000" y="384912"/>
                </a:lnTo>
                <a:lnTo>
                  <a:pt x="3429000" y="590377"/>
                </a:lnTo>
                <a:lnTo>
                  <a:pt x="3279914" y="481500"/>
                </a:lnTo>
                <a:lnTo>
                  <a:pt x="3130827" y="372622"/>
                </a:lnTo>
                <a:lnTo>
                  <a:pt x="2981740" y="281891"/>
                </a:lnTo>
                <a:lnTo>
                  <a:pt x="2832653" y="245598"/>
                </a:lnTo>
                <a:lnTo>
                  <a:pt x="2683566" y="263745"/>
                </a:lnTo>
                <a:lnTo>
                  <a:pt x="2534479" y="354476"/>
                </a:lnTo>
                <a:lnTo>
                  <a:pt x="2385392" y="572231"/>
                </a:lnTo>
                <a:lnTo>
                  <a:pt x="2236305" y="826279"/>
                </a:lnTo>
                <a:lnTo>
                  <a:pt x="2087218" y="1025888"/>
                </a:lnTo>
                <a:lnTo>
                  <a:pt x="1938131" y="1171058"/>
                </a:lnTo>
                <a:lnTo>
                  <a:pt x="1789044" y="1261789"/>
                </a:lnTo>
                <a:lnTo>
                  <a:pt x="1639957" y="1316228"/>
                </a:lnTo>
                <a:lnTo>
                  <a:pt x="1490870" y="1316228"/>
                </a:lnTo>
                <a:lnTo>
                  <a:pt x="1341783" y="1189204"/>
                </a:lnTo>
                <a:lnTo>
                  <a:pt x="1192696" y="1025888"/>
                </a:lnTo>
                <a:lnTo>
                  <a:pt x="1043609" y="880718"/>
                </a:lnTo>
                <a:lnTo>
                  <a:pt x="894522" y="826279"/>
                </a:lnTo>
                <a:lnTo>
                  <a:pt x="745435" y="826279"/>
                </a:lnTo>
                <a:lnTo>
                  <a:pt x="596348" y="826279"/>
                </a:lnTo>
                <a:lnTo>
                  <a:pt x="447261" y="808133"/>
                </a:lnTo>
                <a:lnTo>
                  <a:pt x="298174" y="771840"/>
                </a:lnTo>
                <a:lnTo>
                  <a:pt x="149087" y="717401"/>
                </a:lnTo>
                <a:lnTo>
                  <a:pt x="0" y="662962"/>
                </a:lnTo>
                <a:close/>
              </a:path>
            </a:pathLst>
          </a:cu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645151" y="2332634"/>
            <a:ext cx="3429000" cy="1132941"/>
          </a:xfrm>
          <a:custGeom>
            <a:avLst/>
            <a:gdLst/>
            <a:ahLst/>
            <a:cxnLst/>
            <a:rect l="l" t="t" r="r" b="b"/>
            <a:pathLst>
              <a:path w="3429000" h="1132941">
                <a:moveTo>
                  <a:pt x="0" y="441655"/>
                </a:moveTo>
                <a:lnTo>
                  <a:pt x="149087" y="499262"/>
                </a:lnTo>
                <a:lnTo>
                  <a:pt x="298174" y="556869"/>
                </a:lnTo>
                <a:lnTo>
                  <a:pt x="447261" y="595274"/>
                </a:lnTo>
                <a:lnTo>
                  <a:pt x="596348" y="614477"/>
                </a:lnTo>
                <a:lnTo>
                  <a:pt x="745435" y="614477"/>
                </a:lnTo>
                <a:lnTo>
                  <a:pt x="894522" y="614477"/>
                </a:lnTo>
                <a:lnTo>
                  <a:pt x="1043609" y="672084"/>
                </a:lnTo>
                <a:lnTo>
                  <a:pt x="1192696" y="825703"/>
                </a:lnTo>
                <a:lnTo>
                  <a:pt x="1341783" y="998525"/>
                </a:lnTo>
                <a:lnTo>
                  <a:pt x="1490870" y="1132941"/>
                </a:lnTo>
                <a:lnTo>
                  <a:pt x="1639957" y="1132941"/>
                </a:lnTo>
                <a:lnTo>
                  <a:pt x="1789044" y="1075334"/>
                </a:lnTo>
                <a:lnTo>
                  <a:pt x="1938131" y="979322"/>
                </a:lnTo>
                <a:lnTo>
                  <a:pt x="2087218" y="825703"/>
                </a:lnTo>
                <a:lnTo>
                  <a:pt x="2236305" y="614477"/>
                </a:lnTo>
                <a:lnTo>
                  <a:pt x="2385392" y="345643"/>
                </a:lnTo>
                <a:lnTo>
                  <a:pt x="2534479" y="115214"/>
                </a:lnTo>
                <a:lnTo>
                  <a:pt x="2683566" y="19202"/>
                </a:lnTo>
                <a:lnTo>
                  <a:pt x="2832653" y="0"/>
                </a:lnTo>
                <a:lnTo>
                  <a:pt x="2981740" y="38405"/>
                </a:lnTo>
                <a:lnTo>
                  <a:pt x="3130827" y="134417"/>
                </a:lnTo>
                <a:lnTo>
                  <a:pt x="3279914" y="249631"/>
                </a:lnTo>
                <a:lnTo>
                  <a:pt x="3429000" y="364845"/>
                </a:lnTo>
              </a:path>
            </a:pathLst>
          </a:custGeom>
          <a:noFill/>
          <a:ln w="2222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6934" y="2157984"/>
            <a:ext cx="89452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0B030"/>
                </a:solidFill>
                <a:latin typeface="Segoe UI Semibold"/>
              </a:rPr>
              <a:t>janela de risco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2271" y="3694175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0h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56793" y="3694175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6h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1315" y="3694175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12h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45837" y="3694175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18h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1" y="3694175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23h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45151" y="3858768"/>
            <a:ext cx="3428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6839B"/>
                </a:solidFill>
                <a:latin typeface="Segoe UI"/>
              </a:rPr>
              <a:t>rampa projetada 18h–19h: </a:t>
            </a:r>
            <a:r>
              <a:rPr sz="700" b="1">
                <a:solidFill>
                  <a:srgbClr val="C8D3E6"/>
                </a:solidFill>
                <a:latin typeface="Segoe UI Semibold"/>
              </a:rPr>
              <a:t>+33,6 GW em 3 h</a:t>
            </a:r>
            <a:r>
              <a:rPr sz="700" b="0">
                <a:solidFill>
                  <a:srgbClr val="76839B"/>
                </a:solidFill>
                <a:latin typeface="Segoe UI"/>
              </a:rPr>
              <a:t>  ·  margem até o mínimo técnico: 4,9 GW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" y="4096511"/>
            <a:ext cx="3685031" cy="1746504"/>
          </a:xfrm>
          <a:prstGeom prst="rect">
            <a:avLst/>
          </a:prstGeom>
          <a:solidFill>
            <a:srgbClr val="1C1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7512" y="4096511"/>
            <a:ext cx="45720" cy="1746504"/>
          </a:xfrm>
          <a:prstGeom prst="rect">
            <a:avLst/>
          </a:prstGeom>
          <a:solidFill>
            <a:srgbClr val="F0B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4206240"/>
            <a:ext cx="33192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0B030"/>
                </a:solidFill>
                <a:latin typeface="Segoe UI Semibold"/>
              </a:rPr>
              <a:t>⚠   ALERTA  —  RISCO DE CURTAILMENT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4407407"/>
            <a:ext cx="328269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Probabilidade de </a:t>
            </a:r>
            <a:r>
              <a:rPr sz="1000" b="1">
                <a:solidFill>
                  <a:srgbClr val="F0B030"/>
                </a:solidFill>
                <a:latin typeface="Segoe UI Semibold"/>
              </a:rPr>
              <a:t>85%</a:t>
            </a:r>
            <a:r>
              <a:rPr sz="1000" b="0">
                <a:solidFill>
                  <a:srgbClr val="FFFFFF"/>
                </a:solidFill>
                <a:latin typeface="Segoe UI"/>
              </a:rPr>
              <a:t> de necessidade de curtailment de </a:t>
            </a:r>
            <a:r>
              <a:rPr sz="1000" b="1">
                <a:solidFill>
                  <a:srgbClr val="F0B030"/>
                </a:solidFill>
                <a:latin typeface="Segoe UI Semibold"/>
              </a:rPr>
              <a:t>50 MW</a:t>
            </a:r>
            <a:r>
              <a:rPr sz="1000" b="0">
                <a:solidFill>
                  <a:srgbClr val="FFFFFF"/>
                </a:solidFill>
                <a:latin typeface="Segoe UI"/>
              </a:rPr>
              <a:t> no Parque Eólico X, amanhã às 14h.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4937759"/>
            <a:ext cx="3282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8D3E6"/>
                </a:solidFill>
                <a:latin typeface="Segoe UI"/>
              </a:rPr>
              <a:t>Motivo:  65% Condição de Vento Extremo (ERA5 / previsão numérica)  ·  35% Histórico de Restrição de Confiabilidade da Linha Y (CNF)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68680" y="5568696"/>
            <a:ext cx="3282696" cy="0"/>
          </a:xfrm>
          <a:prstGeom prst="line">
            <a:avLst/>
          </a:prstGeom>
          <a:ln w="9525">
            <a:solidFill>
              <a:srgbClr val="3A33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68680" y="5623560"/>
            <a:ext cx="32826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Fonte:  dataset constrained_off_eolica_tm  ·  janela D+1  ·  atualizado há 12 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17136" y="4096511"/>
            <a:ext cx="3685031" cy="1746504"/>
          </a:xfrm>
          <a:prstGeom prst="rect">
            <a:avLst/>
          </a:prstGeom>
          <a:solidFill>
            <a:srgbClr val="16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45151" y="4206240"/>
            <a:ext cx="34289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76839B"/>
                </a:solidFill>
                <a:latin typeface="Segoe UI Semibold"/>
              </a:rPr>
              <a:t>PAINEL DE EXCEDENTES  ·  POR TRANSFORMAÇÃO DE FRONTEIRA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45151" y="4425695"/>
            <a:ext cx="206361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8D3E6"/>
                </a:solidFill>
                <a:latin typeface="Segoe UI"/>
              </a:rPr>
              <a:t>SE Nova Mutum 230/69 kV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8155" y="4425695"/>
            <a:ext cx="73700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6839B"/>
                </a:solidFill>
                <a:latin typeface="Segoe UI"/>
              </a:rPr>
              <a:t>10h–12h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9207" y="4425695"/>
            <a:ext cx="6949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0B030"/>
                </a:solidFill>
                <a:latin typeface="Segoe UI Semibold"/>
              </a:rPr>
              <a:t>+184 MW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645151" y="4654295"/>
            <a:ext cx="3429000" cy="0"/>
          </a:xfrm>
          <a:prstGeom prst="line">
            <a:avLst/>
          </a:prstGeom>
          <a:ln w="9525">
            <a:solidFill>
              <a:srgbClr val="273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645151" y="4700015"/>
            <a:ext cx="206361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8D3E6"/>
                </a:solidFill>
                <a:latin typeface="Segoe UI"/>
              </a:rPr>
              <a:t>SE Brasnorte 230/138 kV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28155" y="4700015"/>
            <a:ext cx="73700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6839B"/>
                </a:solidFill>
                <a:latin typeface="Segoe UI"/>
              </a:rPr>
              <a:t>10h–13h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79207" y="4700015"/>
            <a:ext cx="6949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0B030"/>
                </a:solidFill>
                <a:latin typeface="Segoe UI Semibold"/>
              </a:rPr>
              <a:t>+96 MW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645151" y="4928615"/>
            <a:ext cx="3429000" cy="0"/>
          </a:xfrm>
          <a:prstGeom prst="line">
            <a:avLst/>
          </a:prstGeom>
          <a:ln w="9525">
            <a:solidFill>
              <a:srgbClr val="273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645151" y="4974335"/>
            <a:ext cx="206361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8D3E6"/>
                </a:solidFill>
                <a:latin typeface="Segoe UI"/>
              </a:rPr>
              <a:t>Área de concessão MT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28155" y="4974335"/>
            <a:ext cx="73700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6839B"/>
                </a:solidFill>
                <a:latin typeface="Segoe UI"/>
              </a:rPr>
              <a:t>09h–14h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79207" y="4974335"/>
            <a:ext cx="6949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C88A"/>
                </a:solidFill>
                <a:latin typeface="Segoe UI Semibold"/>
              </a:rPr>
              <a:t>+657 MW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45151" y="5568696"/>
            <a:ext cx="3428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6839B"/>
                </a:solidFill>
                <a:latin typeface="Segoe UI"/>
              </a:rPr>
              <a:t>Explicabilidade glass box: peso das variáveis, dataset de origem e consulta aplicada em cada alerta.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605332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6473"/>
                </a:solidFill>
                <a:latin typeface="Segoe UI"/>
              </a:rPr>
              <a:t>Mockup do painel operativo, com estética de sala de controle. Valores ilustram o formato de saída e não correspondem a um evento verificado.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49640" y="1298448"/>
            <a:ext cx="3136392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549640" y="1298448"/>
            <a:ext cx="3136392" cy="2926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77656" y="142646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4"/>
                </a:solidFill>
                <a:latin typeface="Segoe UI Semibold"/>
              </a:rPr>
              <a:t>Mapa híbrido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77656" y="1664208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Rede macro — usinas, limites de intercâmbio e alertas — sobre as manchas de densidade de MMGD e de carga por área de concessão.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49640" y="2496312"/>
            <a:ext cx="3136392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49640" y="2496312"/>
            <a:ext cx="3136392" cy="29260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77656" y="2624328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4393"/>
                </a:solidFill>
                <a:latin typeface="Segoe UI Semibold"/>
              </a:rPr>
              <a:t>Despacho preditivo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77656" y="2862072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Carga supervisionada esperada com banda P10/P50/P90, rampa projetada e margem até o mínimo técnico das fontes controláveis.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49640" y="3694176"/>
            <a:ext cx="3136392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49640" y="3694176"/>
            <a:ext cx="3136392" cy="29260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677656" y="3822191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9B57"/>
                </a:solidFill>
                <a:latin typeface="Segoe UI Semibold"/>
              </a:rPr>
              <a:t>Excedentes · TSO–DSO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059936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Previsão de excedente e de fluxo reverso por área de concessão e por transformação de fronteira, com antecedência para acionamento coordenado.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49640" y="4892040"/>
            <a:ext cx="3136392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549640" y="4892040"/>
            <a:ext cx="3136392" cy="29260"/>
          </a:xfrm>
          <a:prstGeom prst="rect">
            <a:avLst/>
          </a:prstGeom>
          <a:solidFill>
            <a:srgbClr val="C0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77656" y="5020055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410"/>
                </a:solidFill>
                <a:latin typeface="Segoe UI Semibold"/>
              </a:rPr>
              <a:t>Explicabilidade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77656" y="52578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F2430"/>
                </a:solidFill>
                <a:latin typeface="Segoe UI"/>
              </a:rPr>
              <a:t>Peso das variáveis por alerta, dataset de origem e consulta aplicada — o padrão glass box que o próprio ONS adota.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7C74"/>
                </a:solidFill>
                <a:latin typeface="Segoe UI Semibold"/>
              </a:rPr>
              <a:t>DADOS, VALIDAÇÃO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96B"/>
                </a:solidFill>
                <a:latin typeface="Segoe UI Semibold"/>
              </a:rPr>
              <a:t>Como provaremos que funciona — e o que não prometemos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7315200" cy="32004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15568"/>
            <a:ext cx="201168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BACKTEST TEMPORAL — CORTE CRONOLÓGICO, NUNCA ALEATÓRIO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776472" cy="310896"/>
          </a:xfrm>
          <a:prstGeom prst="rect">
            <a:avLst/>
          </a:prstGeom>
          <a:solidFill>
            <a:srgbClr val="D3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79392" y="1572768"/>
            <a:ext cx="1618488" cy="310896"/>
          </a:xfrm>
          <a:prstGeom prst="rect">
            <a:avLst/>
          </a:prstGeom>
          <a:solidFill>
            <a:srgbClr val="CB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45920"/>
            <a:ext cx="35570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96B"/>
                </a:solidFill>
                <a:latin typeface="Segoe UI Semibold"/>
              </a:rPr>
              <a:t>TREINO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C6B3E"/>
                </a:solidFill>
                <a:latin typeface="Segoe UI Semibold"/>
              </a:rPr>
              <a:t>TESTE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79392" y="1517904"/>
            <a:ext cx="0" cy="438912"/>
          </a:xfrm>
          <a:prstGeom prst="line">
            <a:avLst/>
          </a:prstGeom>
          <a:ln w="15875">
            <a:solidFill>
              <a:srgbClr val="B326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1938528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A93A1"/>
                </a:solidFill>
                <a:latin typeface="Segoe UI"/>
              </a:rPr>
              <a:t>tempo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12848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O MODELO TEM DE SUPERAR CADA BASELINE, POR HORIZONTE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07208"/>
            <a:ext cx="1280160" cy="274320"/>
          </a:xfrm>
          <a:prstGeom prst="rect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5292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Persistência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20" y="2688335"/>
            <a:ext cx="1280160" cy="393192"/>
          </a:xfrm>
          <a:prstGeom prst="rect">
            <a:avLst/>
          </a:prstGeom>
          <a:solidFill>
            <a:srgbClr val="D3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20" y="2793491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Sazonal-naïve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569463"/>
            <a:ext cx="1280160" cy="512064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73405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 Semibold"/>
              </a:rPr>
              <a:t>Gradient boosting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450591"/>
            <a:ext cx="1280160" cy="63093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674619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 Semibold"/>
              </a:rPr>
              <a:t>TFT + perda assimétrica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18688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74"/>
                </a:solidFill>
                <a:latin typeface="Segoe UI Semibold"/>
              </a:rPr>
              <a:t>MÉTRICAS POR PATAMAR E POR HORIZONTE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1725168" cy="256032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20440"/>
            <a:ext cx="1725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 Semibold"/>
              </a:rPr>
              <a:t>Mínima diurna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7816" y="3474720"/>
            <a:ext cx="1725168" cy="256032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7816" y="3520440"/>
            <a:ext cx="1725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 Semibold"/>
              </a:rPr>
              <a:t>Rampa vespertina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2712" y="3474720"/>
            <a:ext cx="1725168" cy="256032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2712" y="3520440"/>
            <a:ext cx="1725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 Semibold"/>
              </a:rPr>
              <a:t>Ponta noturna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" y="3822191"/>
            <a:ext cx="53218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750" b="0">
                <a:solidFill>
                  <a:srgbClr val="1F2430"/>
                </a:solidFill>
                <a:latin typeface="Segoe UI"/>
              </a:rPr>
              <a:t>MAPE e MAE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750" b="0">
                <a:solidFill>
                  <a:srgbClr val="1F2430"/>
                </a:solidFill>
                <a:latin typeface="Segoe UI"/>
              </a:rPr>
              <a:t>pinball loss (quantis)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750" b="0">
                <a:solidFill>
                  <a:srgbClr val="1F2430"/>
                </a:solidFill>
                <a:latin typeface="Segoe UI"/>
              </a:rPr>
              <a:t>erro de rampa (MW/h)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E7C74"/>
                </a:solidFill>
                <a:latin typeface="Segoe UI"/>
              </a:rPr>
              <a:t>▪   </a:t>
            </a:r>
            <a:r>
              <a:rPr sz="750" b="0">
                <a:solidFill>
                  <a:srgbClr val="1F2430"/>
                </a:solidFill>
                <a:latin typeface="Segoe UI"/>
              </a:rPr>
              <a:t>erro no pico e no instante do vale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" y="4553712"/>
            <a:ext cx="5321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473"/>
                </a:solidFill>
                <a:latin typeface="Segoe UI"/>
              </a:rPr>
              <a:t>Curtailment: ROC-AUC, precisão/recall por razão, erro no montante cortado (MWmed) e lead time útil do alerta.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92624"/>
            <a:ext cx="5394960" cy="13258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992624"/>
            <a:ext cx="5394960" cy="29260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5120640"/>
            <a:ext cx="5138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4"/>
                </a:solidFill>
                <a:latin typeface="Segoe UI Semibold"/>
              </a:rPr>
              <a:t>Prova documental do Ideathon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5358384"/>
            <a:ext cx="51389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1F2430"/>
                </a:solidFill>
                <a:latin typeface="Segoe UI"/>
              </a:rPr>
              <a:t>Reconstituir das bases do ONS um episódio real de constrained-off — por exemplo um dos zeramentos totais de eólicas e fotovoltaicas por baixa demanda — e apresentar o diagnóstico que o O.R.A.C.U.L.O. teria produzido naquele dia, com as variáveis que teriam pesado.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298448"/>
            <a:ext cx="5513832" cy="23957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298448"/>
            <a:ext cx="5513832" cy="29260"/>
          </a:xfrm>
          <a:prstGeom prst="rect">
            <a:avLst/>
          </a:prstGeom>
          <a:solidFill>
            <a:srgbClr val="2B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216" y="1426464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B4393"/>
                </a:solidFill>
                <a:latin typeface="Segoe UI Semibold"/>
              </a:rPr>
              <a:t>Fontes e limitações de cada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1664208"/>
            <a:ext cx="5257800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ONS · constrained-off (tm)</a:t>
            </a:r>
            <a:r>
              <a:rPr sz="750" b="0">
                <a:solidFill>
                  <a:srgbClr val="1F2430"/>
                </a:solidFill>
                <a:latin typeface="Segoe UI"/>
              </a:rPr>
              <a:t> — eólica 7.951.920 e fotovoltaica 2.854.800 registros, passo de 30 min, 24 variáveis, com razão e origem. Nulos frequentes na caracterização; id_ons não é único entre fontes.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ONS · detail</a:t>
            </a:r>
            <a:r>
              <a:rPr sz="750" b="0">
                <a:solidFill>
                  <a:srgbClr val="1F2430"/>
                </a:solidFill>
                <a:latin typeface="Segoe UI"/>
              </a:rPr>
              <a:t> — eólica 63.429.221 (1.060 IDs) e fotovoltaica 19.061.960 (560 IDs), com vento e irradiância verificados. Volume exige Parquet e processamento colunar.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ONS · demais conjuntos</a:t>
            </a:r>
            <a:r>
              <a:rPr sz="750" b="0">
                <a:solidFill>
                  <a:srgbClr val="1F2430"/>
                </a:solidFill>
                <a:latin typeface="Segoe UI"/>
              </a:rPr>
              <a:t> — carga verificada, MMGD estimada, térmicas por motivo de despacho. Subsistemas não coincidem com áreas operativas.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BDGD (ANEEL)</a:t>
            </a:r>
            <a:r>
              <a:rPr sz="750" b="0">
                <a:solidFill>
                  <a:srgbClr val="1F2430"/>
                </a:solidFill>
                <a:latin typeface="Segoe UI"/>
              </a:rPr>
              <a:t> — topologia, transformadores, UCs e GD cadastrada. Periodicidade anual, lacunas e heterogeneidade entre distribuidoras.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ERA5 · previsões numéricas · INMET</a:t>
            </a:r>
            <a:r>
              <a:rPr sz="750" b="0">
                <a:solidFill>
                  <a:srgbClr val="1F2430"/>
                </a:solidFill>
                <a:latin typeface="Segoe UI"/>
              </a:rPr>
              <a:t> — reanálise para treino; ECMWF, GFS, WRF e INMET como covariáveis futuras, fora do escopo do MVP.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840480"/>
            <a:ext cx="5513832" cy="247802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3840480"/>
            <a:ext cx="5513832" cy="29260"/>
          </a:xfrm>
          <a:prstGeom prst="rect">
            <a:avLst/>
          </a:prstGeom>
          <a:solidFill>
            <a:srgbClr val="B3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216" y="396849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3262A"/>
                </a:solidFill>
                <a:latin typeface="Segoe UI Semibold"/>
              </a:rPr>
              <a:t>Limitações declaradas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4206240"/>
            <a:ext cx="5257800" cy="2020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O rótulo de curtailment reflete a </a:t>
            </a:r>
            <a:r>
              <a:rPr sz="750" b="1">
                <a:solidFill>
                  <a:srgbClr val="17296B"/>
                </a:solidFill>
                <a:latin typeface="Segoe UI Semibold"/>
              </a:rPr>
              <a:t>decisão operativa observada</a:t>
            </a:r>
            <a:r>
              <a:rPr sz="750" b="0">
                <a:solidFill>
                  <a:srgbClr val="1F2430"/>
                </a:solidFill>
                <a:latin typeface="Segoe UI"/>
              </a:rPr>
              <a:t>, não o potencial físico: modela-se a decisão, não um contrafactual.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Não há modelo elétrico da rede:</a:t>
            </a:r>
            <a:r>
              <a:rPr sz="750" b="0">
                <a:solidFill>
                  <a:srgbClr val="1F2430"/>
                </a:solidFill>
                <a:latin typeface="Segoe UI"/>
              </a:rPr>
              <a:t> não se promete fluxo de potência, análise de estabilidade ou controle de tensão. A saída é insumo para quem realiza esses estudos.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A previsão não elimina o corte.</a:t>
            </a:r>
            <a:r>
              <a:rPr sz="750" b="0">
                <a:solidFill>
                  <a:srgbClr val="1F2430"/>
                </a:solidFill>
                <a:latin typeface="Segoe UI"/>
              </a:rPr>
              <a:t> O valor está na antecipação e na alocação de flexibilidade, em linha com a conclusão do próprio ONS de que a solução exige medidas integradas.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7296B"/>
                </a:solidFill>
                <a:latin typeface="Segoe UI Semibold"/>
              </a:rPr>
              <a:t>Posicionamento:</a:t>
            </a:r>
            <a:r>
              <a:rPr sz="750" b="0">
                <a:solidFill>
                  <a:srgbClr val="1F2430"/>
                </a:solidFill>
                <a:latin typeface="Segoe UI"/>
              </a:rPr>
              <a:t> camada complementar de granularidade espacial na fronteira T–D, não substituto do PREVCARGA ou do PREVCARGA PMO.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>
                <a:solidFill>
                  <a:srgbClr val="1F2430"/>
                </a:solidFill>
                <a:latin typeface="Segoe UI"/>
              </a:rPr>
              <a:t>Declarar limitação é critério de avaliação do Caderno de Desafios, não fraqueza da proposta.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O.R.A.C.U.L.O.   |   Equipe Linkfy   |   Hackathon IA COPPE/UFRJ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7175" y="6419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41148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731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D4CC"/>
                </a:solidFill>
                <a:latin typeface="Segoe UI Semibold"/>
              </a:rPr>
              <a:t>EQUIPE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24128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 Semibold"/>
              </a:rPr>
              <a:t>Linkfy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828800"/>
            <a:ext cx="3108960" cy="32004"/>
          </a:xfrm>
          <a:prstGeom prst="rect">
            <a:avLst/>
          </a:prstGeom>
          <a:solidFill>
            <a:srgbClr val="2E9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6E4"/>
                </a:solidFill>
                <a:latin typeface="Segoe UI"/>
              </a:rPr>
              <a:t>Competências reunidas em análise de sistemas elétricos de potência, engenharia de dados, visão computacional e modelagem preditiva.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944368"/>
            <a:ext cx="1922617" cy="96012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2944368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154680"/>
            <a:ext cx="159343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Gabriel Gonçalves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502152"/>
            <a:ext cx="159343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gabriel.goncalves@ons.org.br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7329" y="2944368"/>
            <a:ext cx="1922617" cy="96012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7329" y="2944368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1921" y="3154680"/>
            <a:ext cx="159343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[Nome do integrante]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921" y="3502152"/>
            <a:ext cx="159343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[e-mail]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4538" y="2944368"/>
            <a:ext cx="1922617" cy="96012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538" y="2944368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9130" y="3154680"/>
            <a:ext cx="159343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[Nome do integrante]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9130" y="3502152"/>
            <a:ext cx="159343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[e-mail]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1748" y="2944368"/>
            <a:ext cx="1922617" cy="96012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1748" y="2944368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6340" y="3154680"/>
            <a:ext cx="159343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[Nome do integrante]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6340" y="3502152"/>
            <a:ext cx="159343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[e-mail]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08957" y="2944368"/>
            <a:ext cx="1922617" cy="960120"/>
          </a:xfrm>
          <a:prstGeom prst="rect">
            <a:avLst/>
          </a:prstGeom>
          <a:solidFill>
            <a:srgbClr val="1F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08957" y="2944368"/>
            <a:ext cx="1922617" cy="32004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73549" y="3154680"/>
            <a:ext cx="159343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[Nome do integrante]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549" y="3502152"/>
            <a:ext cx="159343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FE8E0"/>
                </a:solidFill>
                <a:latin typeface="Segoe UI"/>
              </a:rPr>
              <a:t>[e-mail]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224528"/>
            <a:ext cx="10268712" cy="10972"/>
          </a:xfrm>
          <a:prstGeom prst="rect">
            <a:avLst/>
          </a:prstGeom>
          <a:solidFill>
            <a:srgbClr val="3345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4348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D4CC"/>
                </a:solidFill>
                <a:latin typeface="Segoe UI Semibold"/>
              </a:rPr>
              <a:t>FONTES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718304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8B6D6"/>
                </a:solidFill>
                <a:latin typeface="Segoe UI"/>
              </a:rPr>
              <a:t>ONS — PAR/PEL 2025, Sumário Executivo e Revista (Ciclo 2026–2030); ONS — Portal de Dados Abertos e MCP oficial; ONS — FAQ e material institucional sobre curtailment; Caderno de Desafios e Dados do Hackathon IA COPPE/UFRJ 2026; transcrições do treinamento de dados e da reunião de divulgação do PAR/PEL 2025. Figuras 1, 2, 3 e 5 reproduzidas do Sumário Executivo do PAR/PEL 2025 (ONS), com atribuição; demais diagramas de elaboração própria.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434840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D4CC"/>
                </a:solidFill>
                <a:latin typeface="Segoe UI Semibold"/>
              </a:rPr>
              <a:t>REFERÊNCIAS ABERTAS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718304"/>
            <a:ext cx="4645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C6D3EE"/>
                </a:solidFill>
                <a:latin typeface="Segoe UI"/>
              </a:rPr>
              <a:t>ons.org.br/Paginas/energia-no-futuro/suprimento-eletrico/parpel2025/sumario-executivo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C6D3EE"/>
                </a:solidFill>
                <a:latin typeface="Segoe UI"/>
              </a:rPr>
              <a:t>dados.ons.org.br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C6D3EE"/>
                </a:solidFill>
                <a:latin typeface="Segoe UI"/>
              </a:rPr>
              <a:t>ons.org.br/Paginas/faq_curtailment.aspx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6217920"/>
            <a:ext cx="10268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686B4"/>
                </a:solidFill>
                <a:latin typeface="Segoe UI"/>
              </a:rPr>
              <a:t>O.R.A.C.U.L.O.  ·  Camada de observabilidade e inteligência preditiva da fronteira transmissão–distribuição  ·  Hackathon IA COPPE/UFRJ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