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7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4A72A9-C32A-4D60-A07A-FA7E3778E5C7}" v="4" dt="2026-09-13T22:53:40.7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gia Rolim da Silva" userId="fbfb8c71-666a-4142-abbf-504e3765d1c9" providerId="ADAL" clId="{FA76E5CA-1635-4CD7-8042-536D286A8E09}"/>
    <pc:docChg chg="undo custSel addSld modSld sldOrd">
      <pc:chgData name="Ligia Rolim da Silva" userId="fbfb8c71-666a-4142-abbf-504e3765d1c9" providerId="ADAL" clId="{FA76E5CA-1635-4CD7-8042-536D286A8E09}" dt="2026-09-13T22:53:40.876" v="517" actId="27636"/>
      <pc:docMkLst>
        <pc:docMk/>
      </pc:docMkLst>
      <pc:sldChg chg="modSp mod">
        <pc:chgData name="Ligia Rolim da Silva" userId="fbfb8c71-666a-4142-abbf-504e3765d1c9" providerId="ADAL" clId="{FA76E5CA-1635-4CD7-8042-536D286A8E09}" dt="2026-09-13T22:45:22.193" v="216" actId="20577"/>
        <pc:sldMkLst>
          <pc:docMk/>
          <pc:sldMk cId="1510257333" sldId="256"/>
        </pc:sldMkLst>
        <pc:spChg chg="mod">
          <ac:chgData name="Ligia Rolim da Silva" userId="fbfb8c71-666a-4142-abbf-504e3765d1c9" providerId="ADAL" clId="{FA76E5CA-1635-4CD7-8042-536D286A8E09}" dt="2026-09-13T22:44:41.292" v="129" actId="20577"/>
          <ac:spMkLst>
            <pc:docMk/>
            <pc:sldMk cId="1510257333" sldId="256"/>
            <ac:spMk id="5" creationId="{C53BE4C1-0098-45C4-901C-DEE3A06F746D}"/>
          </ac:spMkLst>
        </pc:spChg>
        <pc:spChg chg="mod">
          <ac:chgData name="Ligia Rolim da Silva" userId="fbfb8c71-666a-4142-abbf-504e3765d1c9" providerId="ADAL" clId="{FA76E5CA-1635-4CD7-8042-536D286A8E09}" dt="2026-09-13T22:45:22.193" v="216" actId="20577"/>
          <ac:spMkLst>
            <pc:docMk/>
            <pc:sldMk cId="1510257333" sldId="256"/>
            <ac:spMk id="7" creationId="{8FE64611-3292-495D-8728-B1D0A619B5DE}"/>
          </ac:spMkLst>
        </pc:spChg>
      </pc:sldChg>
      <pc:sldChg chg="addSp delSp modSp mod">
        <pc:chgData name="Ligia Rolim da Silva" userId="fbfb8c71-666a-4142-abbf-504e3765d1c9" providerId="ADAL" clId="{FA76E5CA-1635-4CD7-8042-536D286A8E09}" dt="2026-09-13T22:49:44.939" v="368" actId="1076"/>
        <pc:sldMkLst>
          <pc:docMk/>
          <pc:sldMk cId="29081268" sldId="257"/>
        </pc:sldMkLst>
        <pc:spChg chg="mod">
          <ac:chgData name="Ligia Rolim da Silva" userId="fbfb8c71-666a-4142-abbf-504e3765d1c9" providerId="ADAL" clId="{FA76E5CA-1635-4CD7-8042-536D286A8E09}" dt="2026-09-13T22:46:08.091" v="286" actId="27636"/>
          <ac:spMkLst>
            <pc:docMk/>
            <pc:sldMk cId="29081268" sldId="257"/>
            <ac:spMk id="2" creationId="{95EFB7E2-842D-4B99-AB0B-A3E23E0CB2A3}"/>
          </ac:spMkLst>
        </pc:spChg>
        <pc:spChg chg="mod">
          <ac:chgData name="Ligia Rolim da Silva" userId="fbfb8c71-666a-4142-abbf-504e3765d1c9" providerId="ADAL" clId="{FA76E5CA-1635-4CD7-8042-536D286A8E09}" dt="2026-09-13T22:47:09.487" v="326" actId="6549"/>
          <ac:spMkLst>
            <pc:docMk/>
            <pc:sldMk cId="29081268" sldId="257"/>
            <ac:spMk id="5" creationId="{DF864089-7468-4FFF-B4C0-05D0EC99E9E9}"/>
          </ac:spMkLst>
        </pc:spChg>
        <pc:spChg chg="del">
          <ac:chgData name="Ligia Rolim da Silva" userId="fbfb8c71-666a-4142-abbf-504e3765d1c9" providerId="ADAL" clId="{FA76E5CA-1635-4CD7-8042-536D286A8E09}" dt="2026-09-13T22:49:23.564" v="354" actId="478"/>
          <ac:spMkLst>
            <pc:docMk/>
            <pc:sldMk cId="29081268" sldId="257"/>
            <ac:spMk id="7" creationId="{F5D07391-11EE-4F35-9A74-59DA9DD25E8F}"/>
          </ac:spMkLst>
        </pc:spChg>
        <pc:spChg chg="del">
          <ac:chgData name="Ligia Rolim da Silva" userId="fbfb8c71-666a-4142-abbf-504e3765d1c9" providerId="ADAL" clId="{FA76E5CA-1635-4CD7-8042-536D286A8E09}" dt="2026-09-13T22:49:23.564" v="354" actId="478"/>
          <ac:spMkLst>
            <pc:docMk/>
            <pc:sldMk cId="29081268" sldId="257"/>
            <ac:spMk id="8" creationId="{A487CF60-3B17-4288-B13A-165E9375619A}"/>
          </ac:spMkLst>
        </pc:spChg>
        <pc:spChg chg="del">
          <ac:chgData name="Ligia Rolim da Silva" userId="fbfb8c71-666a-4142-abbf-504e3765d1c9" providerId="ADAL" clId="{FA76E5CA-1635-4CD7-8042-536D286A8E09}" dt="2026-09-13T22:49:23.564" v="354" actId="478"/>
          <ac:spMkLst>
            <pc:docMk/>
            <pc:sldMk cId="29081268" sldId="257"/>
            <ac:spMk id="9" creationId="{ACC4835A-04AC-4E90-9360-BC5F94515A90}"/>
          </ac:spMkLst>
        </pc:spChg>
        <pc:spChg chg="add del mod">
          <ac:chgData name="Ligia Rolim da Silva" userId="fbfb8c71-666a-4142-abbf-504e3765d1c9" providerId="ADAL" clId="{FA76E5CA-1635-4CD7-8042-536D286A8E09}" dt="2026-09-13T22:49:23.564" v="354" actId="478"/>
          <ac:spMkLst>
            <pc:docMk/>
            <pc:sldMk cId="29081268" sldId="257"/>
            <ac:spMk id="11" creationId="{B27AD472-AC1B-478C-8DE8-09C536940C00}"/>
          </ac:spMkLst>
        </pc:spChg>
        <pc:spChg chg="del">
          <ac:chgData name="Ligia Rolim da Silva" userId="fbfb8c71-666a-4142-abbf-504e3765d1c9" providerId="ADAL" clId="{FA76E5CA-1635-4CD7-8042-536D286A8E09}" dt="2026-09-13T22:49:23.564" v="354" actId="478"/>
          <ac:spMkLst>
            <pc:docMk/>
            <pc:sldMk cId="29081268" sldId="257"/>
            <ac:spMk id="12" creationId="{74CAFCE0-8835-4BF5-9715-AE6364CBA4C5}"/>
          </ac:spMkLst>
        </pc:spChg>
        <pc:spChg chg="del">
          <ac:chgData name="Ligia Rolim da Silva" userId="fbfb8c71-666a-4142-abbf-504e3765d1c9" providerId="ADAL" clId="{FA76E5CA-1635-4CD7-8042-536D286A8E09}" dt="2026-09-13T22:49:23.564" v="354" actId="478"/>
          <ac:spMkLst>
            <pc:docMk/>
            <pc:sldMk cId="29081268" sldId="257"/>
            <ac:spMk id="15" creationId="{B9875A6A-CE0B-45AA-A182-9CC65FE3493A}"/>
          </ac:spMkLst>
        </pc:spChg>
        <pc:spChg chg="del">
          <ac:chgData name="Ligia Rolim da Silva" userId="fbfb8c71-666a-4142-abbf-504e3765d1c9" providerId="ADAL" clId="{FA76E5CA-1635-4CD7-8042-536D286A8E09}" dt="2026-09-13T22:49:23.564" v="354" actId="478"/>
          <ac:spMkLst>
            <pc:docMk/>
            <pc:sldMk cId="29081268" sldId="257"/>
            <ac:spMk id="16" creationId="{211A10FD-C977-4DA6-988F-738BB3C619C8}"/>
          </ac:spMkLst>
        </pc:spChg>
        <pc:spChg chg="del">
          <ac:chgData name="Ligia Rolim da Silva" userId="fbfb8c71-666a-4142-abbf-504e3765d1c9" providerId="ADAL" clId="{FA76E5CA-1635-4CD7-8042-536D286A8E09}" dt="2026-09-13T22:49:23.564" v="354" actId="478"/>
          <ac:spMkLst>
            <pc:docMk/>
            <pc:sldMk cId="29081268" sldId="257"/>
            <ac:spMk id="17" creationId="{123E7E9B-05FD-4C2E-8561-F7EB660BB148}"/>
          </ac:spMkLst>
        </pc:spChg>
        <pc:spChg chg="del">
          <ac:chgData name="Ligia Rolim da Silva" userId="fbfb8c71-666a-4142-abbf-504e3765d1c9" providerId="ADAL" clId="{FA76E5CA-1635-4CD7-8042-536D286A8E09}" dt="2026-09-13T22:49:23.564" v="354" actId="478"/>
          <ac:spMkLst>
            <pc:docMk/>
            <pc:sldMk cId="29081268" sldId="257"/>
            <ac:spMk id="18" creationId="{BB8953FA-3500-4731-A615-DE9733CD1641}"/>
          </ac:spMkLst>
        </pc:spChg>
        <pc:spChg chg="del">
          <ac:chgData name="Ligia Rolim da Silva" userId="fbfb8c71-666a-4142-abbf-504e3765d1c9" providerId="ADAL" clId="{FA76E5CA-1635-4CD7-8042-536D286A8E09}" dt="2026-09-13T22:49:23.564" v="354" actId="478"/>
          <ac:spMkLst>
            <pc:docMk/>
            <pc:sldMk cId="29081268" sldId="257"/>
            <ac:spMk id="19" creationId="{016E4F72-2480-40A0-A5F4-B33AB5F3906D}"/>
          </ac:spMkLst>
        </pc:spChg>
        <pc:spChg chg="mod">
          <ac:chgData name="Ligia Rolim da Silva" userId="fbfb8c71-666a-4142-abbf-504e3765d1c9" providerId="ADAL" clId="{FA76E5CA-1635-4CD7-8042-536D286A8E09}" dt="2026-09-13T22:47:47.173" v="340" actId="6549"/>
          <ac:spMkLst>
            <pc:docMk/>
            <pc:sldMk cId="29081268" sldId="257"/>
            <ac:spMk id="22" creationId="{79E32D9E-467C-49D7-A0C5-CFAB0807E077}"/>
          </ac:spMkLst>
        </pc:spChg>
        <pc:picChg chg="add mod">
          <ac:chgData name="Ligia Rolim da Silva" userId="fbfb8c71-666a-4142-abbf-504e3765d1c9" providerId="ADAL" clId="{FA76E5CA-1635-4CD7-8042-536D286A8E09}" dt="2026-09-13T22:49:42.667" v="367" actId="1076"/>
          <ac:picMkLst>
            <pc:docMk/>
            <pc:sldMk cId="29081268" sldId="257"/>
            <ac:picMk id="26" creationId="{E7DA8EF0-A3F7-5668-9840-C11A0132C4D1}"/>
          </ac:picMkLst>
        </pc:picChg>
        <pc:picChg chg="add mod">
          <ac:chgData name="Ligia Rolim da Silva" userId="fbfb8c71-666a-4142-abbf-504e3765d1c9" providerId="ADAL" clId="{FA76E5CA-1635-4CD7-8042-536D286A8E09}" dt="2026-09-13T22:49:44.939" v="368" actId="1076"/>
          <ac:picMkLst>
            <pc:docMk/>
            <pc:sldMk cId="29081268" sldId="257"/>
            <ac:picMk id="28" creationId="{BD6B0285-3D67-EAE4-3933-10F8BC1129B3}"/>
          </ac:picMkLst>
        </pc:picChg>
      </pc:sldChg>
      <pc:sldChg chg="modSp mod">
        <pc:chgData name="Ligia Rolim da Silva" userId="fbfb8c71-666a-4142-abbf-504e3765d1c9" providerId="ADAL" clId="{FA76E5CA-1635-4CD7-8042-536D286A8E09}" dt="2026-09-13T22:51:44.696" v="490" actId="20577"/>
        <pc:sldMkLst>
          <pc:docMk/>
          <pc:sldMk cId="543649783" sldId="258"/>
        </pc:sldMkLst>
        <pc:spChg chg="mod">
          <ac:chgData name="Ligia Rolim da Silva" userId="fbfb8c71-666a-4142-abbf-504e3765d1c9" providerId="ADAL" clId="{FA76E5CA-1635-4CD7-8042-536D286A8E09}" dt="2026-09-13T22:51:44.696" v="490" actId="20577"/>
          <ac:spMkLst>
            <pc:docMk/>
            <pc:sldMk cId="543649783" sldId="258"/>
            <ac:spMk id="4" creationId="{34A32097-0624-4F40-8DD6-7C850761A56C}"/>
          </ac:spMkLst>
        </pc:spChg>
      </pc:sldChg>
      <pc:sldChg chg="modSp mod">
        <pc:chgData name="Ligia Rolim da Silva" userId="fbfb8c71-666a-4142-abbf-504e3765d1c9" providerId="ADAL" clId="{FA76E5CA-1635-4CD7-8042-536D286A8E09}" dt="2026-09-13T22:43:26.748" v="85" actId="27636"/>
        <pc:sldMkLst>
          <pc:docMk/>
          <pc:sldMk cId="474809466" sldId="259"/>
        </pc:sldMkLst>
        <pc:spChg chg="mod">
          <ac:chgData name="Ligia Rolim da Silva" userId="fbfb8c71-666a-4142-abbf-504e3765d1c9" providerId="ADAL" clId="{FA76E5CA-1635-4CD7-8042-536D286A8E09}" dt="2026-09-13T22:43:26.748" v="85" actId="27636"/>
          <ac:spMkLst>
            <pc:docMk/>
            <pc:sldMk cId="474809466" sldId="259"/>
            <ac:spMk id="16" creationId="{10F85BE4-8F70-4BF5-81A0-F712B0961005}"/>
          </ac:spMkLst>
        </pc:spChg>
        <pc:spChg chg="mod">
          <ac:chgData name="Ligia Rolim da Silva" userId="fbfb8c71-666a-4142-abbf-504e3765d1c9" providerId="ADAL" clId="{FA76E5CA-1635-4CD7-8042-536D286A8E09}" dt="2026-09-13T22:43:26.737" v="84" actId="27636"/>
          <ac:spMkLst>
            <pc:docMk/>
            <pc:sldMk cId="474809466" sldId="259"/>
            <ac:spMk id="17" creationId="{E3701293-0113-4F7D-A62D-8C0A5CC2CE94}"/>
          </ac:spMkLst>
        </pc:spChg>
        <pc:spChg chg="mod">
          <ac:chgData name="Ligia Rolim da Silva" userId="fbfb8c71-666a-4142-abbf-504e3765d1c9" providerId="ADAL" clId="{FA76E5CA-1635-4CD7-8042-536D286A8E09}" dt="2026-09-13T22:43:26.727" v="83" actId="27636"/>
          <ac:spMkLst>
            <pc:docMk/>
            <pc:sldMk cId="474809466" sldId="259"/>
            <ac:spMk id="27" creationId="{558634FC-2EB1-46CA-9910-21DE8E3AAD18}"/>
          </ac:spMkLst>
        </pc:spChg>
      </pc:sldChg>
      <pc:sldChg chg="modSp mod">
        <pc:chgData name="Ligia Rolim da Silva" userId="fbfb8c71-666a-4142-abbf-504e3765d1c9" providerId="ADAL" clId="{FA76E5CA-1635-4CD7-8042-536D286A8E09}" dt="2026-09-13T22:43:26.790" v="87" actId="27636"/>
        <pc:sldMkLst>
          <pc:docMk/>
          <pc:sldMk cId="429226315" sldId="260"/>
        </pc:sldMkLst>
        <pc:spChg chg="mod">
          <ac:chgData name="Ligia Rolim da Silva" userId="fbfb8c71-666a-4142-abbf-504e3765d1c9" providerId="ADAL" clId="{FA76E5CA-1635-4CD7-8042-536D286A8E09}" dt="2026-09-13T22:43:26.790" v="87" actId="27636"/>
          <ac:spMkLst>
            <pc:docMk/>
            <pc:sldMk cId="429226315" sldId="260"/>
            <ac:spMk id="10" creationId="{4202AD07-2A72-4C3F-B385-1B1EC5DB64F8}"/>
          </ac:spMkLst>
        </pc:spChg>
        <pc:spChg chg="mod">
          <ac:chgData name="Ligia Rolim da Silva" userId="fbfb8c71-666a-4142-abbf-504e3765d1c9" providerId="ADAL" clId="{FA76E5CA-1635-4CD7-8042-536D286A8E09}" dt="2026-09-13T22:43:26.783" v="86" actId="27636"/>
          <ac:spMkLst>
            <pc:docMk/>
            <pc:sldMk cId="429226315" sldId="260"/>
            <ac:spMk id="15" creationId="{51DCC68B-717C-44D0-8458-1E17F14A550D}"/>
          </ac:spMkLst>
        </pc:spChg>
      </pc:sldChg>
      <pc:sldChg chg="addSp modSp mod">
        <pc:chgData name="Ligia Rolim da Silva" userId="fbfb8c71-666a-4142-abbf-504e3765d1c9" providerId="ADAL" clId="{FA76E5CA-1635-4CD7-8042-536D286A8E09}" dt="2026-09-13T22:52:13.935" v="510" actId="20577"/>
        <pc:sldMkLst>
          <pc:docMk/>
          <pc:sldMk cId="959434617" sldId="261"/>
        </pc:sldMkLst>
        <pc:spChg chg="add mod">
          <ac:chgData name="Ligia Rolim da Silva" userId="fbfb8c71-666a-4142-abbf-504e3765d1c9" providerId="ADAL" clId="{FA76E5CA-1635-4CD7-8042-536D286A8E09}" dt="2026-09-13T22:52:13.935" v="510" actId="20577"/>
          <ac:spMkLst>
            <pc:docMk/>
            <pc:sldMk cId="959434617" sldId="261"/>
            <ac:spMk id="36" creationId="{01FA20C0-5A79-9AD3-8EDD-7CC0B8E0C508}"/>
          </ac:spMkLst>
        </pc:spChg>
      </pc:sldChg>
      <pc:sldChg chg="modSp mod">
        <pc:chgData name="Ligia Rolim da Silva" userId="fbfb8c71-666a-4142-abbf-504e3765d1c9" providerId="ADAL" clId="{FA76E5CA-1635-4CD7-8042-536D286A8E09}" dt="2026-09-13T22:43:26.844" v="88" actId="27636"/>
        <pc:sldMkLst>
          <pc:docMk/>
          <pc:sldMk cId="1818665840" sldId="263"/>
        </pc:sldMkLst>
        <pc:spChg chg="mod">
          <ac:chgData name="Ligia Rolim da Silva" userId="fbfb8c71-666a-4142-abbf-504e3765d1c9" providerId="ADAL" clId="{FA76E5CA-1635-4CD7-8042-536D286A8E09}" dt="2026-09-13T22:43:26.844" v="88" actId="27636"/>
          <ac:spMkLst>
            <pc:docMk/>
            <pc:sldMk cId="1818665840" sldId="263"/>
            <ac:spMk id="47" creationId="{8E165E73-3860-4436-98D5-289CCD02496C}"/>
          </ac:spMkLst>
        </pc:spChg>
      </pc:sldChg>
      <pc:sldChg chg="delSp modSp mod">
        <pc:chgData name="Ligia Rolim da Silva" userId="fbfb8c71-666a-4142-abbf-504e3765d1c9" providerId="ADAL" clId="{FA76E5CA-1635-4CD7-8042-536D286A8E09}" dt="2026-09-13T22:44:32.476" v="127" actId="14100"/>
        <pc:sldMkLst>
          <pc:docMk/>
          <pc:sldMk cId="71040579" sldId="265"/>
        </pc:sldMkLst>
        <pc:spChg chg="mod">
          <ac:chgData name="Ligia Rolim da Silva" userId="fbfb8c71-666a-4142-abbf-504e3765d1c9" providerId="ADAL" clId="{FA76E5CA-1635-4CD7-8042-536D286A8E09}" dt="2026-09-13T22:43:29.299" v="89"/>
          <ac:spMkLst>
            <pc:docMk/>
            <pc:sldMk cId="71040579" sldId="265"/>
            <ac:spMk id="5" creationId="{75C4D845-4391-412F-857B-1176E89FE8D8}"/>
          </ac:spMkLst>
        </pc:spChg>
        <pc:spChg chg="del">
          <ac:chgData name="Ligia Rolim da Silva" userId="fbfb8c71-666a-4142-abbf-504e3765d1c9" providerId="ADAL" clId="{FA76E5CA-1635-4CD7-8042-536D286A8E09}" dt="2026-09-13T22:44:04.306" v="90" actId="478"/>
          <ac:spMkLst>
            <pc:docMk/>
            <pc:sldMk cId="71040579" sldId="265"/>
            <ac:spMk id="8" creationId="{83109E0D-E676-48E6-AABF-5D840749DBB1}"/>
          </ac:spMkLst>
        </pc:spChg>
        <pc:spChg chg="mod">
          <ac:chgData name="Ligia Rolim da Silva" userId="fbfb8c71-666a-4142-abbf-504e3765d1c9" providerId="ADAL" clId="{FA76E5CA-1635-4CD7-8042-536D286A8E09}" dt="2026-09-13T22:44:32.476" v="127" actId="14100"/>
          <ac:spMkLst>
            <pc:docMk/>
            <pc:sldMk cId="71040579" sldId="265"/>
            <ac:spMk id="9" creationId="{77E51380-F34D-4C8B-8AE8-85CE16DCE18D}"/>
          </ac:spMkLst>
        </pc:spChg>
      </pc:sldChg>
      <pc:sldChg chg="modSp add mod ord setBg">
        <pc:chgData name="Ligia Rolim da Silva" userId="fbfb8c71-666a-4142-abbf-504e3765d1c9" providerId="ADAL" clId="{FA76E5CA-1635-4CD7-8042-536D286A8E09}" dt="2026-09-13T22:53:20.307" v="514"/>
        <pc:sldMkLst>
          <pc:docMk/>
          <pc:sldMk cId="26689343" sldId="266"/>
        </pc:sldMkLst>
        <pc:spChg chg="mod">
          <ac:chgData name="Ligia Rolim da Silva" userId="fbfb8c71-666a-4142-abbf-504e3765d1c9" providerId="ADAL" clId="{FA76E5CA-1635-4CD7-8042-536D286A8E09}" dt="2026-09-13T22:53:16.288" v="512" actId="27636"/>
          <ac:spMkLst>
            <pc:docMk/>
            <pc:sldMk cId="26689343" sldId="266"/>
            <ac:spMk id="17" creationId="{176DD0F3-7215-4103-899F-0FF5FE4CF2BD}"/>
          </ac:spMkLst>
        </pc:spChg>
      </pc:sldChg>
      <pc:sldChg chg="modSp add mod setBg">
        <pc:chgData name="Ligia Rolim da Silva" userId="fbfb8c71-666a-4142-abbf-504e3765d1c9" providerId="ADAL" clId="{FA76E5CA-1635-4CD7-8042-536D286A8E09}" dt="2026-09-13T22:53:40.876" v="517" actId="27636"/>
        <pc:sldMkLst>
          <pc:docMk/>
          <pc:sldMk cId="230654313" sldId="267"/>
        </pc:sldMkLst>
        <pc:spChg chg="mod">
          <ac:chgData name="Ligia Rolim da Silva" userId="fbfb8c71-666a-4142-abbf-504e3765d1c9" providerId="ADAL" clId="{FA76E5CA-1635-4CD7-8042-536D286A8E09}" dt="2026-09-13T22:53:40.874" v="516" actId="27636"/>
          <ac:spMkLst>
            <pc:docMk/>
            <pc:sldMk cId="230654313" sldId="267"/>
            <ac:spMk id="19" creationId="{BC8F30EE-F4B8-4EBB-B7CE-3F32059B31AE}"/>
          </ac:spMkLst>
        </pc:spChg>
        <pc:spChg chg="mod">
          <ac:chgData name="Ligia Rolim da Silva" userId="fbfb8c71-666a-4142-abbf-504e3765d1c9" providerId="ADAL" clId="{FA76E5CA-1635-4CD7-8042-536D286A8E09}" dt="2026-09-13T22:53:40.876" v="517" actId="27636"/>
          <ac:spMkLst>
            <pc:docMk/>
            <pc:sldMk cId="230654313" sldId="267"/>
            <ac:spMk id="38" creationId="{B2F38C92-EBF8-4991-B13F-3F76AF03456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Apresentar a solução como uma camada de inteligência preditiva para a fronteira entre transmissão e distribuição. O objetivo é tornar sinais hoje fragmentados em informação operacional antecipada.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os três números para dimensionar o problema. Destacar que a geração distribuída já altera materialmente a carga supervisionada e o equilíbrio do SIN.</a:t>
            </a:r>
          </a:p>
          <a:p>
            <a:endParaRPr/>
          </a:p>
          <a:p>
            <a:r>
              <a:t>Fontes:</a:t>
            </a:r>
          </a:p>
          <a:p>
            <a:r>
              <a:t>- https://www.ons.org.br/Paginas/energia-no-futuro/suprimento-eletrico/parpel2025/sumario-executivo/index.aspx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Enfatizar que o ONS tem alta observabilidade sobre o sistema sob sua supervisão. A lacuna está na granularidade e na previsibilidade da distribuição, onde a MMGD altera a carga líquida percebida pelo Operador.</a:t>
            </a:r>
          </a:p>
          <a:p>
            <a:endParaRPr/>
          </a:p>
          <a:p>
            <a:r>
              <a:t>Fontes:</a:t>
            </a:r>
          </a:p>
          <a:p>
            <a:r>
              <a:t>- https://www.ons.org.br/Paginas/energia-no-futuro/suprimento-eletrico/parpel2025/sumario-executivo/index.aspx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Diferenciar o fenômeno geral de curtailment do escopo analítico da solução. O O.R.A.C.U.L.O. antecipa condições com maior propensão a restrições por razão energética; não substitui a decisão operativa do ONS.</a:t>
            </a:r>
          </a:p>
          <a:p>
            <a:endParaRPr/>
          </a:p>
          <a:p>
            <a:r>
              <a:t>Fontes:</a:t>
            </a:r>
          </a:p>
          <a:p>
            <a:r>
              <a:t>- https://www.ons.org.br/Paginas/faq_curtailment.aspx</a:t>
            </a:r>
          </a:p>
          <a:p>
            <a:r>
              <a:t>- https://www.ons.org.br/Paginas/energia-no-futuro/suprimento-eletrico/parpel2025/sumario-executivo/index.aspx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Conectar explicitamente a solução às duas ações prioritárias apresentadas pelo ONS: interface ONS/DSO e aprimoramento da representação da carga e da MMGD nos estudos elétricos.</a:t>
            </a:r>
          </a:p>
          <a:p>
            <a:endParaRPr/>
          </a:p>
          <a:p>
            <a:r>
              <a:t>Fontes:</a:t>
            </a:r>
          </a:p>
          <a:p>
            <a:r>
              <a:t>- https://www.ons.org.br/Paginas/energia-no-futuro/suprimento-eletrico/parpel2025/sumario-executivo/index.aspx</a:t>
            </a:r>
          </a:p>
          <a:p>
            <a:r>
              <a:t>- https://www.wecc.org/sites/default/files/documents/meeting/2024/WECC%20Comp%20Load%20Model%20Specification_final.pdf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O.R.A.C.U.L.O. atua nos dois eixos destacados pelo ONS. O primeiro qualifica a representação de carga e MMGD nos estudos elétricos. O segundo entrega informação estruturada à interface ONS–DSO, com granularidade e antecedência úteis à decisão.</a:t>
            </a:r>
          </a:p>
          <a:p>
            <a:endParaRPr/>
          </a:p>
          <a:p>
            <a:r>
              <a:t>Fontes:</a:t>
            </a:r>
          </a:p>
          <a:p>
            <a:r>
              <a:t>- https://www.ons.org.br/Paginas/energia-no-futuro/suprimento-eletrico/parpel2025/sumario-executivo/index.aspx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Mostrar que a inovação está na integração: séries operativas, geografia da distribuição, clima e evidência espacial passam por uma camada comum de qualidade, enriquecimento e modelos preditivos.</a:t>
            </a:r>
          </a:p>
          <a:p>
            <a:endParaRPr/>
          </a:p>
          <a:p>
            <a:r>
              <a:t>Fontes:</a:t>
            </a:r>
          </a:p>
          <a:p>
            <a:r>
              <a:t>- https://dados.ons.org.br/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Percorrer o pipeline em ordem. A saída para estudos elétricos inclui perfis e parâmetros representativos; a saída operativa inclui previsão e indicadores de risco. Reforçar o caráter de apoio à decisão.</a:t>
            </a:r>
          </a:p>
          <a:p>
            <a:endParaRPr/>
          </a:p>
          <a:p>
            <a:r>
              <a:t>Fontes:</a:t>
            </a:r>
          </a:p>
          <a:p>
            <a:r>
              <a:t>- https://dados.ons.org.br/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Eixo 1, a solução começa com séries históricas e medições, caracteriza perfis, valida e calibra parâmetros e entrega insumos para modelos dinâmicos equivalentes. O foco é apoiar a representação do Composite Load Model e outros modelos oficiais — não substituir os simuladores do ONS.</a:t>
            </a:r>
          </a:p>
          <a:p>
            <a:endParaRPr/>
          </a:p>
          <a:p>
            <a:r>
              <a:t>Fontes:</a:t>
            </a:r>
          </a:p>
          <a:p>
            <a:r>
              <a:t>- https://www.wecc.org/sites/default/files/documents/meeting/2024/WECC%20Comp%20Load%20Model%20Specification_final.pdf</a:t>
            </a:r>
          </a:p>
          <a:p>
            <a:r>
              <a:t>- https://dados.ons.org.br/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painel é um wireframe conceitual. Destacar que cada alerta deve ser rastreável por fonte, horizonte, área e variáveis explicativas. Os valores e áreas são ilustrativos; não representam resultado calculado.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Apresentar uma estratégia de validação realista. A proposta não afirma desempenho antecipadamente: compara baselines, realiza backtesting temporal, mede qualidade espacial e calibra o risco em eventos históricos.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Fechar com a frase-âncora. Um oráculo não adivinha: interpreta sinais já existentes e os transforma em inteligência preditiva. O O.R.A.C.U.L.O. faz isso na fronteira transmissão–distribuição.</a:t>
            </a:r>
          </a:p>
          <a:p>
            <a:endParaRPr/>
          </a:p>
          <a:p>
            <a:r>
              <a:t>Fontes:</a:t>
            </a:r>
          </a:p>
          <a:p>
            <a:r>
              <a:t>- https://www.ons.org.br/Paginas/energia-no-futuro/suprimento-eletrico/parpel2025/sumario-executivo/index.aspx</a:t>
            </a:r>
          </a:p>
          <a:p>
            <a:r>
              <a:t>- https://dados.ons.org.br/</a:t>
            </a:r>
          </a:p>
          <a:p>
            <a:r>
              <a:t>- https://www.ons.org.br/Paginas/faq_curtailment.aspx</a:t>
            </a:r>
          </a:p>
          <a:p>
            <a:r>
              <a:t>- https://www.wecc.org/sites/default/files/documents/meeting/2024/WECC%20Comp%20Load%20Model%20Specification_final.pdf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9A140C6-82B2-44F3-8619-E87850C510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762750" cy="6858000"/>
          </a:xfrm>
          <a:prstGeom prst="rect">
            <a:avLst/>
          </a:prstGeom>
          <a:gradFill>
            <a:gsLst>
              <a:gs pos="0">
                <a:srgbClr val="041427">
                  <a:alpha val="100000"/>
                </a:srgbClr>
              </a:gs>
              <a:gs pos="70000">
                <a:srgbClr val="041427">
                  <a:alpha val="94000"/>
                </a:srgbClr>
              </a:gs>
              <a:gs pos="100000">
                <a:srgbClr val="041427">
                  <a:alpha val="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4E680C6A-ADDF-4C85-98F6-23985592E2ED}"/>
              </a:ext>
            </a:extLst>
          </p:cNvPr>
          <p:cNvSpPr>
            <a:spLocks noGrp="1"/>
          </p:cNvSpPr>
          <p:nvPr/>
        </p:nvSpPr>
        <p:spPr>
          <a:xfrm>
            <a:off x="647700" y="552450"/>
            <a:ext cx="2895600" cy="323850"/>
          </a:xfrm>
          <a:prstGeom prst="roundRect">
            <a:avLst>
              <a:gd name="adj" fmla="val 50000"/>
            </a:avLst>
          </a:prstGeom>
          <a:solidFill>
            <a:srgbClr val="22C7F2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HACKATHON IA COPPE/UFRJ 2026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BCEF8A1-6556-4F4B-AB72-E4FD1F85DA1C}"/>
              </a:ext>
            </a:extLst>
          </p:cNvPr>
          <p:cNvSpPr>
            <a:spLocks noGrp="1"/>
          </p:cNvSpPr>
          <p:nvPr/>
        </p:nvSpPr>
        <p:spPr>
          <a:xfrm>
            <a:off x="628650" y="1438275"/>
            <a:ext cx="5905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48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8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O.R.A.C.U.L.O.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53BE4C1-0098-45C4-901C-DEE3A06F746D}"/>
              </a:ext>
            </a:extLst>
          </p:cNvPr>
          <p:cNvSpPr>
            <a:spLocks noGrp="1"/>
          </p:cNvSpPr>
          <p:nvPr/>
        </p:nvSpPr>
        <p:spPr>
          <a:xfrm>
            <a:off x="666750" y="2371725"/>
            <a:ext cx="56197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875" b="1" i="0">
                <a:solidFill>
                  <a:srgbClr val="D9F6FD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 i="0" dirty="0" err="1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Observabilidade</a:t>
            </a:r>
            <a:r>
              <a:rPr sz="1875" b="1" i="0" dirty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 de Redes e </a:t>
            </a:r>
            <a:r>
              <a:rPr sz="1875" b="1" i="0" dirty="0" err="1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Análise</a:t>
            </a:r>
            <a:r>
              <a:rPr sz="1875" b="1" i="0" dirty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 de Curtailment</a:t>
            </a:r>
            <a:r>
              <a:rPr lang="pt-BR" sz="1875" b="1" i="0" dirty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75" b="1" i="0" dirty="0" err="1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em</a:t>
            </a:r>
            <a:r>
              <a:rPr sz="1875" b="1" i="0" dirty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75" b="1" i="0" dirty="0" err="1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Usinas</a:t>
            </a:r>
            <a:r>
              <a:rPr sz="1875" b="1" i="0" dirty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 e </a:t>
            </a:r>
            <a:r>
              <a:rPr sz="1875" b="1" i="0" dirty="0" err="1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Limites</a:t>
            </a:r>
            <a:r>
              <a:rPr sz="1875" b="1" i="0" dirty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875" b="1" i="0" dirty="0" err="1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Operacionais</a:t>
            </a:r>
            <a:endParaRPr sz="1875" b="1" i="0" dirty="0">
              <a:solidFill>
                <a:srgbClr val="D9F6FD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Conector reto 5">
            <a:extLst>
              <a:ext uri="{FF2B5EF4-FFF2-40B4-BE49-F238E27FC236}">
                <a16:creationId xmlns:a16="http://schemas.microsoft.com/office/drawing/2014/main" id="{D70B0BA0-AAB5-4672-A67E-0F1F586B86DC}"/>
              </a:ext>
            </a:extLst>
          </p:cNvPr>
          <p:cNvSpPr>
            <a:spLocks noGrp="1"/>
          </p:cNvSpPr>
          <p:nvPr/>
        </p:nvSpPr>
        <p:spPr>
          <a:xfrm>
            <a:off x="666750" y="3638550"/>
            <a:ext cx="4000500" cy="0"/>
          </a:xfrm>
          <a:prstGeom prst="line">
            <a:avLst/>
          </a:prstGeom>
          <a:noFill/>
          <a:ln w="28575">
            <a:solidFill>
              <a:srgbClr val="58D6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FE64611-3292-495D-8728-B1D0A619B5DE}"/>
              </a:ext>
            </a:extLst>
          </p:cNvPr>
          <p:cNvSpPr>
            <a:spLocks noGrp="1"/>
          </p:cNvSpPr>
          <p:nvPr/>
        </p:nvSpPr>
        <p:spPr>
          <a:xfrm>
            <a:off x="666750" y="3876675"/>
            <a:ext cx="5334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292" lnSpcReduction="10000"/>
          </a:bodyPr>
          <a:lstStyle/>
          <a:p>
            <a:pPr algn="l">
              <a:lnSpc>
                <a:spcPct val="106000"/>
              </a:lnSpc>
              <a:buNone/>
              <a:defRPr sz="22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Inteligência</a:t>
            </a:r>
            <a:r>
              <a:rPr sz="22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25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preditiva</a:t>
            </a:r>
            <a:r>
              <a:rPr sz="22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para a </a:t>
            </a:r>
            <a:r>
              <a:rPr lang="pt-BR" sz="22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interface ONS</a:t>
            </a:r>
            <a:r>
              <a:rPr sz="22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–</a:t>
            </a:r>
            <a:r>
              <a:rPr lang="pt-BR" sz="22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DSO e a gestão de excedentes de geração</a:t>
            </a:r>
            <a:endParaRPr sz="2250" b="1" i="0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B3C4A2A-E31E-4BC4-AEC8-05AAACCE4C05}"/>
              </a:ext>
            </a:extLst>
          </p:cNvPr>
          <p:cNvSpPr>
            <a:spLocks noGrp="1"/>
          </p:cNvSpPr>
          <p:nvPr/>
        </p:nvSpPr>
        <p:spPr>
          <a:xfrm>
            <a:off x="666750" y="607695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125" b="0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Transição</a:t>
            </a:r>
            <a:r>
              <a:rPr sz="1125" b="0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Energética  ·  Curtailment  ·  </a:t>
            </a:r>
            <a:r>
              <a:rPr sz="1125" b="0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Demanda</a:t>
            </a:r>
            <a:r>
              <a:rPr sz="1125" b="0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sz="1125" b="0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clima</a:t>
            </a:r>
            <a:r>
              <a:rPr sz="1125" b="0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e </a:t>
            </a:r>
            <a:r>
              <a:rPr sz="1125" b="0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operação</a:t>
            </a:r>
            <a:endParaRPr sz="1125" b="0" i="0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1510257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86B63F7D-485F-4773-A487-35C188EBC41F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 dirty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O PROBLEMA EM ESCALA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5EFB7E2-842D-4B99-AB0B-A3E23E0CB2A3}"/>
              </a:ext>
            </a:extLst>
          </p:cNvPr>
          <p:cNvSpPr>
            <a:spLocks noGrp="1"/>
          </p:cNvSpPr>
          <p:nvPr/>
        </p:nvSpPr>
        <p:spPr>
          <a:xfrm>
            <a:off x="628650" y="666750"/>
            <a:ext cx="10816098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30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 i="0" dirty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A </a:t>
            </a:r>
            <a:r>
              <a:rPr sz="2400" b="1" i="0" dirty="0" err="1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geração</a:t>
            </a:r>
            <a:r>
              <a:rPr lang="pt-BR" sz="2400" b="1" i="0" dirty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 distribuída</a:t>
            </a:r>
            <a:r>
              <a:rPr sz="2400" b="1" i="0" dirty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pt-BR" sz="2400" b="1" i="0" dirty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alterou o perfil da carga supervisionada</a:t>
            </a:r>
            <a:endParaRPr sz="2400" b="1" i="0" dirty="0">
              <a:solidFill>
                <a:srgbClr val="061B3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DF08FFD6-4C79-46C0-8EBD-337417577321}"/>
              </a:ext>
            </a:extLst>
          </p:cNvPr>
          <p:cNvSpPr>
            <a:spLocks noGrp="1"/>
          </p:cNvSpPr>
          <p:nvPr/>
        </p:nvSpPr>
        <p:spPr>
          <a:xfrm>
            <a:off x="628650" y="1323975"/>
            <a:ext cx="10934700" cy="0"/>
          </a:xfrm>
          <a:prstGeom prst="line">
            <a:avLst/>
          </a:prstGeom>
          <a:noFill/>
          <a:ln w="12383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EC9CB82-C1D4-432D-829B-524A3433D36C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F864089-7468-4FFF-B4C0-05D0EC99E9E9}"/>
              </a:ext>
            </a:extLst>
          </p:cNvPr>
          <p:cNvSpPr>
            <a:spLocks noGrp="1"/>
          </p:cNvSpPr>
          <p:nvPr/>
        </p:nvSpPr>
        <p:spPr>
          <a:xfrm>
            <a:off x="628650" y="14668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57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Recursos</a:t>
            </a:r>
            <a:r>
              <a:rPr lang="pt-BR"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distribuídos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conectados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às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1" i="0" dirty="0">
                <a:solidFill>
                  <a:schemeClr val="tx2">
                    <a:lumMod val="75000"/>
                    <a:lumOff val="25000"/>
                  </a:schemeClr>
                </a:solidFill>
                <a:latin typeface="DejaVu Sans"/>
                <a:ea typeface="DejaVu Sans"/>
                <a:cs typeface="DejaVu Sans"/>
              </a:rPr>
              <a:t>redes de </a:t>
            </a:r>
            <a:r>
              <a:rPr sz="1575" b="1" i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DejaVu Sans"/>
                <a:ea typeface="DejaVu Sans"/>
                <a:cs typeface="DejaVu Sans"/>
              </a:rPr>
              <a:t>distribuição</a:t>
            </a:r>
            <a:r>
              <a:rPr sz="1575" b="1" i="0" dirty="0">
                <a:solidFill>
                  <a:schemeClr val="tx2">
                    <a:lumMod val="75000"/>
                    <a:lumOff val="25000"/>
                  </a:schemeClr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já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têm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pt-BR" sz="1575" b="1" i="0" dirty="0">
                <a:solidFill>
                  <a:schemeClr val="tx2">
                    <a:lumMod val="75000"/>
                    <a:lumOff val="25000"/>
                  </a:schemeClr>
                </a:solidFill>
                <a:latin typeface="DejaVu Sans"/>
                <a:ea typeface="DejaVu Sans"/>
                <a:cs typeface="DejaVu Sans"/>
              </a:rPr>
              <a:t>impacto</a:t>
            </a:r>
            <a:r>
              <a:rPr sz="1575" b="1" i="0" dirty="0">
                <a:solidFill>
                  <a:schemeClr val="tx2">
                    <a:lumMod val="75000"/>
                    <a:lumOff val="25000"/>
                  </a:schemeClr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1" i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DejaVu Sans"/>
                <a:ea typeface="DejaVu Sans"/>
                <a:cs typeface="DejaVu Sans"/>
              </a:rPr>
              <a:t>sistêmic</a:t>
            </a:r>
            <a:r>
              <a:rPr lang="pt-BR" sz="1575" b="1" i="0" dirty="0">
                <a:solidFill>
                  <a:schemeClr val="tx2">
                    <a:lumMod val="75000"/>
                    <a:lumOff val="25000"/>
                  </a:schemeClr>
                </a:solidFill>
                <a:latin typeface="DejaVu Sans"/>
                <a:ea typeface="DejaVu Sans"/>
                <a:cs typeface="DejaVu Sans"/>
              </a:rPr>
              <a:t>o</a:t>
            </a:r>
            <a:r>
              <a:rPr sz="1575" b="1" i="0" dirty="0">
                <a:solidFill>
                  <a:schemeClr val="tx2">
                    <a:lumMod val="75000"/>
                    <a:lumOff val="25000"/>
                  </a:schemeClr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— mas </a:t>
            </a: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não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oferecem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ao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ONS o </a:t>
            </a: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mesmo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nível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de </a:t>
            </a:r>
            <a:r>
              <a:rPr sz="1575" b="1" i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DejaVu Sans"/>
                <a:ea typeface="DejaVu Sans"/>
                <a:cs typeface="DejaVu Sans"/>
              </a:rPr>
              <a:t>observabilidade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e </a:t>
            </a:r>
            <a:r>
              <a:rPr sz="1575" b="1" i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DejaVu Sans"/>
                <a:ea typeface="DejaVu Sans"/>
                <a:cs typeface="DejaVu Sans"/>
              </a:rPr>
              <a:t>controlabilidade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do</a:t>
            </a:r>
            <a:r>
              <a:rPr lang="pt-BR"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s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pt-BR"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recursos</a:t>
            </a:r>
            <a:r>
              <a:rPr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575" b="0" i="0" dirty="0" err="1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centralizado</a:t>
            </a:r>
            <a:r>
              <a:rPr lang="pt-BR" sz="1575" b="0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s</a:t>
            </a:r>
            <a:endParaRPr sz="1575" b="0" i="0" dirty="0">
              <a:solidFill>
                <a:srgbClr val="52667C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04BC05C-7D04-4EF1-9705-8B543C53E524}"/>
              </a:ext>
            </a:extLst>
          </p:cNvPr>
          <p:cNvSpPr>
            <a:spLocks noGrp="1"/>
          </p:cNvSpPr>
          <p:nvPr/>
        </p:nvSpPr>
        <p:spPr>
          <a:xfrm>
            <a:off x="628650" y="5162550"/>
            <a:ext cx="10934700" cy="1028700"/>
          </a:xfrm>
          <a:prstGeom prst="roundRect">
            <a:avLst>
              <a:gd name="adj" fmla="val 18519"/>
            </a:avLst>
          </a:prstGeom>
          <a:solidFill>
            <a:srgbClr val="061B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9E32D9E-467C-49D7-A0C5-CFAB0807E077}"/>
              </a:ext>
            </a:extLst>
          </p:cNvPr>
          <p:cNvSpPr>
            <a:spLocks noGrp="1"/>
          </p:cNvSpPr>
          <p:nvPr/>
        </p:nvSpPr>
        <p:spPr>
          <a:xfrm>
            <a:off x="933450" y="5353050"/>
            <a:ext cx="10287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9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</a:t>
            </a:r>
            <a:r>
              <a:rPr sz="195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questão</a:t>
            </a:r>
            <a:r>
              <a:rPr sz="19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195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deixou</a:t>
            </a:r>
            <a:r>
              <a:rPr sz="19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de ser marginal: </a:t>
            </a:r>
            <a:r>
              <a:rPr sz="195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ela</a:t>
            </a:r>
            <a:r>
              <a:rPr sz="19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altera o </a:t>
            </a:r>
            <a:r>
              <a:rPr sz="195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balanço</a:t>
            </a:r>
            <a:r>
              <a:rPr sz="19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carga–</a:t>
            </a:r>
            <a:r>
              <a:rPr sz="195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geração</a:t>
            </a:r>
            <a:r>
              <a:rPr sz="19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e as </a:t>
            </a:r>
            <a:r>
              <a:rPr sz="195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margens</a:t>
            </a:r>
            <a:r>
              <a:rPr sz="19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pt-BR" sz="19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 segurança </a:t>
            </a:r>
            <a:r>
              <a:rPr sz="195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operativas</a:t>
            </a:r>
            <a:r>
              <a:rPr sz="195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do SIN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566F4A6-9623-4128-B9CC-13D3BA561E8A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10934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Fonte: ONS — PAR/PEL 2025, Sumário Executivo.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E7DA8EF0-A3F7-5668-9840-C11A0132C4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" b="29"/>
          <a:stretch/>
        </p:blipFill>
        <p:spPr>
          <a:xfrm>
            <a:off x="7877540" y="2282286"/>
            <a:ext cx="4059436" cy="2617278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BD6B0285-3D67-EAE4-3933-10F8BC112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89" y="2497744"/>
            <a:ext cx="7225795" cy="1862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1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3A71920C-9AE4-415A-8588-17DCC5CC5CE2}"/>
              </a:ext>
            </a:extLst>
          </p:cNvPr>
          <p:cNvSpPr>
            <a:spLocks noGrp="1"/>
          </p:cNvSpPr>
          <p:nvPr/>
        </p:nvSpPr>
        <p:spPr>
          <a:xfrm>
            <a:off x="0" y="4953000"/>
            <a:ext cx="12192000" cy="1905000"/>
          </a:xfrm>
          <a:prstGeom prst="rect">
            <a:avLst/>
          </a:prstGeom>
          <a:solidFill>
            <a:srgbClr val="031323">
              <a:alpha val="91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64BB110-FCF8-4435-A8D3-D382D4610476}"/>
              </a:ext>
            </a:extLst>
          </p:cNvPr>
          <p:cNvSpPr>
            <a:spLocks noGrp="1"/>
          </p:cNvSpPr>
          <p:nvPr/>
        </p:nvSpPr>
        <p:spPr>
          <a:xfrm>
            <a:off x="628650" y="52197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58D6A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 dirty="0">
                <a:solidFill>
                  <a:srgbClr val="58D6A5"/>
                </a:solidFill>
                <a:latin typeface="DejaVu Sans"/>
                <a:ea typeface="DejaVu Sans"/>
                <a:cs typeface="DejaVu Sans"/>
              </a:rPr>
              <a:t>A LACUNA OPERACIONAL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4A32097-0624-4F40-8DD6-7C850761A56C}"/>
              </a:ext>
            </a:extLst>
          </p:cNvPr>
          <p:cNvSpPr>
            <a:spLocks noGrp="1"/>
          </p:cNvSpPr>
          <p:nvPr/>
        </p:nvSpPr>
        <p:spPr>
          <a:xfrm>
            <a:off x="628650" y="5514975"/>
            <a:ext cx="7810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104"/>
          </a:bodyPr>
          <a:lstStyle/>
          <a:p>
            <a:pPr algn="l">
              <a:lnSpc>
                <a:spcPct val="106000"/>
              </a:lnSpc>
              <a:buNone/>
              <a:defRPr sz="21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Rede </a:t>
            </a:r>
            <a:r>
              <a:rPr sz="210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Básica</a:t>
            </a:r>
            <a:r>
              <a:rPr sz="210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é </a:t>
            </a:r>
            <a:r>
              <a:rPr sz="210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supervisionada</a:t>
            </a:r>
            <a:r>
              <a:rPr sz="210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lang="pt-BR" sz="210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pelo ONS</a:t>
            </a:r>
            <a:endParaRPr sz="2100" b="1" i="0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  <a:p>
            <a:pPr algn="l">
              <a:lnSpc>
                <a:spcPct val="106000"/>
              </a:lnSpc>
              <a:buNone/>
              <a:defRPr sz="21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Na </a:t>
            </a:r>
            <a:r>
              <a:rPr sz="210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distribuição</a:t>
            </a:r>
            <a:r>
              <a:rPr sz="210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, </a:t>
            </a:r>
            <a:r>
              <a:rPr lang="pt-BR" sz="210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não apresenta a mesma </a:t>
            </a:r>
            <a:r>
              <a:rPr lang="pt-BR" sz="210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observabilidade</a:t>
            </a:r>
            <a:r>
              <a:rPr lang="pt-BR" sz="21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.</a:t>
            </a:r>
          </a:p>
          <a:p>
            <a:pPr algn="l">
              <a:lnSpc>
                <a:spcPct val="106000"/>
              </a:lnSpc>
              <a:buNone/>
              <a:defRPr sz="21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10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geração distribuída apresenta eleva</a:t>
            </a:r>
            <a:r>
              <a:rPr lang="pt-BR" sz="21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 grau de incertezas.</a:t>
            </a:r>
            <a:endParaRPr sz="2100" b="1" i="0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959E11E-B229-447E-92A5-09DCBFDC314E}"/>
              </a:ext>
            </a:extLst>
          </p:cNvPr>
          <p:cNvSpPr>
            <a:spLocks noGrp="1"/>
          </p:cNvSpPr>
          <p:nvPr/>
        </p:nvSpPr>
        <p:spPr>
          <a:xfrm>
            <a:off x="9010650" y="5600700"/>
            <a:ext cx="2552700" cy="323850"/>
          </a:xfrm>
          <a:prstGeom prst="roundRect">
            <a:avLst>
              <a:gd name="adj" fmla="val 50000"/>
            </a:avLst>
          </a:prstGeom>
          <a:solidFill>
            <a:srgbClr val="22C7F2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FRONTEIRA TSO–DSO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EF5BDD6-4903-4CFF-8899-7AAF78424B2C}"/>
              </a:ext>
            </a:extLst>
          </p:cNvPr>
          <p:cNvSpPr>
            <a:spLocks noGrp="1"/>
          </p:cNvSpPr>
          <p:nvPr/>
        </p:nvSpPr>
        <p:spPr>
          <a:xfrm>
            <a:off x="9048750" y="6019800"/>
            <a:ext cx="2476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2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onde a incerteza se concentra</a:t>
            </a:r>
          </a:p>
        </p:txBody>
      </p:sp>
    </p:spTree>
    <p:extLst>
      <p:ext uri="{BB962C8B-B14F-4D97-AF65-F5344CB8AC3E}">
        <p14:creationId xmlns:p14="http://schemas.microsoft.com/office/powerpoint/2010/main" val="543649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45615522-1FEF-4177-818A-0A17689E3827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CURTAILMENT POR RAZÃO ENERGÉTICA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7E84491-FBC6-4550-8BBA-8B608FD97B01}"/>
              </a:ext>
            </a:extLst>
          </p:cNvPr>
          <p:cNvSpPr>
            <a:spLocks noGrp="1"/>
          </p:cNvSpPr>
          <p:nvPr/>
        </p:nvSpPr>
        <p:spPr>
          <a:xfrm>
            <a:off x="628650" y="666750"/>
            <a:ext cx="1038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30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Quando o excedente vira restrição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22B812FA-0E4A-4D6D-B21D-AEA17F28C1FB}"/>
              </a:ext>
            </a:extLst>
          </p:cNvPr>
          <p:cNvSpPr>
            <a:spLocks noGrp="1"/>
          </p:cNvSpPr>
          <p:nvPr/>
        </p:nvSpPr>
        <p:spPr>
          <a:xfrm>
            <a:off x="628650" y="1323975"/>
            <a:ext cx="10934700" cy="0"/>
          </a:xfrm>
          <a:prstGeom prst="line">
            <a:avLst/>
          </a:prstGeom>
          <a:noFill/>
          <a:ln w="12383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3337208-E8F6-43F8-BE2F-FA8EE7FB7EDB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31F2005-EA80-4CE4-B9F8-C35C1ABC820B}"/>
              </a:ext>
            </a:extLst>
          </p:cNvPr>
          <p:cNvSpPr>
            <a:spLocks noGrp="1"/>
          </p:cNvSpPr>
          <p:nvPr/>
        </p:nvSpPr>
        <p:spPr>
          <a:xfrm>
            <a:off x="628650" y="1457325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Esquema conceitual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3561455-DA85-42A7-A3A1-1CCA150E2F49}"/>
              </a:ext>
            </a:extLst>
          </p:cNvPr>
          <p:cNvSpPr>
            <a:spLocks noGrp="1"/>
          </p:cNvSpPr>
          <p:nvPr/>
        </p:nvSpPr>
        <p:spPr>
          <a:xfrm>
            <a:off x="628650" y="1933575"/>
            <a:ext cx="2190750" cy="1790700"/>
          </a:xfrm>
          <a:prstGeom prst="roundRect">
            <a:avLst>
              <a:gd name="adj" fmla="val 10638"/>
            </a:avLst>
          </a:prstGeom>
          <a:solidFill>
            <a:srgbClr val="D9F6FD"/>
          </a:solidFill>
          <a:ln w="14288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A2A753FF-2C89-4DE1-8CBB-EE36931B8633}"/>
              </a:ext>
            </a:extLst>
          </p:cNvPr>
          <p:cNvSpPr>
            <a:spLocks noGrp="1"/>
          </p:cNvSpPr>
          <p:nvPr/>
        </p:nvSpPr>
        <p:spPr>
          <a:xfrm>
            <a:off x="800100" y="2105025"/>
            <a:ext cx="342900" cy="342900"/>
          </a:xfrm>
          <a:prstGeom prst="ellipse">
            <a:avLst/>
          </a:prstGeom>
          <a:solidFill>
            <a:srgbClr val="22C7F2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CB57DA0-4531-4F4A-BA10-995E427D69E4}"/>
              </a:ext>
            </a:extLst>
          </p:cNvPr>
          <p:cNvSpPr>
            <a:spLocks noGrp="1"/>
          </p:cNvSpPr>
          <p:nvPr/>
        </p:nvSpPr>
        <p:spPr>
          <a:xfrm>
            <a:off x="838200" y="2581275"/>
            <a:ext cx="1790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Alta produção</a:t>
            </a:r>
          </a:p>
          <a:p>
            <a:pPr algn="ctr">
              <a:lnSpc>
                <a:spcPct val="104000"/>
              </a:lnSpc>
              <a:buNone/>
              <a:def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renovável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8A7E5F6-53A2-4F92-9F2F-2E3CE27059E2}"/>
              </a:ext>
            </a:extLst>
          </p:cNvPr>
          <p:cNvSpPr>
            <a:spLocks noGrp="1"/>
          </p:cNvSpPr>
          <p:nvPr/>
        </p:nvSpPr>
        <p:spPr>
          <a:xfrm>
            <a:off x="819150" y="32956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solar e eólica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479C1F3-9FCD-4810-AE5B-9B519346CD0B}"/>
              </a:ext>
            </a:extLst>
          </p:cNvPr>
          <p:cNvSpPr>
            <a:spLocks noGrp="1"/>
          </p:cNvSpPr>
          <p:nvPr/>
        </p:nvSpPr>
        <p:spPr>
          <a:xfrm>
            <a:off x="3371850" y="1933575"/>
            <a:ext cx="2190750" cy="1790700"/>
          </a:xfrm>
          <a:prstGeom prst="roundRect">
            <a:avLst>
              <a:gd name="adj" fmla="val 10638"/>
            </a:avLst>
          </a:prstGeom>
          <a:solidFill>
            <a:srgbClr val="DDF8ED"/>
          </a:solidFill>
          <a:ln w="14288">
            <a:solidFill>
              <a:srgbClr val="58D6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94A39AA6-9497-4A35-BCE4-3CF6FE6621E7}"/>
              </a:ext>
            </a:extLst>
          </p:cNvPr>
          <p:cNvSpPr>
            <a:spLocks noGrp="1"/>
          </p:cNvSpPr>
          <p:nvPr/>
        </p:nvSpPr>
        <p:spPr>
          <a:xfrm>
            <a:off x="3543300" y="2105025"/>
            <a:ext cx="342900" cy="342900"/>
          </a:xfrm>
          <a:prstGeom prst="ellipse">
            <a:avLst/>
          </a:prstGeom>
          <a:solidFill>
            <a:srgbClr val="58D6A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61DCBD5-37DB-440F-9746-6353B5431923}"/>
              </a:ext>
            </a:extLst>
          </p:cNvPr>
          <p:cNvSpPr>
            <a:spLocks noGrp="1"/>
          </p:cNvSpPr>
          <p:nvPr/>
        </p:nvSpPr>
        <p:spPr>
          <a:xfrm>
            <a:off x="3581400" y="2581275"/>
            <a:ext cx="1790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145"/>
          </a:bodyPr>
          <a:lstStyle/>
          <a:p>
            <a:pPr algn="ctr">
              <a:lnSpc>
                <a:spcPct val="104000"/>
              </a:lnSpc>
              <a:buNone/>
              <a:def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Baixa demanda +</a:t>
            </a:r>
          </a:p>
          <a:p>
            <a:pPr algn="ctr">
              <a:lnSpc>
                <a:spcPct val="104000"/>
              </a:lnSpc>
              <a:buNone/>
              <a:def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MMGD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5BD64D1-93D3-4D72-9239-4DB8F7772DA5}"/>
              </a:ext>
            </a:extLst>
          </p:cNvPr>
          <p:cNvSpPr>
            <a:spLocks noGrp="1"/>
          </p:cNvSpPr>
          <p:nvPr/>
        </p:nvSpPr>
        <p:spPr>
          <a:xfrm>
            <a:off x="3562350" y="32956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carga mascarada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F81CED2-8068-45E6-88B6-A235AEC604E7}"/>
              </a:ext>
            </a:extLst>
          </p:cNvPr>
          <p:cNvSpPr>
            <a:spLocks noGrp="1"/>
          </p:cNvSpPr>
          <p:nvPr/>
        </p:nvSpPr>
        <p:spPr>
          <a:xfrm>
            <a:off x="6115050" y="1933575"/>
            <a:ext cx="2190750" cy="1790700"/>
          </a:xfrm>
          <a:prstGeom prst="roundRect">
            <a:avLst>
              <a:gd name="adj" fmla="val 10638"/>
            </a:avLst>
          </a:prstGeom>
          <a:solidFill>
            <a:srgbClr val="FFF0E2"/>
          </a:solidFill>
          <a:ln w="14288">
            <a:solidFill>
              <a:srgbClr val="D869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BF618BF5-5E91-453E-A830-F63C47AAA26C}"/>
              </a:ext>
            </a:extLst>
          </p:cNvPr>
          <p:cNvSpPr>
            <a:spLocks noGrp="1"/>
          </p:cNvSpPr>
          <p:nvPr/>
        </p:nvSpPr>
        <p:spPr>
          <a:xfrm>
            <a:off x="6286500" y="2105025"/>
            <a:ext cx="342900" cy="342900"/>
          </a:xfrm>
          <a:prstGeom prst="ellipse">
            <a:avLst/>
          </a:prstGeom>
          <a:solidFill>
            <a:srgbClr val="D8690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0F85BE4-8F70-4BF5-81A0-F712B0961005}"/>
              </a:ext>
            </a:extLst>
          </p:cNvPr>
          <p:cNvSpPr>
            <a:spLocks noGrp="1"/>
          </p:cNvSpPr>
          <p:nvPr/>
        </p:nvSpPr>
        <p:spPr>
          <a:xfrm>
            <a:off x="6324600" y="2581275"/>
            <a:ext cx="1790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988" lnSpcReduction="10000"/>
          </a:bodyPr>
          <a:lstStyle/>
          <a:p>
            <a:pPr algn="ctr">
              <a:lnSpc>
                <a:spcPct val="104000"/>
              </a:lnSpc>
              <a:buNone/>
              <a:def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Menor carga líquida</a:t>
            </a:r>
          </a:p>
          <a:p>
            <a:pPr algn="ctr">
              <a:lnSpc>
                <a:spcPct val="104000"/>
              </a:lnSpc>
              <a:buNone/>
              <a:def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supervisionada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3701293-0113-4F7D-A62D-8C0A5CC2CE94}"/>
              </a:ext>
            </a:extLst>
          </p:cNvPr>
          <p:cNvSpPr>
            <a:spLocks noGrp="1"/>
          </p:cNvSpPr>
          <p:nvPr/>
        </p:nvSpPr>
        <p:spPr>
          <a:xfrm>
            <a:off x="6305550" y="32956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7254"/>
          </a:bodyPr>
          <a:lstStyle/>
          <a:p>
            <a:pPr algn="ctr">
              <a:lnSpc>
                <a:spcPct val="104000"/>
              </a:lnSpc>
              <a:buNone/>
              <a:def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menos margem de absorção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416E5488-009E-41B0-B787-F8D8B1CA6ABE}"/>
              </a:ext>
            </a:extLst>
          </p:cNvPr>
          <p:cNvSpPr>
            <a:spLocks noGrp="1"/>
          </p:cNvSpPr>
          <p:nvPr/>
        </p:nvSpPr>
        <p:spPr>
          <a:xfrm>
            <a:off x="8858250" y="1933575"/>
            <a:ext cx="2190750" cy="1790700"/>
          </a:xfrm>
          <a:prstGeom prst="roundRect">
            <a:avLst>
              <a:gd name="adj" fmla="val 10638"/>
            </a:avLst>
          </a:prstGeom>
          <a:solidFill>
            <a:srgbClr val="FDE6E6"/>
          </a:solidFill>
          <a:ln w="14288">
            <a:solidFill>
              <a:srgbClr val="E85C5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2C72636F-CA61-4CA9-9BF5-081D58999B13}"/>
              </a:ext>
            </a:extLst>
          </p:cNvPr>
          <p:cNvSpPr>
            <a:spLocks noGrp="1"/>
          </p:cNvSpPr>
          <p:nvPr/>
        </p:nvSpPr>
        <p:spPr>
          <a:xfrm>
            <a:off x="9029700" y="2105025"/>
            <a:ext cx="342900" cy="342900"/>
          </a:xfrm>
          <a:prstGeom prst="ellipse">
            <a:avLst/>
          </a:prstGeom>
          <a:solidFill>
            <a:srgbClr val="E85C5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C3A1CEF-D64A-4F1D-88B2-380C278D3DFF}"/>
              </a:ext>
            </a:extLst>
          </p:cNvPr>
          <p:cNvSpPr>
            <a:spLocks noGrp="1"/>
          </p:cNvSpPr>
          <p:nvPr/>
        </p:nvSpPr>
        <p:spPr>
          <a:xfrm>
            <a:off x="9067800" y="2581275"/>
            <a:ext cx="1790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Excedente de</a:t>
            </a:r>
          </a:p>
          <a:p>
            <a:pPr algn="ctr">
              <a:lnSpc>
                <a:spcPct val="104000"/>
              </a:lnSpc>
              <a:buNone/>
              <a:def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geração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8B79E98-D67F-4EF9-9D5F-23299FB78776}"/>
              </a:ext>
            </a:extLst>
          </p:cNvPr>
          <p:cNvSpPr>
            <a:spLocks noGrp="1"/>
          </p:cNvSpPr>
          <p:nvPr/>
        </p:nvSpPr>
        <p:spPr>
          <a:xfrm>
            <a:off x="9048750" y="32956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risco de curtailment</a:t>
            </a:r>
          </a:p>
        </p:txBody>
      </p:sp>
      <p:cxnSp>
        <p:nvCxnSpPr>
          <p:cNvPr id="54" name="Conector de Seta Reta 53"/>
          <p:cNvCxnSpPr>
            <a:stCxn id="6" idx="3"/>
            <a:endCxn id="10" idx="1"/>
          </p:cNvCxnSpPr>
          <p:nvPr/>
        </p:nvCxnSpPr>
        <p:spPr>
          <a:xfrm>
            <a:off x="2819400" y="2828925"/>
            <a:ext cx="552450" cy="0"/>
          </a:xfrm>
          <a:prstGeom prst="straightConnector1">
            <a:avLst/>
          </a:prstGeom>
          <a:ln w="22860">
            <a:solidFill>
              <a:srgbClr val="123C67"/>
            </a:solidFill>
            <a:prstDash val="solid"/>
            <a:tailEnd type="arrow" w="med" len="med"/>
          </a:ln>
        </p:spPr>
      </p:cxnSp>
      <p:cxnSp>
        <p:nvCxnSpPr>
          <p:cNvPr id="55" name="Conector de Seta Reta 54"/>
          <p:cNvCxnSpPr>
            <a:stCxn id="10" idx="3"/>
            <a:endCxn id="14" idx="1"/>
          </p:cNvCxnSpPr>
          <p:nvPr/>
        </p:nvCxnSpPr>
        <p:spPr>
          <a:xfrm>
            <a:off x="5562600" y="2828925"/>
            <a:ext cx="552450" cy="0"/>
          </a:xfrm>
          <a:prstGeom prst="straightConnector1">
            <a:avLst/>
          </a:prstGeom>
          <a:ln w="22860">
            <a:solidFill>
              <a:srgbClr val="123C67"/>
            </a:solidFill>
            <a:prstDash val="solid"/>
            <a:tailEnd type="arrow" w="med" len="med"/>
          </a:ln>
        </p:spPr>
      </p:cxnSp>
      <p:cxnSp>
        <p:nvCxnSpPr>
          <p:cNvPr id="56" name="Conector de Seta Reta 55"/>
          <p:cNvCxnSpPr>
            <a:stCxn id="14" idx="3"/>
            <a:endCxn id="18" idx="1"/>
          </p:cNvCxnSpPr>
          <p:nvPr/>
        </p:nvCxnSpPr>
        <p:spPr>
          <a:xfrm>
            <a:off x="8305800" y="2828925"/>
            <a:ext cx="552450" cy="0"/>
          </a:xfrm>
          <a:prstGeom prst="straightConnector1">
            <a:avLst/>
          </a:prstGeom>
          <a:ln w="22860">
            <a:solidFill>
              <a:srgbClr val="123C67"/>
            </a:solidFill>
            <a:prstDash val="solid"/>
            <a:tailEnd type="arrow" w="med" len="med"/>
          </a:ln>
        </p:spPr>
      </p:cxn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E24359B1-5A72-486D-8509-3E0BC39B6B1B}"/>
              </a:ext>
            </a:extLst>
          </p:cNvPr>
          <p:cNvSpPr>
            <a:spLocks noGrp="1"/>
          </p:cNvSpPr>
          <p:nvPr/>
        </p:nvSpPr>
        <p:spPr>
          <a:xfrm>
            <a:off x="628650" y="4095750"/>
            <a:ext cx="6819900" cy="1409700"/>
          </a:xfrm>
          <a:prstGeom prst="roundRect">
            <a:avLst>
              <a:gd name="adj" fmla="val 13514"/>
            </a:avLst>
          </a:prstGeom>
          <a:solidFill>
            <a:srgbClr val="061B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089DD645-20F1-4279-AB0C-928368E695EE}"/>
              </a:ext>
            </a:extLst>
          </p:cNvPr>
          <p:cNvSpPr>
            <a:spLocks noGrp="1"/>
          </p:cNvSpPr>
          <p:nvPr/>
        </p:nvSpPr>
        <p:spPr>
          <a:xfrm>
            <a:off x="895350" y="430530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58D6A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8D6A5"/>
                </a:solidFill>
                <a:latin typeface="DejaVu Sans"/>
                <a:ea typeface="DejaVu Sans"/>
                <a:cs typeface="DejaVu Sans"/>
              </a:rPr>
              <a:t>RESTRIÇÃO OPERATIVA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558634FC-2EB1-46CA-9910-21DE8E3AAD18}"/>
              </a:ext>
            </a:extLst>
          </p:cNvPr>
          <p:cNvSpPr>
            <a:spLocks noGrp="1"/>
          </p:cNvSpPr>
          <p:nvPr/>
        </p:nvSpPr>
        <p:spPr>
          <a:xfrm>
            <a:off x="895350" y="4610100"/>
            <a:ext cx="619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531" lnSpcReduction="10000"/>
          </a:bodyPr>
          <a:lstStyle/>
          <a:p>
            <a:pPr algn="l">
              <a:lnSpc>
                <a:spcPct val="104000"/>
              </a:lnSpc>
              <a:buNone/>
              <a:defRPr sz="157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 corte é uma medida técnica para preservar segurança, confiabilidade, limites elétricos e requisitos mínimos de operação do SIN.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A5665DB7-A3CC-4032-884E-3D2A2BD156A3}"/>
              </a:ext>
            </a:extLst>
          </p:cNvPr>
          <p:cNvSpPr>
            <a:spLocks noGrp="1"/>
          </p:cNvSpPr>
          <p:nvPr/>
        </p:nvSpPr>
        <p:spPr>
          <a:xfrm>
            <a:off x="7734300" y="4095750"/>
            <a:ext cx="3829050" cy="1409700"/>
          </a:xfrm>
          <a:prstGeom prst="roundRect">
            <a:avLst>
              <a:gd name="adj" fmla="val 13514"/>
            </a:avLst>
          </a:prstGeom>
          <a:solidFill>
            <a:srgbClr val="0E3158"/>
          </a:solidFill>
          <a:ln w="11430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58D26C8-AEC8-4CAF-BFB1-82C0A1AE5392}"/>
              </a:ext>
            </a:extLst>
          </p:cNvPr>
          <p:cNvSpPr>
            <a:spLocks noGrp="1"/>
          </p:cNvSpPr>
          <p:nvPr/>
        </p:nvSpPr>
        <p:spPr>
          <a:xfrm>
            <a:off x="8001000" y="42576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D9F6FD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até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C397B4F-13DF-4CE3-8FA4-27D4BB442511}"/>
              </a:ext>
            </a:extLst>
          </p:cNvPr>
          <p:cNvSpPr>
            <a:spLocks noGrp="1"/>
          </p:cNvSpPr>
          <p:nvPr/>
        </p:nvSpPr>
        <p:spPr>
          <a:xfrm>
            <a:off x="8001000" y="447675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31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4,9 GW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FCD1E3E7-260C-4BE0-A074-0FE0104B7541}"/>
              </a:ext>
            </a:extLst>
          </p:cNvPr>
          <p:cNvSpPr>
            <a:spLocks noGrp="1"/>
          </p:cNvSpPr>
          <p:nvPr/>
        </p:nvSpPr>
        <p:spPr>
          <a:xfrm>
            <a:off x="8001000" y="503872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154"/>
          </a:bodyPr>
          <a:lstStyle/>
          <a:p>
            <a:pPr algn="l">
              <a:lnSpc>
                <a:spcPct val="104000"/>
              </a:lnSpc>
              <a:buNone/>
              <a:defRPr sz="112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de excedente projetado em domingos de 2029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E1EB51B3-0720-4E5D-9FE2-A5AA179467D4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10934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Fontes: ONS — FAQ Curtailment; PAR/PEL 2025. O O.R.A.C.U.L.O. foca o risco por razão energética.</a:t>
            </a:r>
          </a:p>
        </p:txBody>
      </p:sp>
    </p:spTree>
    <p:extLst>
      <p:ext uri="{BB962C8B-B14F-4D97-AF65-F5344CB8AC3E}">
        <p14:creationId xmlns:p14="http://schemas.microsoft.com/office/powerpoint/2010/main" val="474809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497548D0-20BA-4B40-9087-4857176D4C51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ADERÊNCIA AO DIAGNÓSTICO DO ONS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97BF9FF-53EC-4997-85AC-530AEA102B09}"/>
              </a:ext>
            </a:extLst>
          </p:cNvPr>
          <p:cNvSpPr>
            <a:spLocks noGrp="1"/>
          </p:cNvSpPr>
          <p:nvPr/>
        </p:nvSpPr>
        <p:spPr>
          <a:xfrm>
            <a:off x="628650" y="666750"/>
            <a:ext cx="1038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324"/>
          </a:bodyPr>
          <a:lstStyle/>
          <a:p>
            <a:pPr algn="l">
              <a:lnSpc>
                <a:spcPct val="104000"/>
              </a:lnSpc>
              <a:buNone/>
              <a:defRPr sz="27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Dois eixos prioritários. Uma camada comum de inteligência.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DB7D31E5-0000-401D-ADED-D339B82D0DE6}"/>
              </a:ext>
            </a:extLst>
          </p:cNvPr>
          <p:cNvSpPr>
            <a:spLocks noGrp="1"/>
          </p:cNvSpPr>
          <p:nvPr/>
        </p:nvSpPr>
        <p:spPr>
          <a:xfrm>
            <a:off x="628650" y="1323975"/>
            <a:ext cx="10934700" cy="0"/>
          </a:xfrm>
          <a:prstGeom prst="line">
            <a:avLst/>
          </a:prstGeom>
          <a:noFill/>
          <a:ln w="12383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042FE80-9720-4B10-9AD8-45D187D1D46B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97DE66A-41A3-4627-9C7B-E0638D0C203A}"/>
              </a:ext>
            </a:extLst>
          </p:cNvPr>
          <p:cNvSpPr>
            <a:spLocks noGrp="1"/>
          </p:cNvSpPr>
          <p:nvPr/>
        </p:nvSpPr>
        <p:spPr>
          <a:xfrm>
            <a:off x="1428750" y="1476375"/>
            <a:ext cx="3333750" cy="323850"/>
          </a:xfrm>
          <a:prstGeom prst="roundRect">
            <a:avLst>
              <a:gd name="adj" fmla="val 50000"/>
            </a:avLst>
          </a:prstGeom>
          <a:solidFill>
            <a:srgbClr val="123C67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EIXO 1 · INTERFACE ONS–DSO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C9A3B25-AFFA-4A79-BAC0-16F6BB94F4BA}"/>
              </a:ext>
            </a:extLst>
          </p:cNvPr>
          <p:cNvSpPr>
            <a:spLocks noGrp="1"/>
          </p:cNvSpPr>
          <p:nvPr/>
        </p:nvSpPr>
        <p:spPr>
          <a:xfrm>
            <a:off x="7362825" y="1476375"/>
            <a:ext cx="3562350" cy="323850"/>
          </a:xfrm>
          <a:prstGeom prst="roundRect">
            <a:avLst>
              <a:gd name="adj" fmla="val 50000"/>
            </a:avLst>
          </a:prstGeom>
          <a:solidFill>
            <a:srgbClr val="D8690E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EIXO 2 · MODELOS DE CARGA E MMGD</a:t>
            </a:r>
          </a:p>
        </p:txBody>
      </p:sp>
      <p:pic>
        <p:nvPicPr>
          <p:cNvPr id="23" name="Imagem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95425" y="1869387"/>
            <a:ext cx="3181350" cy="3481177"/>
          </a:xfrm>
          <a:prstGeom prst="rect">
            <a:avLst/>
          </a:prstGeom>
        </p:spPr>
      </p:pic>
      <p:pic>
        <p:nvPicPr>
          <p:cNvPr id="24" name="Imagem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24750" y="1904595"/>
            <a:ext cx="3238500" cy="3410761"/>
          </a:xfrm>
          <a:prstGeom prst="rect">
            <a:avLst/>
          </a:prstGeom>
        </p:spPr>
      </p:pic>
      <p:sp>
        <p:nvSpPr>
          <p:cNvPr id="9" name="Elipse 8">
            <a:extLst>
              <a:ext uri="{FF2B5EF4-FFF2-40B4-BE49-F238E27FC236}">
                <a16:creationId xmlns:a16="http://schemas.microsoft.com/office/drawing/2014/main" id="{23EF61DB-C258-4C0E-845C-0F8833EFF688}"/>
              </a:ext>
            </a:extLst>
          </p:cNvPr>
          <p:cNvSpPr>
            <a:spLocks noGrp="1"/>
          </p:cNvSpPr>
          <p:nvPr/>
        </p:nvSpPr>
        <p:spPr>
          <a:xfrm>
            <a:off x="5219700" y="2914650"/>
            <a:ext cx="1733550" cy="1733550"/>
          </a:xfrm>
          <a:prstGeom prst="ellipse">
            <a:avLst/>
          </a:prstGeom>
          <a:solidFill>
            <a:srgbClr val="061B33"/>
          </a:solidFill>
          <a:ln w="19050">
            <a:solidFill>
              <a:srgbClr val="22C7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202AD07-2A72-4C3F-B385-1B1EC5DB64F8}"/>
              </a:ext>
            </a:extLst>
          </p:cNvPr>
          <p:cNvSpPr>
            <a:spLocks noGrp="1"/>
          </p:cNvSpPr>
          <p:nvPr/>
        </p:nvSpPr>
        <p:spPr>
          <a:xfrm>
            <a:off x="5410200" y="3238500"/>
            <a:ext cx="1352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444" lnSpcReduction="10000"/>
          </a:bodyPr>
          <a:lstStyle/>
          <a:p>
            <a:pPr algn="ctr">
              <a:lnSpc>
                <a:spcPct val="104000"/>
              </a:lnSpc>
              <a:buNone/>
              <a:defRPr sz="157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O.R.A.C.U.L.O.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6B16D3C-8ECB-4E3D-8C0C-FB0BCD4AF994}"/>
              </a:ext>
            </a:extLst>
          </p:cNvPr>
          <p:cNvSpPr>
            <a:spLocks noGrp="1"/>
          </p:cNvSpPr>
          <p:nvPr/>
        </p:nvSpPr>
        <p:spPr>
          <a:xfrm>
            <a:off x="5467350" y="3714750"/>
            <a:ext cx="123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2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dados +</a:t>
            </a:r>
          </a:p>
          <a:p>
            <a:pPr algn="ctr">
              <a:lnSpc>
                <a:spcPct val="104000"/>
              </a:lnSpc>
              <a:buNone/>
              <a:defRPr sz="112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modelos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379EC57-D4BE-472B-9E00-DFAEA38BB8DD}"/>
              </a:ext>
            </a:extLst>
          </p:cNvPr>
          <p:cNvSpPr>
            <a:spLocks noGrp="1"/>
          </p:cNvSpPr>
          <p:nvPr/>
        </p:nvSpPr>
        <p:spPr>
          <a:xfrm>
            <a:off x="4686300" y="3505200"/>
            <a:ext cx="533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2250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↔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CCB2A9D-AF60-4875-BB0F-BFA80CBBC826}"/>
              </a:ext>
            </a:extLst>
          </p:cNvPr>
          <p:cNvSpPr>
            <a:spLocks noGrp="1"/>
          </p:cNvSpPr>
          <p:nvPr/>
        </p:nvSpPr>
        <p:spPr>
          <a:xfrm>
            <a:off x="6953250" y="3505200"/>
            <a:ext cx="57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2250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rPr>
              <a:t>↔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F371D60-9562-420C-9F8B-F32711CBFF9C}"/>
              </a:ext>
            </a:extLst>
          </p:cNvPr>
          <p:cNvSpPr>
            <a:spLocks noGrp="1"/>
          </p:cNvSpPr>
          <p:nvPr/>
        </p:nvSpPr>
        <p:spPr>
          <a:xfrm>
            <a:off x="971550" y="5657850"/>
            <a:ext cx="10248900" cy="62865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1DCC68B-717C-44D0-8458-1E17F14A550D}"/>
              </a:ext>
            </a:extLst>
          </p:cNvPr>
          <p:cNvSpPr>
            <a:spLocks noGrp="1"/>
          </p:cNvSpPr>
          <p:nvPr/>
        </p:nvSpPr>
        <p:spPr>
          <a:xfrm>
            <a:off x="1257300" y="5781675"/>
            <a:ext cx="9677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845" lnSpcReduction="10000"/>
          </a:bodyPr>
          <a:lstStyle/>
          <a:p>
            <a:pPr algn="ctr">
              <a:lnSpc>
                <a:spcPct val="104000"/>
              </a:lnSpc>
              <a:buNone/>
              <a:defRPr sz="14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A solução amplia a observabilidade TSO–DSO e produz insumos para parametrização, validação e calibração de modelos dinâmicos equivalentes.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DAFD10B-E009-4D98-87D2-5AF41E96CB0E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10934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Fonte dos eixos: ONS — PAR/PEL 2025.</a:t>
            </a:r>
          </a:p>
        </p:txBody>
      </p:sp>
    </p:spTree>
    <p:extLst>
      <p:ext uri="{BB962C8B-B14F-4D97-AF65-F5344CB8AC3E}">
        <p14:creationId xmlns:p14="http://schemas.microsoft.com/office/powerpoint/2010/main" val="429226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66ED41FB-7748-4B01-92F9-0F7B0F3481E6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A SOLUÇÃO PROPOSTA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2D170C4-7E44-4822-8063-0432B65E9532}"/>
              </a:ext>
            </a:extLst>
          </p:cNvPr>
          <p:cNvSpPr>
            <a:spLocks noGrp="1"/>
          </p:cNvSpPr>
          <p:nvPr/>
        </p:nvSpPr>
        <p:spPr>
          <a:xfrm>
            <a:off x="628650" y="666750"/>
            <a:ext cx="1038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27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Dois eixos prioritários. Uma inteligência comum.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A7D71BBA-417F-4D3F-B462-79C9B87F7818}"/>
              </a:ext>
            </a:extLst>
          </p:cNvPr>
          <p:cNvSpPr>
            <a:spLocks noGrp="1"/>
          </p:cNvSpPr>
          <p:nvPr/>
        </p:nvSpPr>
        <p:spPr>
          <a:xfrm>
            <a:off x="628650" y="1323975"/>
            <a:ext cx="10934700" cy="0"/>
          </a:xfrm>
          <a:prstGeom prst="line">
            <a:avLst/>
          </a:prstGeom>
          <a:noFill/>
          <a:ln w="12383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80C3301-D654-4DD9-93AC-989C3E5C1043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1F43D974-1DBB-4372-A544-E9EB8429D482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5219700" cy="3486150"/>
          </a:xfrm>
          <a:prstGeom prst="roundRect">
            <a:avLst>
              <a:gd name="adj" fmla="val 6011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AC76606-7D4E-47B1-9291-3B91D6FD5FE8}"/>
              </a:ext>
            </a:extLst>
          </p:cNvPr>
          <p:cNvSpPr>
            <a:spLocks noGrp="1"/>
          </p:cNvSpPr>
          <p:nvPr/>
        </p:nvSpPr>
        <p:spPr>
          <a:xfrm>
            <a:off x="628650" y="1619250"/>
            <a:ext cx="5219700" cy="552450"/>
          </a:xfrm>
          <a:prstGeom prst="roundRect">
            <a:avLst>
              <a:gd name="adj" fmla="val 37931"/>
            </a:avLst>
          </a:prstGeom>
          <a:solidFill>
            <a:srgbClr val="D8690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7AD4D02-1673-4F50-9B4F-2DDA37CAA290}"/>
              </a:ext>
            </a:extLst>
          </p:cNvPr>
          <p:cNvSpPr>
            <a:spLocks noGrp="1"/>
          </p:cNvSpPr>
          <p:nvPr/>
        </p:nvSpPr>
        <p:spPr>
          <a:xfrm>
            <a:off x="876300" y="1743075"/>
            <a:ext cx="472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EIXO 1 · CARGA E MMGD NOS ESTUDOS ELÉTRICOS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DCC60EB-1F87-4F1E-A3DC-569E5D7631FD}"/>
              </a:ext>
            </a:extLst>
          </p:cNvPr>
          <p:cNvSpPr>
            <a:spLocks noGrp="1"/>
          </p:cNvSpPr>
          <p:nvPr/>
        </p:nvSpPr>
        <p:spPr>
          <a:xfrm>
            <a:off x="895350" y="239077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rPr>
              <a:t>OBJETIVO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9E9BD09-2E87-4703-B0C1-6629F5E78566}"/>
              </a:ext>
            </a:extLst>
          </p:cNvPr>
          <p:cNvSpPr>
            <a:spLocks noGrp="1"/>
          </p:cNvSpPr>
          <p:nvPr/>
        </p:nvSpPr>
        <p:spPr>
          <a:xfrm>
            <a:off x="895350" y="2676525"/>
            <a:ext cx="4476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Caracterizar perfis de consumo e a presença da geração distribuída nas redes de distribuição.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1F954D4-5FA5-44A6-BD63-078EB1B638AF}"/>
              </a:ext>
            </a:extLst>
          </p:cNvPr>
          <p:cNvSpPr>
            <a:spLocks noGrp="1"/>
          </p:cNvSpPr>
          <p:nvPr/>
        </p:nvSpPr>
        <p:spPr>
          <a:xfrm>
            <a:off x="895350" y="33718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rPr>
              <a:t>ENTREGA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913EF98-003A-4127-8E93-ADEC73AD1E4E}"/>
              </a:ext>
            </a:extLst>
          </p:cNvPr>
          <p:cNvSpPr>
            <a:spLocks noGrp="1"/>
          </p:cNvSpPr>
          <p:nvPr/>
        </p:nvSpPr>
        <p:spPr>
          <a:xfrm>
            <a:off x="895350" y="3657600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00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rPr>
              <a:t>Perfis e parâmetros consistentes para validar e calibrar modelos dinâmicos equivalentes de carga e MMGD.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EC06958-E4EA-4D38-8FF2-D9F387D1B019}"/>
              </a:ext>
            </a:extLst>
          </p:cNvPr>
          <p:cNvSpPr>
            <a:spLocks noGrp="1"/>
          </p:cNvSpPr>
          <p:nvPr/>
        </p:nvSpPr>
        <p:spPr>
          <a:xfrm>
            <a:off x="895350" y="4448175"/>
            <a:ext cx="4095750" cy="323850"/>
          </a:xfrm>
          <a:prstGeom prst="roundRect">
            <a:avLst>
              <a:gd name="adj" fmla="val 50000"/>
            </a:avLst>
          </a:prstGeom>
          <a:solidFill>
            <a:srgbClr val="D8690E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CLM · ESTABILIDADE ELETROMECÂNICA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51D351D-6886-4861-9702-94E00A679B17}"/>
              </a:ext>
            </a:extLst>
          </p:cNvPr>
          <p:cNvSpPr>
            <a:spLocks noGrp="1"/>
          </p:cNvSpPr>
          <p:nvPr/>
        </p:nvSpPr>
        <p:spPr>
          <a:xfrm>
            <a:off x="6343650" y="1619250"/>
            <a:ext cx="5219700" cy="3486150"/>
          </a:xfrm>
          <a:prstGeom prst="roundRect">
            <a:avLst>
              <a:gd name="adj" fmla="val 6011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FFF582A4-B2CF-414A-8CBC-28EC6C508372}"/>
              </a:ext>
            </a:extLst>
          </p:cNvPr>
          <p:cNvSpPr>
            <a:spLocks noGrp="1"/>
          </p:cNvSpPr>
          <p:nvPr/>
        </p:nvSpPr>
        <p:spPr>
          <a:xfrm>
            <a:off x="6343650" y="1619250"/>
            <a:ext cx="5219700" cy="552450"/>
          </a:xfrm>
          <a:prstGeom prst="roundRect">
            <a:avLst>
              <a:gd name="adj" fmla="val 37931"/>
            </a:avLst>
          </a:prstGeom>
          <a:solidFill>
            <a:srgbClr val="123C67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9B48C875-6535-42B5-9DD8-7D54C4E4DFF8}"/>
              </a:ext>
            </a:extLst>
          </p:cNvPr>
          <p:cNvSpPr>
            <a:spLocks noGrp="1"/>
          </p:cNvSpPr>
          <p:nvPr/>
        </p:nvSpPr>
        <p:spPr>
          <a:xfrm>
            <a:off x="6591300" y="1743075"/>
            <a:ext cx="4724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EIXO 2 · FORTALECIMENTO DA INTERFACE ONS–DSO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783878F-0BDF-493A-A0F9-08FC7875418C}"/>
              </a:ext>
            </a:extLst>
          </p:cNvPr>
          <p:cNvSpPr>
            <a:spLocks noGrp="1"/>
          </p:cNvSpPr>
          <p:nvPr/>
        </p:nvSpPr>
        <p:spPr>
          <a:xfrm>
            <a:off x="6610350" y="239077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OBJETIVO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176DD0F3-7215-4103-899F-0FF5FE4CF2BD}"/>
              </a:ext>
            </a:extLst>
          </p:cNvPr>
          <p:cNvSpPr>
            <a:spLocks noGrp="1"/>
          </p:cNvSpPr>
          <p:nvPr/>
        </p:nvSpPr>
        <p:spPr>
          <a:xfrm>
            <a:off x="6610350" y="2676525"/>
            <a:ext cx="4476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97" lnSpcReduction="10000"/>
          </a:bodyPr>
          <a:lstStyle/>
          <a:p>
            <a:pPr algn="l">
              <a:lnSpc>
                <a:spcPct val="104000"/>
              </a:lnSpc>
              <a:buNone/>
              <a:defRPr sz="12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Ampliar a observabilidade e a previsibilidade da carga e da MMGD na fronteira transmissão–distribuição.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AAAA222-B65E-4C8B-85FB-CD345F013527}"/>
              </a:ext>
            </a:extLst>
          </p:cNvPr>
          <p:cNvSpPr>
            <a:spLocks noGrp="1"/>
          </p:cNvSpPr>
          <p:nvPr/>
        </p:nvSpPr>
        <p:spPr>
          <a:xfrm>
            <a:off x="6610350" y="33718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ENTREGA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A2EC32A-53BB-47EA-AE58-506950ED15BB}"/>
              </a:ext>
            </a:extLst>
          </p:cNvPr>
          <p:cNvSpPr>
            <a:spLocks noGrp="1"/>
          </p:cNvSpPr>
          <p:nvPr/>
        </p:nvSpPr>
        <p:spPr>
          <a:xfrm>
            <a:off x="6610350" y="3657600"/>
            <a:ext cx="447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00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 i="0">
                <a:solidFill>
                  <a:srgbClr val="132033"/>
                </a:solidFill>
                <a:latin typeface="DejaVu Sans"/>
                <a:ea typeface="DejaVu Sans"/>
                <a:cs typeface="DejaVu Sans"/>
              </a:rPr>
              <a:t>Previsões e indicadores de risco por área, horizonte e causa, com rastreabilidade até as fontes.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468E74F4-0A99-4028-94B0-76C6996D75F1}"/>
              </a:ext>
            </a:extLst>
          </p:cNvPr>
          <p:cNvSpPr>
            <a:spLocks noGrp="1"/>
          </p:cNvSpPr>
          <p:nvPr/>
        </p:nvSpPr>
        <p:spPr>
          <a:xfrm>
            <a:off x="6610350" y="4448175"/>
            <a:ext cx="4229100" cy="323850"/>
          </a:xfrm>
          <a:prstGeom prst="roundRect">
            <a:avLst>
              <a:gd name="adj" fmla="val 50000"/>
            </a:avLst>
          </a:prstGeom>
          <a:solidFill>
            <a:srgbClr val="123C67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COORDENAÇÃO · FLEXIBILIDADE · EXCEDENTES</a:t>
            </a:r>
          </a:p>
        </p:txBody>
      </p:sp>
      <p:sp>
        <p:nvSpPr>
          <p:cNvPr id="21" name="Conector reto 20">
            <a:extLst>
              <a:ext uri="{FF2B5EF4-FFF2-40B4-BE49-F238E27FC236}">
                <a16:creationId xmlns:a16="http://schemas.microsoft.com/office/drawing/2014/main" id="{EC64524F-E4B3-4E69-AF8A-28981EE74F97}"/>
              </a:ext>
            </a:extLst>
          </p:cNvPr>
          <p:cNvSpPr>
            <a:spLocks noGrp="1"/>
          </p:cNvSpPr>
          <p:nvPr/>
        </p:nvSpPr>
        <p:spPr>
          <a:xfrm>
            <a:off x="3238500" y="5105400"/>
            <a:ext cx="0" cy="400050"/>
          </a:xfrm>
          <a:prstGeom prst="line">
            <a:avLst/>
          </a:prstGeom>
          <a:noFill/>
          <a:ln w="20955">
            <a:solidFill>
              <a:srgbClr val="D869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Conector reto 21">
            <a:extLst>
              <a:ext uri="{FF2B5EF4-FFF2-40B4-BE49-F238E27FC236}">
                <a16:creationId xmlns:a16="http://schemas.microsoft.com/office/drawing/2014/main" id="{D3D56A10-513D-4712-8BA9-BB2D78F39BEB}"/>
              </a:ext>
            </a:extLst>
          </p:cNvPr>
          <p:cNvSpPr>
            <a:spLocks noGrp="1"/>
          </p:cNvSpPr>
          <p:nvPr/>
        </p:nvSpPr>
        <p:spPr>
          <a:xfrm>
            <a:off x="8953500" y="5105400"/>
            <a:ext cx="0" cy="400050"/>
          </a:xfrm>
          <a:prstGeom prst="line">
            <a:avLst/>
          </a:prstGeom>
          <a:noFill/>
          <a:ln w="20955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3187E438-87A3-413B-8C1F-1E4E3CA69311}"/>
              </a:ext>
            </a:extLst>
          </p:cNvPr>
          <p:cNvSpPr>
            <a:spLocks noGrp="1"/>
          </p:cNvSpPr>
          <p:nvPr/>
        </p:nvSpPr>
        <p:spPr>
          <a:xfrm>
            <a:off x="1428750" y="5467350"/>
            <a:ext cx="9334500" cy="742950"/>
          </a:xfrm>
          <a:prstGeom prst="roundRect">
            <a:avLst>
              <a:gd name="adj" fmla="val 25641"/>
            </a:avLst>
          </a:prstGeom>
          <a:solidFill>
            <a:srgbClr val="061B33"/>
          </a:solidFill>
          <a:ln w="12383">
            <a:solidFill>
              <a:srgbClr val="22C7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AE25E554-41B6-40E4-BCD0-DC3CDBB97F04}"/>
              </a:ext>
            </a:extLst>
          </p:cNvPr>
          <p:cNvSpPr>
            <a:spLocks noGrp="1"/>
          </p:cNvSpPr>
          <p:nvPr/>
        </p:nvSpPr>
        <p:spPr>
          <a:xfrm>
            <a:off x="1790700" y="5638800"/>
            <a:ext cx="8610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8563"/>
          </a:bodyPr>
          <a:lstStyle/>
          <a:p>
            <a:pPr algn="ctr">
              <a:lnSpc>
                <a:spcPct val="104000"/>
              </a:lnSpc>
              <a:buNone/>
              <a:defRPr sz="14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O.R.A.C.U.L.O. integra os dois eixos: transforma dados fragmentados em perfis para estudos e previsões para a operação.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99A5806-83EF-42F5-85B9-C1D0441CD16A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10934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Aderência: Projeto Interface ONS/DSO e parametrização, validação e calibração de modelos de carga e MMGD — PAR/PEL 2025.</a:t>
            </a:r>
          </a:p>
        </p:txBody>
      </p:sp>
    </p:spTree>
    <p:extLst>
      <p:ext uri="{BB962C8B-B14F-4D97-AF65-F5344CB8AC3E}">
        <p14:creationId xmlns:p14="http://schemas.microsoft.com/office/powerpoint/2010/main" val="26689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tângulo 43">
            <a:extLst>
              <a:ext uri="{FF2B5EF4-FFF2-40B4-BE49-F238E27FC236}">
                <a16:creationId xmlns:a16="http://schemas.microsoft.com/office/drawing/2014/main" id="{1CFF8B36-3C21-4771-9579-177C9E1353E4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ARQUITETURA DA SOLUÇÃO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F9F9F32-8768-458B-844D-A19F7F5BD9B3}"/>
              </a:ext>
            </a:extLst>
          </p:cNvPr>
          <p:cNvSpPr>
            <a:spLocks noGrp="1"/>
          </p:cNvSpPr>
          <p:nvPr/>
        </p:nvSpPr>
        <p:spPr>
          <a:xfrm>
            <a:off x="628650" y="666750"/>
            <a:ext cx="1038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30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Integrar sinais que hoje chegam separados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7BEFB6A8-DC31-45B6-917E-944C990F5395}"/>
              </a:ext>
            </a:extLst>
          </p:cNvPr>
          <p:cNvSpPr>
            <a:spLocks noGrp="1"/>
          </p:cNvSpPr>
          <p:nvPr/>
        </p:nvSpPr>
        <p:spPr>
          <a:xfrm>
            <a:off x="628650" y="1323975"/>
            <a:ext cx="10934700" cy="0"/>
          </a:xfrm>
          <a:prstGeom prst="line">
            <a:avLst/>
          </a:prstGeom>
          <a:noFill/>
          <a:ln w="12383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802220B-0ED6-43B7-A34D-520412F4378A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63764A5-BB95-4840-ACD9-42BA75BCFF3D}"/>
              </a:ext>
            </a:extLst>
          </p:cNvPr>
          <p:cNvSpPr>
            <a:spLocks noGrp="1"/>
          </p:cNvSpPr>
          <p:nvPr/>
        </p:nvSpPr>
        <p:spPr>
          <a:xfrm>
            <a:off x="647700" y="15049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FONTES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13115C6-C46D-420C-94AA-8358E3156C2B}"/>
              </a:ext>
            </a:extLst>
          </p:cNvPr>
          <p:cNvSpPr>
            <a:spLocks noGrp="1"/>
          </p:cNvSpPr>
          <p:nvPr/>
        </p:nvSpPr>
        <p:spPr>
          <a:xfrm>
            <a:off x="4591050" y="150495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CAMADA DE INTELIGÊNCIA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5FE9F37-9FF9-47F3-BE0B-A78B361A0082}"/>
              </a:ext>
            </a:extLst>
          </p:cNvPr>
          <p:cNvSpPr>
            <a:spLocks noGrp="1"/>
          </p:cNvSpPr>
          <p:nvPr/>
        </p:nvSpPr>
        <p:spPr>
          <a:xfrm>
            <a:off x="8705850" y="15049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PRODUTOS OPERATIVOS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2E5C4833-04EA-46EB-9680-56758823FB86}"/>
              </a:ext>
            </a:extLst>
          </p:cNvPr>
          <p:cNvSpPr>
            <a:spLocks noGrp="1"/>
          </p:cNvSpPr>
          <p:nvPr/>
        </p:nvSpPr>
        <p:spPr>
          <a:xfrm>
            <a:off x="628650" y="1838325"/>
            <a:ext cx="3143250" cy="74295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5DF8FF0F-1D2E-451F-8497-5629AC0B9320}"/>
              </a:ext>
            </a:extLst>
          </p:cNvPr>
          <p:cNvSpPr>
            <a:spLocks noGrp="1"/>
          </p:cNvSpPr>
          <p:nvPr/>
        </p:nvSpPr>
        <p:spPr>
          <a:xfrm>
            <a:off x="628650" y="1838325"/>
            <a:ext cx="76200" cy="742950"/>
          </a:xfrm>
          <a:prstGeom prst="roundRect">
            <a:avLst>
              <a:gd name="adj" fmla="val 50000"/>
            </a:avLst>
          </a:prstGeom>
          <a:solidFill>
            <a:srgbClr val="22C7F2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B75B067-2859-445E-B092-F824476AF515}"/>
              </a:ext>
            </a:extLst>
          </p:cNvPr>
          <p:cNvSpPr>
            <a:spLocks noGrp="1"/>
          </p:cNvSpPr>
          <p:nvPr/>
        </p:nvSpPr>
        <p:spPr>
          <a:xfrm>
            <a:off x="876300" y="1962150"/>
            <a:ext cx="2619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ONS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7D24997-9C8A-4A81-860B-F85213342D19}"/>
              </a:ext>
            </a:extLst>
          </p:cNvPr>
          <p:cNvSpPr>
            <a:spLocks noGrp="1"/>
          </p:cNvSpPr>
          <p:nvPr/>
        </p:nvSpPr>
        <p:spPr>
          <a:xfrm>
            <a:off x="876300" y="2209800"/>
            <a:ext cx="2647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carga, geração e constrained-off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4A6BA6F-86F6-4C63-AF84-7B72F0CCFC02}"/>
              </a:ext>
            </a:extLst>
          </p:cNvPr>
          <p:cNvSpPr>
            <a:spLocks noGrp="1"/>
          </p:cNvSpPr>
          <p:nvPr/>
        </p:nvSpPr>
        <p:spPr>
          <a:xfrm>
            <a:off x="628650" y="2752725"/>
            <a:ext cx="3143250" cy="74295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634BAAF-EED3-4236-A722-BA8195725578}"/>
              </a:ext>
            </a:extLst>
          </p:cNvPr>
          <p:cNvSpPr>
            <a:spLocks noGrp="1"/>
          </p:cNvSpPr>
          <p:nvPr/>
        </p:nvSpPr>
        <p:spPr>
          <a:xfrm>
            <a:off x="628650" y="2752725"/>
            <a:ext cx="76200" cy="742950"/>
          </a:xfrm>
          <a:prstGeom prst="roundRect">
            <a:avLst>
              <a:gd name="adj" fmla="val 50000"/>
            </a:avLst>
          </a:prstGeom>
          <a:solidFill>
            <a:srgbClr val="58D6A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618998B-4000-47E5-B3B2-115CF7F72AC1}"/>
              </a:ext>
            </a:extLst>
          </p:cNvPr>
          <p:cNvSpPr>
            <a:spLocks noGrp="1"/>
          </p:cNvSpPr>
          <p:nvPr/>
        </p:nvSpPr>
        <p:spPr>
          <a:xfrm>
            <a:off x="876300" y="2876550"/>
            <a:ext cx="2619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BDGD + ANEEL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18356EC-05FD-426A-9AB1-FC63E0BDAE77}"/>
              </a:ext>
            </a:extLst>
          </p:cNvPr>
          <p:cNvSpPr>
            <a:spLocks noGrp="1"/>
          </p:cNvSpPr>
          <p:nvPr/>
        </p:nvSpPr>
        <p:spPr>
          <a:xfrm>
            <a:off x="876300" y="3124200"/>
            <a:ext cx="2647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ativos, topologia e geografia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E761265-979B-4052-A6E2-01C3ED8877DF}"/>
              </a:ext>
            </a:extLst>
          </p:cNvPr>
          <p:cNvSpPr>
            <a:spLocks noGrp="1"/>
          </p:cNvSpPr>
          <p:nvPr/>
        </p:nvSpPr>
        <p:spPr>
          <a:xfrm>
            <a:off x="628650" y="3667125"/>
            <a:ext cx="3143250" cy="74295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DA60048-6694-4179-940D-E049D0DD87B4}"/>
              </a:ext>
            </a:extLst>
          </p:cNvPr>
          <p:cNvSpPr>
            <a:spLocks noGrp="1"/>
          </p:cNvSpPr>
          <p:nvPr/>
        </p:nvSpPr>
        <p:spPr>
          <a:xfrm>
            <a:off x="628650" y="3667125"/>
            <a:ext cx="76200" cy="742950"/>
          </a:xfrm>
          <a:prstGeom prst="roundRect">
            <a:avLst>
              <a:gd name="adj" fmla="val 50000"/>
            </a:avLst>
          </a:prstGeom>
          <a:solidFill>
            <a:srgbClr val="F4C95D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49D02CC-6084-4C87-8938-71D71550AC1C}"/>
              </a:ext>
            </a:extLst>
          </p:cNvPr>
          <p:cNvSpPr>
            <a:spLocks noGrp="1"/>
          </p:cNvSpPr>
          <p:nvPr/>
        </p:nvSpPr>
        <p:spPr>
          <a:xfrm>
            <a:off x="876300" y="3790950"/>
            <a:ext cx="2619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Meteorologia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F8195C9-C529-4D23-B309-AD95B8AA767A}"/>
              </a:ext>
            </a:extLst>
          </p:cNvPr>
          <p:cNvSpPr>
            <a:spLocks noGrp="1"/>
          </p:cNvSpPr>
          <p:nvPr/>
        </p:nvSpPr>
        <p:spPr>
          <a:xfrm>
            <a:off x="876300" y="4038600"/>
            <a:ext cx="2647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irradiância, nuvens, vento e temperatura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EC71AE95-DC95-4750-9C55-FBD72EFE9505}"/>
              </a:ext>
            </a:extLst>
          </p:cNvPr>
          <p:cNvSpPr>
            <a:spLocks noGrp="1"/>
          </p:cNvSpPr>
          <p:nvPr/>
        </p:nvSpPr>
        <p:spPr>
          <a:xfrm>
            <a:off x="628650" y="4581525"/>
            <a:ext cx="3143250" cy="74295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1D47F9D4-F24C-4B44-A1C6-545EF11BAA36}"/>
              </a:ext>
            </a:extLst>
          </p:cNvPr>
          <p:cNvSpPr>
            <a:spLocks noGrp="1"/>
          </p:cNvSpPr>
          <p:nvPr/>
        </p:nvSpPr>
        <p:spPr>
          <a:xfrm>
            <a:off x="628650" y="4581525"/>
            <a:ext cx="76200" cy="742950"/>
          </a:xfrm>
          <a:prstGeom prst="roundRect">
            <a:avLst>
              <a:gd name="adj" fmla="val 50000"/>
            </a:avLst>
          </a:prstGeom>
          <a:solidFill>
            <a:srgbClr val="D8690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8541A82A-54B7-4FBB-867E-31A3CD136DDB}"/>
              </a:ext>
            </a:extLst>
          </p:cNvPr>
          <p:cNvSpPr>
            <a:spLocks noGrp="1"/>
          </p:cNvSpPr>
          <p:nvPr/>
        </p:nvSpPr>
        <p:spPr>
          <a:xfrm>
            <a:off x="876300" y="4705350"/>
            <a:ext cx="26193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2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Satélite + medições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5A265271-684C-4A5B-A40E-6DB8A3B0F266}"/>
              </a:ext>
            </a:extLst>
          </p:cNvPr>
          <p:cNvSpPr>
            <a:spLocks noGrp="1"/>
          </p:cNvSpPr>
          <p:nvPr/>
        </p:nvSpPr>
        <p:spPr>
          <a:xfrm>
            <a:off x="876300" y="4953000"/>
            <a:ext cx="2647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evidência espacial e séries locais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A758AD5D-79E1-4303-AD34-8DD286BB5995}"/>
              </a:ext>
            </a:extLst>
          </p:cNvPr>
          <p:cNvSpPr>
            <a:spLocks noGrp="1"/>
          </p:cNvSpPr>
          <p:nvPr/>
        </p:nvSpPr>
        <p:spPr>
          <a:xfrm>
            <a:off x="4495800" y="2200275"/>
            <a:ext cx="3181350" cy="2724150"/>
          </a:xfrm>
          <a:prstGeom prst="roundRect">
            <a:avLst>
              <a:gd name="adj" fmla="val 9790"/>
            </a:avLst>
          </a:prstGeom>
          <a:gradFill>
            <a:gsLst>
              <a:gs pos="0">
                <a:srgbClr val="061B33"/>
              </a:gs>
              <a:gs pos="100000">
                <a:srgbClr val="123C67"/>
              </a:gs>
            </a:gsLst>
            <a:lin ang="8100000"/>
          </a:gradFill>
          <a:ln w="14288">
            <a:solidFill>
              <a:srgbClr val="22C7F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8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09D956BF-1477-4CA1-9764-3FA4573A7233}"/>
              </a:ext>
            </a:extLst>
          </p:cNvPr>
          <p:cNvSpPr>
            <a:spLocks noGrp="1"/>
          </p:cNvSpPr>
          <p:nvPr/>
        </p:nvSpPr>
        <p:spPr>
          <a:xfrm>
            <a:off x="5019675" y="2447925"/>
            <a:ext cx="2133600" cy="323850"/>
          </a:xfrm>
          <a:prstGeom prst="roundRect">
            <a:avLst>
              <a:gd name="adj" fmla="val 50000"/>
            </a:avLst>
          </a:prstGeom>
          <a:solidFill>
            <a:srgbClr val="22C7F2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O.R.A.C.U.L.O.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9948E53-7CC9-4302-BA75-1C2C3E481041}"/>
              </a:ext>
            </a:extLst>
          </p:cNvPr>
          <p:cNvSpPr>
            <a:spLocks noGrp="1"/>
          </p:cNvSpPr>
          <p:nvPr/>
        </p:nvSpPr>
        <p:spPr>
          <a:xfrm>
            <a:off x="4953000" y="2990850"/>
            <a:ext cx="22669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7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Fusão e qualidade</a:t>
            </a:r>
          </a:p>
          <a:p>
            <a:pPr algn="ctr">
              <a:lnSpc>
                <a:spcPct val="104000"/>
              </a:lnSpc>
              <a:buNone/>
              <a:defRPr sz="17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geoespacial</a:t>
            </a:r>
          </a:p>
        </p:txBody>
      </p:sp>
      <p:sp>
        <p:nvSpPr>
          <p:cNvPr id="27" name="Conector reto 26">
            <a:extLst>
              <a:ext uri="{FF2B5EF4-FFF2-40B4-BE49-F238E27FC236}">
                <a16:creationId xmlns:a16="http://schemas.microsoft.com/office/drawing/2014/main" id="{EFB1ACDF-EAAE-4D07-B39F-2E41C09BBCD0}"/>
              </a:ext>
            </a:extLst>
          </p:cNvPr>
          <p:cNvSpPr>
            <a:spLocks noGrp="1"/>
          </p:cNvSpPr>
          <p:nvPr/>
        </p:nvSpPr>
        <p:spPr>
          <a:xfrm>
            <a:off x="5010150" y="3714750"/>
            <a:ext cx="2152650" cy="0"/>
          </a:xfrm>
          <a:prstGeom prst="line">
            <a:avLst/>
          </a:prstGeom>
          <a:noFill/>
          <a:ln w="9525">
            <a:solidFill>
              <a:srgbClr val="123C6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D89BD98B-57AD-4F97-BF92-1100123A7DDC}"/>
              </a:ext>
            </a:extLst>
          </p:cNvPr>
          <p:cNvSpPr>
            <a:spLocks noGrp="1"/>
          </p:cNvSpPr>
          <p:nvPr/>
        </p:nvSpPr>
        <p:spPr>
          <a:xfrm>
            <a:off x="4981575" y="3857625"/>
            <a:ext cx="2209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20000"/>
              </a:lnSpc>
              <a:buNone/>
              <a:defRPr sz="127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Visão computacional</a:t>
            </a:r>
          </a:p>
          <a:p>
            <a:pPr algn="ctr">
              <a:lnSpc>
                <a:spcPct val="120000"/>
              </a:lnSpc>
              <a:buNone/>
              <a:defRPr sz="127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Previsão probabilística</a:t>
            </a:r>
          </a:p>
          <a:p>
            <a:pPr algn="ctr">
              <a:lnSpc>
                <a:spcPct val="120000"/>
              </a:lnSpc>
              <a:buNone/>
              <a:defRPr sz="127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Indicador de risco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A604271B-7E76-4C21-9BBE-40BFF1A7A6F4}"/>
              </a:ext>
            </a:extLst>
          </p:cNvPr>
          <p:cNvSpPr>
            <a:spLocks noGrp="1"/>
          </p:cNvSpPr>
          <p:nvPr/>
        </p:nvSpPr>
        <p:spPr>
          <a:xfrm>
            <a:off x="8515350" y="2057400"/>
            <a:ext cx="3048000" cy="1257300"/>
          </a:xfrm>
          <a:prstGeom prst="roundRect">
            <a:avLst>
              <a:gd name="adj" fmla="val 15152"/>
            </a:avLst>
          </a:prstGeom>
          <a:solidFill>
            <a:srgbClr val="D9F6FD"/>
          </a:solidFill>
          <a:ln w="14288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52BB8438-252B-46C1-8057-1D6EA45A8874}"/>
              </a:ext>
            </a:extLst>
          </p:cNvPr>
          <p:cNvSpPr>
            <a:spLocks noGrp="1"/>
          </p:cNvSpPr>
          <p:nvPr/>
        </p:nvSpPr>
        <p:spPr>
          <a:xfrm>
            <a:off x="8782050" y="224790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975" b="1" i="0">
                <a:solidFill>
                  <a:srgbClr val="123C6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123C67"/>
                </a:solidFill>
                <a:latin typeface="DejaVu Sans"/>
                <a:ea typeface="DejaVu Sans"/>
                <a:cs typeface="DejaVu Sans"/>
              </a:rPr>
              <a:t>PREVISÃO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841AEFB1-A583-4EC3-9E6D-0C6B29504989}"/>
              </a:ext>
            </a:extLst>
          </p:cNvPr>
          <p:cNvSpPr>
            <a:spLocks noGrp="1"/>
          </p:cNvSpPr>
          <p:nvPr/>
        </p:nvSpPr>
        <p:spPr>
          <a:xfrm>
            <a:off x="8782050" y="2543175"/>
            <a:ext cx="247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012"/>
          </a:bodyPr>
          <a:lstStyle/>
          <a:p>
            <a:pPr algn="ctr">
              <a:lnSpc>
                <a:spcPct val="104000"/>
              </a:lnSpc>
              <a:buNone/>
              <a:def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Carga supervisionada +</a:t>
            </a:r>
          </a:p>
          <a:p>
            <a:pPr algn="ctr">
              <a:lnSpc>
                <a:spcPct val="104000"/>
              </a:lnSpc>
              <a:buNone/>
              <a:def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MMGD por distribuidora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914FA073-F521-4CF5-9532-7B37A41FBAF5}"/>
              </a:ext>
            </a:extLst>
          </p:cNvPr>
          <p:cNvSpPr>
            <a:spLocks noGrp="1"/>
          </p:cNvSpPr>
          <p:nvPr/>
        </p:nvSpPr>
        <p:spPr>
          <a:xfrm>
            <a:off x="8515350" y="3781425"/>
            <a:ext cx="3048000" cy="1257300"/>
          </a:xfrm>
          <a:prstGeom prst="roundRect">
            <a:avLst>
              <a:gd name="adj" fmla="val 15152"/>
            </a:avLst>
          </a:prstGeom>
          <a:solidFill>
            <a:srgbClr val="FFF0E2"/>
          </a:solidFill>
          <a:ln w="14288">
            <a:solidFill>
              <a:srgbClr val="D869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574C7CF7-92DD-48F7-B32A-684B0543C0CE}"/>
              </a:ext>
            </a:extLst>
          </p:cNvPr>
          <p:cNvSpPr>
            <a:spLocks noGrp="1"/>
          </p:cNvSpPr>
          <p:nvPr/>
        </p:nvSpPr>
        <p:spPr>
          <a:xfrm>
            <a:off x="8782050" y="39719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975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rPr>
              <a:t>ANTECIPAÇÃO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7CF81B3B-6858-4C7F-981D-1CD2A0297312}"/>
              </a:ext>
            </a:extLst>
          </p:cNvPr>
          <p:cNvSpPr>
            <a:spLocks noGrp="1"/>
          </p:cNvSpPr>
          <p:nvPr/>
        </p:nvSpPr>
        <p:spPr>
          <a:xfrm>
            <a:off x="8782050" y="4267200"/>
            <a:ext cx="2476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Risco de curtailment</a:t>
            </a:r>
          </a:p>
          <a:p>
            <a:pPr algn="ctr">
              <a:lnSpc>
                <a:spcPct val="104000"/>
              </a:lnSpc>
              <a:buNone/>
              <a:def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por razão energética</a:t>
            </a:r>
          </a:p>
        </p:txBody>
      </p:sp>
      <p:cxnSp>
        <p:nvCxnSpPr>
          <p:cNvPr id="78" name="Conector: Angulado 77"/>
          <p:cNvCxnSpPr>
            <a:stCxn id="8" idx="3"/>
            <a:endCxn id="24" idx="1"/>
          </p:cNvCxnSpPr>
          <p:nvPr/>
        </p:nvCxnSpPr>
        <p:spPr>
          <a:xfrm>
            <a:off x="3771900" y="2209800"/>
            <a:ext cx="723900" cy="1352550"/>
          </a:xfrm>
          <a:prstGeom prst="bentConnector3">
            <a:avLst>
              <a:gd name="adj1" fmla="val 50000"/>
            </a:avLst>
          </a:prstGeom>
          <a:ln w="16193">
            <a:solidFill>
              <a:srgbClr val="C9D7E5"/>
            </a:solidFill>
            <a:prstDash val="solid"/>
            <a:tailEnd type="arrow" w="sm" len="sm"/>
          </a:ln>
        </p:spPr>
      </p:cxnSp>
      <p:cxnSp>
        <p:nvCxnSpPr>
          <p:cNvPr id="79" name="Conector: Angulado 78"/>
          <p:cNvCxnSpPr>
            <a:stCxn id="12" idx="3"/>
            <a:endCxn id="24" idx="1"/>
          </p:cNvCxnSpPr>
          <p:nvPr/>
        </p:nvCxnSpPr>
        <p:spPr>
          <a:xfrm>
            <a:off x="3771900" y="3124200"/>
            <a:ext cx="723900" cy="438150"/>
          </a:xfrm>
          <a:prstGeom prst="bentConnector3">
            <a:avLst>
              <a:gd name="adj1" fmla="val 50000"/>
            </a:avLst>
          </a:prstGeom>
          <a:ln w="16193">
            <a:solidFill>
              <a:srgbClr val="C9D7E5"/>
            </a:solidFill>
            <a:prstDash val="solid"/>
            <a:tailEnd type="arrow" w="sm" len="sm"/>
          </a:ln>
        </p:spPr>
      </p:cxnSp>
      <p:cxnSp>
        <p:nvCxnSpPr>
          <p:cNvPr id="80" name="Conector: Angulado 79"/>
          <p:cNvCxnSpPr>
            <a:stCxn id="16" idx="3"/>
            <a:endCxn id="24" idx="1"/>
          </p:cNvCxnSpPr>
          <p:nvPr/>
        </p:nvCxnSpPr>
        <p:spPr>
          <a:xfrm flipV="1">
            <a:off x="3771900" y="3562350"/>
            <a:ext cx="723900" cy="476250"/>
          </a:xfrm>
          <a:prstGeom prst="bentConnector3">
            <a:avLst>
              <a:gd name="adj1" fmla="val 50000"/>
            </a:avLst>
          </a:prstGeom>
          <a:ln w="16193">
            <a:solidFill>
              <a:srgbClr val="C9D7E5"/>
            </a:solidFill>
            <a:prstDash val="solid"/>
            <a:tailEnd type="arrow" w="sm" len="sm"/>
          </a:ln>
        </p:spPr>
      </p:cxnSp>
      <p:cxnSp>
        <p:nvCxnSpPr>
          <p:cNvPr id="81" name="Conector: Angulado 80"/>
          <p:cNvCxnSpPr>
            <a:stCxn id="20" idx="3"/>
            <a:endCxn id="24" idx="1"/>
          </p:cNvCxnSpPr>
          <p:nvPr/>
        </p:nvCxnSpPr>
        <p:spPr>
          <a:xfrm flipV="1">
            <a:off x="3771900" y="3562350"/>
            <a:ext cx="723900" cy="1390650"/>
          </a:xfrm>
          <a:prstGeom prst="bentConnector3">
            <a:avLst>
              <a:gd name="adj1" fmla="val 50000"/>
            </a:avLst>
          </a:prstGeom>
          <a:ln w="16193">
            <a:solidFill>
              <a:srgbClr val="C9D7E5"/>
            </a:solidFill>
            <a:prstDash val="solid"/>
            <a:tailEnd type="arrow" w="sm" len="sm"/>
          </a:ln>
        </p:spPr>
      </p:cxnSp>
      <p:cxnSp>
        <p:nvCxnSpPr>
          <p:cNvPr id="82" name="Conector: Angulado 81"/>
          <p:cNvCxnSpPr>
            <a:stCxn id="24" idx="3"/>
            <a:endCxn id="29" idx="1"/>
          </p:cNvCxnSpPr>
          <p:nvPr/>
        </p:nvCxnSpPr>
        <p:spPr>
          <a:xfrm flipV="1">
            <a:off x="7677150" y="2686050"/>
            <a:ext cx="838200" cy="876300"/>
          </a:xfrm>
          <a:prstGeom prst="bentConnector3">
            <a:avLst>
              <a:gd name="adj1" fmla="val 50000"/>
            </a:avLst>
          </a:prstGeom>
          <a:ln w="20955">
            <a:solidFill>
              <a:srgbClr val="22C7F2"/>
            </a:solidFill>
            <a:prstDash val="solid"/>
            <a:tailEnd type="arrow" w="med" len="med"/>
          </a:ln>
        </p:spPr>
      </p:cxnSp>
      <p:cxnSp>
        <p:nvCxnSpPr>
          <p:cNvPr id="83" name="Conector: Angulado 82"/>
          <p:cNvCxnSpPr>
            <a:stCxn id="24" idx="3"/>
            <a:endCxn id="32" idx="1"/>
          </p:cNvCxnSpPr>
          <p:nvPr/>
        </p:nvCxnSpPr>
        <p:spPr>
          <a:xfrm>
            <a:off x="7677150" y="3562350"/>
            <a:ext cx="838200" cy="847725"/>
          </a:xfrm>
          <a:prstGeom prst="bentConnector3">
            <a:avLst>
              <a:gd name="adj1" fmla="val 50000"/>
            </a:avLst>
          </a:prstGeom>
          <a:ln w="20955">
            <a:solidFill>
              <a:srgbClr val="D8690E"/>
            </a:solidFill>
            <a:prstDash val="solid"/>
            <a:tailEnd type="arrow" w="med" len="med"/>
          </a:ln>
        </p:spPr>
      </p:cxn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89E418C4-4A28-4E54-AE1F-433540366068}"/>
              </a:ext>
            </a:extLst>
          </p:cNvPr>
          <p:cNvSpPr>
            <a:spLocks noGrp="1"/>
          </p:cNvSpPr>
          <p:nvPr/>
        </p:nvSpPr>
        <p:spPr>
          <a:xfrm>
            <a:off x="628650" y="5734050"/>
            <a:ext cx="10934700" cy="552450"/>
          </a:xfrm>
          <a:prstGeom prst="roundRect">
            <a:avLst>
              <a:gd name="adj" fmla="val 31034"/>
            </a:avLst>
          </a:prstGeom>
          <a:solidFill>
            <a:srgbClr val="061B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F773EEBF-5D41-4F20-BDCF-8340C0F290E1}"/>
              </a:ext>
            </a:extLst>
          </p:cNvPr>
          <p:cNvSpPr>
            <a:spLocks noGrp="1"/>
          </p:cNvSpPr>
          <p:nvPr/>
        </p:nvSpPr>
        <p:spPr>
          <a:xfrm>
            <a:off x="914400" y="5848350"/>
            <a:ext cx="10363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1147"/>
          </a:bodyPr>
          <a:lstStyle/>
          <a:p>
            <a:pPr algn="ctr">
              <a:lnSpc>
                <a:spcPct val="104000"/>
              </a:lnSpc>
              <a:buNone/>
              <a:defRPr sz="13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Saída compatível com a disponibilidade e a qualidade dos dados — com rastreabilidade por fonte, região e horizonte.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FDCBF082-FCE7-4A4F-A49C-36386BAE072A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10934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Bases principais: Portal de Dados Abertos do ONS, BDGD, dados cadastrais da ANEEL, meteorologia e imagens de satélite.</a:t>
            </a: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01FA20C0-5A79-9AD3-8EDD-7CC0B8E0C508}"/>
              </a:ext>
            </a:extLst>
          </p:cNvPr>
          <p:cNvSpPr>
            <a:spLocks noGrp="1"/>
          </p:cNvSpPr>
          <p:nvPr/>
        </p:nvSpPr>
        <p:spPr>
          <a:xfrm>
            <a:off x="4629150" y="1885949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975" b="1" i="0" dirty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SOLUÇÃO PROPOSTA:</a:t>
            </a:r>
            <a:endParaRPr sz="975" b="1" i="0" dirty="0">
              <a:solidFill>
                <a:srgbClr val="52667C"/>
              </a:solidFill>
              <a:latin typeface="DejaVu Sans"/>
              <a:ea typeface="DejaVu Sans"/>
              <a:cs typeface="DejaVu Sans"/>
            </a:endParaRPr>
          </a:p>
        </p:txBody>
      </p:sp>
    </p:spTree>
    <p:extLst>
      <p:ext uri="{BB962C8B-B14F-4D97-AF65-F5344CB8AC3E}">
        <p14:creationId xmlns:p14="http://schemas.microsoft.com/office/powerpoint/2010/main" val="959434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tângulo 38">
            <a:extLst>
              <a:ext uri="{FF2B5EF4-FFF2-40B4-BE49-F238E27FC236}">
                <a16:creationId xmlns:a16="http://schemas.microsoft.com/office/drawing/2014/main" id="{F9315CF8-9E20-4330-9825-807D773837CE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FLUXO ANALÍTICO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04FAF8C-213D-487A-9495-24D3942B60E3}"/>
              </a:ext>
            </a:extLst>
          </p:cNvPr>
          <p:cNvSpPr>
            <a:spLocks noGrp="1"/>
          </p:cNvSpPr>
          <p:nvPr/>
        </p:nvSpPr>
        <p:spPr>
          <a:xfrm>
            <a:off x="628650" y="666750"/>
            <a:ext cx="1038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30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Do dado bruto à decisão operativa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D74C1F24-FA0A-40C7-8C58-355FE6C07B05}"/>
              </a:ext>
            </a:extLst>
          </p:cNvPr>
          <p:cNvSpPr>
            <a:spLocks noGrp="1"/>
          </p:cNvSpPr>
          <p:nvPr/>
        </p:nvSpPr>
        <p:spPr>
          <a:xfrm>
            <a:off x="628650" y="1323975"/>
            <a:ext cx="10934700" cy="0"/>
          </a:xfrm>
          <a:prstGeom prst="line">
            <a:avLst/>
          </a:prstGeom>
          <a:noFill/>
          <a:ln w="12383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FA09CF0-97E8-4D54-A7E4-48F849ECEAEA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0C06AC8-1145-49A5-BF63-E856B273EDD5}"/>
              </a:ext>
            </a:extLst>
          </p:cNvPr>
          <p:cNvSpPr>
            <a:spLocks noGrp="1"/>
          </p:cNvSpPr>
          <p:nvPr/>
        </p:nvSpPr>
        <p:spPr>
          <a:xfrm>
            <a:off x="628650" y="1885950"/>
            <a:ext cx="1981200" cy="2628900"/>
          </a:xfrm>
          <a:prstGeom prst="roundRect">
            <a:avLst>
              <a:gd name="adj" fmla="val 10577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39835B20-948D-4294-B410-72CBEE9981A1}"/>
              </a:ext>
            </a:extLst>
          </p:cNvPr>
          <p:cNvSpPr>
            <a:spLocks noGrp="1"/>
          </p:cNvSpPr>
          <p:nvPr/>
        </p:nvSpPr>
        <p:spPr>
          <a:xfrm>
            <a:off x="847725" y="2085975"/>
            <a:ext cx="457200" cy="457200"/>
          </a:xfrm>
          <a:prstGeom prst="ellipse">
            <a:avLst/>
          </a:prstGeom>
          <a:solidFill>
            <a:srgbClr val="22C7F2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7C8C5F0-FD98-49AF-8981-ACB0EA561834}"/>
              </a:ext>
            </a:extLst>
          </p:cNvPr>
          <p:cNvSpPr>
            <a:spLocks noGrp="1"/>
          </p:cNvSpPr>
          <p:nvPr/>
        </p:nvSpPr>
        <p:spPr>
          <a:xfrm>
            <a:off x="847725" y="2171700"/>
            <a:ext cx="45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4E8BC1D-D410-44B7-BF48-66D7115827BD}"/>
              </a:ext>
            </a:extLst>
          </p:cNvPr>
          <p:cNvSpPr>
            <a:spLocks noGrp="1"/>
          </p:cNvSpPr>
          <p:nvPr/>
        </p:nvSpPr>
        <p:spPr>
          <a:xfrm>
            <a:off x="847725" y="2771775"/>
            <a:ext cx="1543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7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Ingerir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E9140D6-6E35-4536-B981-01A914658D28}"/>
              </a:ext>
            </a:extLst>
          </p:cNvPr>
          <p:cNvSpPr>
            <a:spLocks noGrp="1"/>
          </p:cNvSpPr>
          <p:nvPr/>
        </p:nvSpPr>
        <p:spPr>
          <a:xfrm>
            <a:off x="857250" y="3248025"/>
            <a:ext cx="1524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4000"/>
              </a:lnSpc>
              <a:buNone/>
              <a:defRPr sz="112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sincronizar séries, metadados e qualidade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87D96025-C167-43AD-8E03-F1C2D01614A4}"/>
              </a:ext>
            </a:extLst>
          </p:cNvPr>
          <p:cNvSpPr>
            <a:spLocks noGrp="1"/>
          </p:cNvSpPr>
          <p:nvPr/>
        </p:nvSpPr>
        <p:spPr>
          <a:xfrm>
            <a:off x="2819400" y="1885950"/>
            <a:ext cx="1981200" cy="2628900"/>
          </a:xfrm>
          <a:prstGeom prst="roundRect">
            <a:avLst>
              <a:gd name="adj" fmla="val 10577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3FD69F84-ACF1-4218-A67A-491855187203}"/>
              </a:ext>
            </a:extLst>
          </p:cNvPr>
          <p:cNvSpPr>
            <a:spLocks noGrp="1"/>
          </p:cNvSpPr>
          <p:nvPr/>
        </p:nvSpPr>
        <p:spPr>
          <a:xfrm>
            <a:off x="3038475" y="2085975"/>
            <a:ext cx="457200" cy="457200"/>
          </a:xfrm>
          <a:prstGeom prst="ellipse">
            <a:avLst/>
          </a:prstGeom>
          <a:solidFill>
            <a:srgbClr val="58D6A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DF2A059-821D-4D7B-897D-08E53A982AC7}"/>
              </a:ext>
            </a:extLst>
          </p:cNvPr>
          <p:cNvSpPr>
            <a:spLocks noGrp="1"/>
          </p:cNvSpPr>
          <p:nvPr/>
        </p:nvSpPr>
        <p:spPr>
          <a:xfrm>
            <a:off x="3038475" y="2171700"/>
            <a:ext cx="45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1C94C26-21EB-40F4-A79D-A6B0428A998E}"/>
              </a:ext>
            </a:extLst>
          </p:cNvPr>
          <p:cNvSpPr>
            <a:spLocks noGrp="1"/>
          </p:cNvSpPr>
          <p:nvPr/>
        </p:nvSpPr>
        <p:spPr>
          <a:xfrm>
            <a:off x="3038475" y="2771775"/>
            <a:ext cx="1543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7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Mapear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ACFCAAD-8641-4E32-A383-A9BD87C791C1}"/>
              </a:ext>
            </a:extLst>
          </p:cNvPr>
          <p:cNvSpPr>
            <a:spLocks noGrp="1"/>
          </p:cNvSpPr>
          <p:nvPr/>
        </p:nvSpPr>
        <p:spPr>
          <a:xfrm>
            <a:off x="3048000" y="3248025"/>
            <a:ext cx="1524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4000"/>
              </a:lnSpc>
              <a:buNone/>
              <a:defRPr sz="112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localizar MMGD por satélite e confrontar com BDGD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F3C02D1F-BE1F-426B-AD97-9240EABDBFCB}"/>
              </a:ext>
            </a:extLst>
          </p:cNvPr>
          <p:cNvSpPr>
            <a:spLocks noGrp="1"/>
          </p:cNvSpPr>
          <p:nvPr/>
        </p:nvSpPr>
        <p:spPr>
          <a:xfrm>
            <a:off x="5010150" y="1885950"/>
            <a:ext cx="1981200" cy="2628900"/>
          </a:xfrm>
          <a:prstGeom prst="roundRect">
            <a:avLst>
              <a:gd name="adj" fmla="val 10577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CAAD5D4D-7087-423D-B863-80DB1AFCCAE4}"/>
              </a:ext>
            </a:extLst>
          </p:cNvPr>
          <p:cNvSpPr>
            <a:spLocks noGrp="1"/>
          </p:cNvSpPr>
          <p:nvPr/>
        </p:nvSpPr>
        <p:spPr>
          <a:xfrm>
            <a:off x="5229225" y="2085975"/>
            <a:ext cx="457200" cy="457200"/>
          </a:xfrm>
          <a:prstGeom prst="ellipse">
            <a:avLst/>
          </a:prstGeom>
          <a:solidFill>
            <a:srgbClr val="F4C95D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ED1CA92E-8459-4155-882A-2C5D8B133357}"/>
              </a:ext>
            </a:extLst>
          </p:cNvPr>
          <p:cNvSpPr>
            <a:spLocks noGrp="1"/>
          </p:cNvSpPr>
          <p:nvPr/>
        </p:nvSpPr>
        <p:spPr>
          <a:xfrm>
            <a:off x="5229225" y="2171700"/>
            <a:ext cx="45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240280AF-EAF8-4025-931C-BADF339E7E52}"/>
              </a:ext>
            </a:extLst>
          </p:cNvPr>
          <p:cNvSpPr>
            <a:spLocks noGrp="1"/>
          </p:cNvSpPr>
          <p:nvPr/>
        </p:nvSpPr>
        <p:spPr>
          <a:xfrm>
            <a:off x="5229225" y="2771775"/>
            <a:ext cx="1543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7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Prever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55565BC-46E7-4D83-8303-D879C60D1CD7}"/>
              </a:ext>
            </a:extLst>
          </p:cNvPr>
          <p:cNvSpPr>
            <a:spLocks noGrp="1"/>
          </p:cNvSpPr>
          <p:nvPr/>
        </p:nvSpPr>
        <p:spPr>
          <a:xfrm>
            <a:off x="5238750" y="3248025"/>
            <a:ext cx="1524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4000"/>
              </a:lnSpc>
              <a:buNone/>
              <a:defRPr sz="112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carga, MMGD e carga líquida por distribuidora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330D96E4-69E1-4620-9E54-A2E6827A7541}"/>
              </a:ext>
            </a:extLst>
          </p:cNvPr>
          <p:cNvSpPr>
            <a:spLocks noGrp="1"/>
          </p:cNvSpPr>
          <p:nvPr/>
        </p:nvSpPr>
        <p:spPr>
          <a:xfrm>
            <a:off x="7200900" y="1885950"/>
            <a:ext cx="1981200" cy="2628900"/>
          </a:xfrm>
          <a:prstGeom prst="roundRect">
            <a:avLst>
              <a:gd name="adj" fmla="val 10577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DD6C51EF-297C-4D48-8AA9-9B355254C0A9}"/>
              </a:ext>
            </a:extLst>
          </p:cNvPr>
          <p:cNvSpPr>
            <a:spLocks noGrp="1"/>
          </p:cNvSpPr>
          <p:nvPr/>
        </p:nvSpPr>
        <p:spPr>
          <a:xfrm>
            <a:off x="7419975" y="2085975"/>
            <a:ext cx="457200" cy="457200"/>
          </a:xfrm>
          <a:prstGeom prst="ellipse">
            <a:avLst/>
          </a:prstGeom>
          <a:solidFill>
            <a:srgbClr val="D8690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9DC28863-0A9F-4D7B-B109-7F85AB4E4192}"/>
              </a:ext>
            </a:extLst>
          </p:cNvPr>
          <p:cNvSpPr>
            <a:spLocks noGrp="1"/>
          </p:cNvSpPr>
          <p:nvPr/>
        </p:nvSpPr>
        <p:spPr>
          <a:xfrm>
            <a:off x="7419975" y="2171700"/>
            <a:ext cx="45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70FAE434-7622-417A-A8D3-6D759545522F}"/>
              </a:ext>
            </a:extLst>
          </p:cNvPr>
          <p:cNvSpPr>
            <a:spLocks noGrp="1"/>
          </p:cNvSpPr>
          <p:nvPr/>
        </p:nvSpPr>
        <p:spPr>
          <a:xfrm>
            <a:off x="7419975" y="2771775"/>
            <a:ext cx="1543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7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Antecipar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F79A48B-E30F-45E4-9E5F-DEB2BC647DA1}"/>
              </a:ext>
            </a:extLst>
          </p:cNvPr>
          <p:cNvSpPr>
            <a:spLocks noGrp="1"/>
          </p:cNvSpPr>
          <p:nvPr/>
        </p:nvSpPr>
        <p:spPr>
          <a:xfrm>
            <a:off x="7429500" y="3248025"/>
            <a:ext cx="1524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4000"/>
              </a:lnSpc>
              <a:buNone/>
              <a:defRPr sz="112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excedente e risco energético por horizonte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7A3BA1A4-C870-4E42-AC31-356538969DA7}"/>
              </a:ext>
            </a:extLst>
          </p:cNvPr>
          <p:cNvSpPr>
            <a:spLocks noGrp="1"/>
          </p:cNvSpPr>
          <p:nvPr/>
        </p:nvSpPr>
        <p:spPr>
          <a:xfrm>
            <a:off x="9391650" y="1885950"/>
            <a:ext cx="1981200" cy="2628900"/>
          </a:xfrm>
          <a:prstGeom prst="roundRect">
            <a:avLst>
              <a:gd name="adj" fmla="val 10577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F496EAC-86A8-4D71-897B-1EE5B13D76B2}"/>
              </a:ext>
            </a:extLst>
          </p:cNvPr>
          <p:cNvSpPr>
            <a:spLocks noGrp="1"/>
          </p:cNvSpPr>
          <p:nvPr/>
        </p:nvSpPr>
        <p:spPr>
          <a:xfrm>
            <a:off x="9610725" y="2085975"/>
            <a:ext cx="457200" cy="457200"/>
          </a:xfrm>
          <a:prstGeom prst="ellipse">
            <a:avLst/>
          </a:prstGeom>
          <a:solidFill>
            <a:srgbClr val="E85C5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F0E1990C-4A16-4845-8156-6050196A4B45}"/>
              </a:ext>
            </a:extLst>
          </p:cNvPr>
          <p:cNvSpPr>
            <a:spLocks noGrp="1"/>
          </p:cNvSpPr>
          <p:nvPr/>
        </p:nvSpPr>
        <p:spPr>
          <a:xfrm>
            <a:off x="9610725" y="2171700"/>
            <a:ext cx="45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185C1F37-649B-463E-B119-28A288D2343F}"/>
              </a:ext>
            </a:extLst>
          </p:cNvPr>
          <p:cNvSpPr>
            <a:spLocks noGrp="1"/>
          </p:cNvSpPr>
          <p:nvPr/>
        </p:nvSpPr>
        <p:spPr>
          <a:xfrm>
            <a:off x="9610725" y="2771775"/>
            <a:ext cx="15430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7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Entregar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4E2E3731-921A-453C-BCB4-320E30D82A1E}"/>
              </a:ext>
            </a:extLst>
          </p:cNvPr>
          <p:cNvSpPr>
            <a:spLocks noGrp="1"/>
          </p:cNvSpPr>
          <p:nvPr/>
        </p:nvSpPr>
        <p:spPr>
          <a:xfrm>
            <a:off x="9620250" y="3248025"/>
            <a:ext cx="1524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4000"/>
              </a:lnSpc>
              <a:buNone/>
              <a:defRPr sz="112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painel, cenários e API para a interface ONS–DSO</a:t>
            </a:r>
          </a:p>
        </p:txBody>
      </p:sp>
      <p:cxnSp>
        <p:nvCxnSpPr>
          <p:cNvPr id="68" name="Conector de Seta Reta 67"/>
          <p:cNvCxnSpPr>
            <a:stCxn id="5" idx="3"/>
            <a:endCxn id="10" idx="1"/>
          </p:cNvCxnSpPr>
          <p:nvPr/>
        </p:nvCxnSpPr>
        <p:spPr>
          <a:xfrm>
            <a:off x="2609850" y="3200400"/>
            <a:ext cx="209550" cy="0"/>
          </a:xfrm>
          <a:prstGeom prst="straightConnector1">
            <a:avLst/>
          </a:prstGeom>
          <a:ln w="19050">
            <a:solidFill>
              <a:srgbClr val="123C67"/>
            </a:solidFill>
            <a:prstDash val="solid"/>
            <a:tailEnd type="arrow" w="sm" len="sm"/>
          </a:ln>
        </p:spPr>
      </p:cxnSp>
      <p:cxnSp>
        <p:nvCxnSpPr>
          <p:cNvPr id="69" name="Conector de Seta Reta 68"/>
          <p:cNvCxnSpPr>
            <a:stCxn id="10" idx="3"/>
            <a:endCxn id="15" idx="1"/>
          </p:cNvCxnSpPr>
          <p:nvPr/>
        </p:nvCxnSpPr>
        <p:spPr>
          <a:xfrm>
            <a:off x="4800600" y="3200400"/>
            <a:ext cx="209550" cy="0"/>
          </a:xfrm>
          <a:prstGeom prst="straightConnector1">
            <a:avLst/>
          </a:prstGeom>
          <a:ln w="19050">
            <a:solidFill>
              <a:srgbClr val="123C67"/>
            </a:solidFill>
            <a:prstDash val="solid"/>
            <a:tailEnd type="arrow" w="sm" len="sm"/>
          </a:ln>
        </p:spPr>
      </p:cxnSp>
      <p:cxnSp>
        <p:nvCxnSpPr>
          <p:cNvPr id="70" name="Conector de Seta Reta 69"/>
          <p:cNvCxnSpPr>
            <a:stCxn id="15" idx="3"/>
            <a:endCxn id="20" idx="1"/>
          </p:cNvCxnSpPr>
          <p:nvPr/>
        </p:nvCxnSpPr>
        <p:spPr>
          <a:xfrm>
            <a:off x="6991350" y="3200400"/>
            <a:ext cx="209550" cy="0"/>
          </a:xfrm>
          <a:prstGeom prst="straightConnector1">
            <a:avLst/>
          </a:prstGeom>
          <a:ln w="19050">
            <a:solidFill>
              <a:srgbClr val="123C67"/>
            </a:solidFill>
            <a:prstDash val="solid"/>
            <a:tailEnd type="arrow" w="sm" len="sm"/>
          </a:ln>
        </p:spPr>
      </p:cxnSp>
      <p:cxnSp>
        <p:nvCxnSpPr>
          <p:cNvPr id="71" name="Conector de Seta Reta 70"/>
          <p:cNvCxnSpPr>
            <a:stCxn id="20" idx="3"/>
            <a:endCxn id="25" idx="1"/>
          </p:cNvCxnSpPr>
          <p:nvPr/>
        </p:nvCxnSpPr>
        <p:spPr>
          <a:xfrm>
            <a:off x="9182100" y="3200400"/>
            <a:ext cx="209550" cy="0"/>
          </a:xfrm>
          <a:prstGeom prst="straightConnector1">
            <a:avLst/>
          </a:prstGeom>
          <a:ln w="19050">
            <a:solidFill>
              <a:srgbClr val="123C67"/>
            </a:solidFill>
            <a:prstDash val="solid"/>
            <a:tailEnd type="arrow" w="sm" len="sm"/>
          </a:ln>
        </p:spPr>
      </p:cxn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85451BD8-5D50-428A-A4CA-B3DFB5B7A61E}"/>
              </a:ext>
            </a:extLst>
          </p:cNvPr>
          <p:cNvSpPr>
            <a:spLocks noGrp="1"/>
          </p:cNvSpPr>
          <p:nvPr/>
        </p:nvSpPr>
        <p:spPr>
          <a:xfrm>
            <a:off x="628650" y="4905375"/>
            <a:ext cx="10934700" cy="1181100"/>
          </a:xfrm>
          <a:prstGeom prst="roundRect">
            <a:avLst>
              <a:gd name="adj" fmla="val 16129"/>
            </a:avLst>
          </a:prstGeom>
          <a:solidFill>
            <a:srgbClr val="E8F1F8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3B5FB26B-DFA5-4656-AB95-90800CDFB4AA}"/>
              </a:ext>
            </a:extLst>
          </p:cNvPr>
          <p:cNvSpPr>
            <a:spLocks noGrp="1"/>
          </p:cNvSpPr>
          <p:nvPr/>
        </p:nvSpPr>
        <p:spPr>
          <a:xfrm>
            <a:off x="914400" y="510540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3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Dois produtos, a mesma espinha dorsal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8870E24D-9C29-45E4-9168-975161681E9C}"/>
              </a:ext>
            </a:extLst>
          </p:cNvPr>
          <p:cNvSpPr>
            <a:spLocks noGrp="1"/>
          </p:cNvSpPr>
          <p:nvPr/>
        </p:nvSpPr>
        <p:spPr>
          <a:xfrm>
            <a:off x="914400" y="550545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123C67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PERFIS PARA MODELOS DINÂMICOS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13F46ED3-F4B0-44A2-B5B3-4E315A5F033F}"/>
              </a:ext>
            </a:extLst>
          </p:cNvPr>
          <p:cNvSpPr>
            <a:spLocks noGrp="1"/>
          </p:cNvSpPr>
          <p:nvPr/>
        </p:nvSpPr>
        <p:spPr>
          <a:xfrm>
            <a:off x="4305300" y="5505450"/>
            <a:ext cx="2952750" cy="323850"/>
          </a:xfrm>
          <a:prstGeom prst="roundRect">
            <a:avLst>
              <a:gd name="adj" fmla="val 50000"/>
            </a:avLst>
          </a:prstGeom>
          <a:solidFill>
            <a:srgbClr val="D8690E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PREVISÃO E RISCO OPERATIVO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A835AE98-5973-4D5B-BB52-E64AA7AAC9D7}"/>
              </a:ext>
            </a:extLst>
          </p:cNvPr>
          <p:cNvSpPr>
            <a:spLocks noGrp="1"/>
          </p:cNvSpPr>
          <p:nvPr/>
        </p:nvSpPr>
        <p:spPr>
          <a:xfrm>
            <a:off x="7620000" y="5200650"/>
            <a:ext cx="3505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112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A solução apoia estudos e operação sem substituir modelos oficiais, procedimentos ou a decisão do Operador.</a:t>
            </a:r>
          </a:p>
        </p:txBody>
      </p:sp>
    </p:spTree>
    <p:extLst>
      <p:ext uri="{BB962C8B-B14F-4D97-AF65-F5344CB8AC3E}">
        <p14:creationId xmlns:p14="http://schemas.microsoft.com/office/powerpoint/2010/main" val="1841404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tângulo 47">
            <a:extLst>
              <a:ext uri="{FF2B5EF4-FFF2-40B4-BE49-F238E27FC236}">
                <a16:creationId xmlns:a16="http://schemas.microsoft.com/office/drawing/2014/main" id="{08ACFC5D-E73C-45F7-B93F-981578248A51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EIXO 1 · REPRESENTAÇÃO DA CARGA E DA MMGD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71BDBA9-04E0-4AC7-BCEA-DB9339C8A42E}"/>
              </a:ext>
            </a:extLst>
          </p:cNvPr>
          <p:cNvSpPr>
            <a:spLocks noGrp="1"/>
          </p:cNvSpPr>
          <p:nvPr/>
        </p:nvSpPr>
        <p:spPr>
          <a:xfrm>
            <a:off x="628650" y="666750"/>
            <a:ext cx="1038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28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Da série histórica ao Composite Load Model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5C09ABCF-28D4-4F8A-A172-B8946EB9431E}"/>
              </a:ext>
            </a:extLst>
          </p:cNvPr>
          <p:cNvSpPr>
            <a:spLocks noGrp="1"/>
          </p:cNvSpPr>
          <p:nvPr/>
        </p:nvSpPr>
        <p:spPr>
          <a:xfrm>
            <a:off x="628650" y="1323975"/>
            <a:ext cx="10934700" cy="0"/>
          </a:xfrm>
          <a:prstGeom prst="line">
            <a:avLst/>
          </a:prstGeom>
          <a:noFill/>
          <a:ln w="12383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A0366AA-1AB4-4DFC-BC2F-EFF59C5C7617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776C539-F8A7-4A28-906D-2A5570CBEE7A}"/>
              </a:ext>
            </a:extLst>
          </p:cNvPr>
          <p:cNvSpPr>
            <a:spLocks noGrp="1"/>
          </p:cNvSpPr>
          <p:nvPr/>
        </p:nvSpPr>
        <p:spPr>
          <a:xfrm>
            <a:off x="628650" y="1457325"/>
            <a:ext cx="10715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3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Uma cadeia de evidências transforma medições em insumos qualificados para os modelos empregados nos estudos do SIN.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1ACE5ED-DD5D-48B4-8EAC-C183C76F681E}"/>
              </a:ext>
            </a:extLst>
          </p:cNvPr>
          <p:cNvSpPr>
            <a:spLocks noGrp="1"/>
          </p:cNvSpPr>
          <p:nvPr/>
        </p:nvSpPr>
        <p:spPr>
          <a:xfrm>
            <a:off x="628650" y="1971675"/>
            <a:ext cx="1981200" cy="1352550"/>
          </a:xfrm>
          <a:prstGeom prst="roundRect">
            <a:avLst>
              <a:gd name="adj" fmla="val 12676"/>
            </a:avLst>
          </a:prstGeom>
          <a:solidFill>
            <a:srgbClr val="FFFFFF"/>
          </a:solidFill>
          <a:ln w="12383">
            <a:solidFill>
              <a:srgbClr val="123C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B0A899E-639C-4440-858C-BD2630F34348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323850" cy="323850"/>
          </a:xfrm>
          <a:prstGeom prst="ellipse">
            <a:avLst/>
          </a:prstGeom>
          <a:solidFill>
            <a:srgbClr val="123C67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CBC135A-09C5-4F21-94AC-4312FD5B2314}"/>
              </a:ext>
            </a:extLst>
          </p:cNvPr>
          <p:cNvSpPr>
            <a:spLocks noGrp="1"/>
          </p:cNvSpPr>
          <p:nvPr/>
        </p:nvSpPr>
        <p:spPr>
          <a:xfrm>
            <a:off x="781050" y="21717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53776CC-1681-4354-BE38-07E06C09EDAE}"/>
              </a:ext>
            </a:extLst>
          </p:cNvPr>
          <p:cNvSpPr>
            <a:spLocks noGrp="1"/>
          </p:cNvSpPr>
          <p:nvPr/>
        </p:nvSpPr>
        <p:spPr>
          <a:xfrm>
            <a:off x="857250" y="2505075"/>
            <a:ext cx="1524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Séries históricas</a:t>
            </a:r>
          </a:p>
          <a:p>
            <a:pPr algn="ctr">
              <a:lnSpc>
                <a:spcPct val="104000"/>
              </a:lnSpc>
              <a:buNone/>
              <a:def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e medições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B346979-E1ED-4AA7-A28A-895038577729}"/>
              </a:ext>
            </a:extLst>
          </p:cNvPr>
          <p:cNvSpPr>
            <a:spLocks noGrp="1"/>
          </p:cNvSpPr>
          <p:nvPr/>
        </p:nvSpPr>
        <p:spPr>
          <a:xfrm>
            <a:off x="838200" y="3000375"/>
            <a:ext cx="1562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ONS + fronteira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1120D946-9757-480E-A2AC-011B7343B8F2}"/>
              </a:ext>
            </a:extLst>
          </p:cNvPr>
          <p:cNvSpPr>
            <a:spLocks noGrp="1"/>
          </p:cNvSpPr>
          <p:nvPr/>
        </p:nvSpPr>
        <p:spPr>
          <a:xfrm>
            <a:off x="2819400" y="1971675"/>
            <a:ext cx="1981200" cy="1352550"/>
          </a:xfrm>
          <a:prstGeom prst="roundRect">
            <a:avLst>
              <a:gd name="adj" fmla="val 12676"/>
            </a:avLst>
          </a:prstGeom>
          <a:solidFill>
            <a:srgbClr val="FFFFFF"/>
          </a:solidFill>
          <a:ln w="12383">
            <a:solidFill>
              <a:srgbClr val="0E8B7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A1D1063F-2AC6-47B5-8289-B88E8D9E0730}"/>
              </a:ext>
            </a:extLst>
          </p:cNvPr>
          <p:cNvSpPr>
            <a:spLocks noGrp="1"/>
          </p:cNvSpPr>
          <p:nvPr/>
        </p:nvSpPr>
        <p:spPr>
          <a:xfrm>
            <a:off x="2971800" y="2114550"/>
            <a:ext cx="323850" cy="323850"/>
          </a:xfrm>
          <a:prstGeom prst="ellipse">
            <a:avLst/>
          </a:prstGeom>
          <a:solidFill>
            <a:srgbClr val="0E8B7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3D82FA8-3783-44E4-8F2A-C9E18A6F6043}"/>
              </a:ext>
            </a:extLst>
          </p:cNvPr>
          <p:cNvSpPr>
            <a:spLocks noGrp="1"/>
          </p:cNvSpPr>
          <p:nvPr/>
        </p:nvSpPr>
        <p:spPr>
          <a:xfrm>
            <a:off x="2971800" y="21717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517D01A-ED0F-488E-9ECE-E41090C250FB}"/>
              </a:ext>
            </a:extLst>
          </p:cNvPr>
          <p:cNvSpPr>
            <a:spLocks noGrp="1"/>
          </p:cNvSpPr>
          <p:nvPr/>
        </p:nvSpPr>
        <p:spPr>
          <a:xfrm>
            <a:off x="3048000" y="2505075"/>
            <a:ext cx="1524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Caracterização</a:t>
            </a:r>
          </a:p>
          <a:p>
            <a:pPr algn="ctr">
              <a:lnSpc>
                <a:spcPct val="104000"/>
              </a:lnSpc>
              <a:buNone/>
              <a:def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de perfis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CC2E047-18DE-4245-B302-346C855B4340}"/>
              </a:ext>
            </a:extLst>
          </p:cNvPr>
          <p:cNvSpPr>
            <a:spLocks noGrp="1"/>
          </p:cNvSpPr>
          <p:nvPr/>
        </p:nvSpPr>
        <p:spPr>
          <a:xfrm>
            <a:off x="3028950" y="3000375"/>
            <a:ext cx="1562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consumo + GD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0BA1243B-E1F4-4466-9972-F5046A93A03A}"/>
              </a:ext>
            </a:extLst>
          </p:cNvPr>
          <p:cNvSpPr>
            <a:spLocks noGrp="1"/>
          </p:cNvSpPr>
          <p:nvPr/>
        </p:nvSpPr>
        <p:spPr>
          <a:xfrm>
            <a:off x="5010150" y="1971675"/>
            <a:ext cx="1981200" cy="1352550"/>
          </a:xfrm>
          <a:prstGeom prst="roundRect">
            <a:avLst>
              <a:gd name="adj" fmla="val 12676"/>
            </a:avLst>
          </a:prstGeom>
          <a:solidFill>
            <a:srgbClr val="FFFFFF"/>
          </a:solidFill>
          <a:ln w="12383">
            <a:solidFill>
              <a:srgbClr val="3554A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1BD8EA74-4E02-4203-887B-6B729291BA53}"/>
              </a:ext>
            </a:extLst>
          </p:cNvPr>
          <p:cNvSpPr>
            <a:spLocks noGrp="1"/>
          </p:cNvSpPr>
          <p:nvPr/>
        </p:nvSpPr>
        <p:spPr>
          <a:xfrm>
            <a:off x="5162550" y="2114550"/>
            <a:ext cx="323850" cy="323850"/>
          </a:xfrm>
          <a:prstGeom prst="ellipse">
            <a:avLst/>
          </a:prstGeom>
          <a:solidFill>
            <a:srgbClr val="3554A4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36F673F7-6DB0-4AAE-841F-E057E8166DE4}"/>
              </a:ext>
            </a:extLst>
          </p:cNvPr>
          <p:cNvSpPr>
            <a:spLocks noGrp="1"/>
          </p:cNvSpPr>
          <p:nvPr/>
        </p:nvSpPr>
        <p:spPr>
          <a:xfrm>
            <a:off x="5162550" y="21717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C8F30EE-F4B8-4EBB-B7CE-3F32059B31AE}"/>
              </a:ext>
            </a:extLst>
          </p:cNvPr>
          <p:cNvSpPr>
            <a:spLocks noGrp="1"/>
          </p:cNvSpPr>
          <p:nvPr/>
        </p:nvSpPr>
        <p:spPr>
          <a:xfrm>
            <a:off x="5238750" y="2505075"/>
            <a:ext cx="1524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366" lnSpcReduction="20000"/>
          </a:bodyPr>
          <a:lstStyle/>
          <a:p>
            <a:pPr algn="ctr">
              <a:lnSpc>
                <a:spcPct val="104000"/>
              </a:lnSpc>
              <a:buNone/>
              <a:def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Parametrizar, validar</a:t>
            </a:r>
          </a:p>
          <a:p>
            <a:pPr algn="ctr">
              <a:lnSpc>
                <a:spcPct val="104000"/>
              </a:lnSpc>
              <a:buNone/>
              <a:def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e calibrar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1FA4BA8C-80E0-4D6F-A475-C07D44928E3B}"/>
              </a:ext>
            </a:extLst>
          </p:cNvPr>
          <p:cNvSpPr>
            <a:spLocks noGrp="1"/>
          </p:cNvSpPr>
          <p:nvPr/>
        </p:nvSpPr>
        <p:spPr>
          <a:xfrm>
            <a:off x="5219700" y="3000375"/>
            <a:ext cx="1562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dados verificados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BA36172-7C75-4F88-8FF0-3BC63B60EC6D}"/>
              </a:ext>
            </a:extLst>
          </p:cNvPr>
          <p:cNvSpPr>
            <a:spLocks noGrp="1"/>
          </p:cNvSpPr>
          <p:nvPr/>
        </p:nvSpPr>
        <p:spPr>
          <a:xfrm>
            <a:off x="7200900" y="1971675"/>
            <a:ext cx="1981200" cy="1352550"/>
          </a:xfrm>
          <a:prstGeom prst="roundRect">
            <a:avLst>
              <a:gd name="adj" fmla="val 12676"/>
            </a:avLst>
          </a:prstGeom>
          <a:solidFill>
            <a:srgbClr val="FFFFFF"/>
          </a:solidFill>
          <a:ln w="12383">
            <a:solidFill>
              <a:srgbClr val="D8690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43104BFA-6B7B-4D05-8EED-A5D2503A4C5F}"/>
              </a:ext>
            </a:extLst>
          </p:cNvPr>
          <p:cNvSpPr>
            <a:spLocks noGrp="1"/>
          </p:cNvSpPr>
          <p:nvPr/>
        </p:nvSpPr>
        <p:spPr>
          <a:xfrm>
            <a:off x="7353300" y="2114550"/>
            <a:ext cx="323850" cy="323850"/>
          </a:xfrm>
          <a:prstGeom prst="ellipse">
            <a:avLst/>
          </a:prstGeom>
          <a:solidFill>
            <a:srgbClr val="D8690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0652BBE5-7EA0-4220-883A-D3CF5FDEA0A0}"/>
              </a:ext>
            </a:extLst>
          </p:cNvPr>
          <p:cNvSpPr>
            <a:spLocks noGrp="1"/>
          </p:cNvSpPr>
          <p:nvPr/>
        </p:nvSpPr>
        <p:spPr>
          <a:xfrm>
            <a:off x="7353300" y="21717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ED1B1356-0965-464F-B016-C74106143472}"/>
              </a:ext>
            </a:extLst>
          </p:cNvPr>
          <p:cNvSpPr>
            <a:spLocks noGrp="1"/>
          </p:cNvSpPr>
          <p:nvPr/>
        </p:nvSpPr>
        <p:spPr>
          <a:xfrm>
            <a:off x="7429500" y="2505075"/>
            <a:ext cx="1524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966"/>
          </a:bodyPr>
          <a:lstStyle/>
          <a:p>
            <a:pPr algn="ctr">
              <a:lnSpc>
                <a:spcPct val="104000"/>
              </a:lnSpc>
              <a:buNone/>
              <a:def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Modelos dinâmicos</a:t>
            </a:r>
          </a:p>
          <a:p>
            <a:pPr algn="ctr">
              <a:lnSpc>
                <a:spcPct val="104000"/>
              </a:lnSpc>
              <a:buNone/>
              <a:def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equivalentes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CE9BA156-C74D-4EA3-B52C-969711E42499}"/>
              </a:ext>
            </a:extLst>
          </p:cNvPr>
          <p:cNvSpPr>
            <a:spLocks noGrp="1"/>
          </p:cNvSpPr>
          <p:nvPr/>
        </p:nvSpPr>
        <p:spPr>
          <a:xfrm>
            <a:off x="7410450" y="3000375"/>
            <a:ext cx="1562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carga + MMGD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CE40E477-DE3E-43FB-A607-D7BDA7CF7A73}"/>
              </a:ext>
            </a:extLst>
          </p:cNvPr>
          <p:cNvSpPr>
            <a:spLocks noGrp="1"/>
          </p:cNvSpPr>
          <p:nvPr/>
        </p:nvSpPr>
        <p:spPr>
          <a:xfrm>
            <a:off x="9391650" y="1971675"/>
            <a:ext cx="1981200" cy="1352550"/>
          </a:xfrm>
          <a:prstGeom prst="roundRect">
            <a:avLst>
              <a:gd name="adj" fmla="val 12676"/>
            </a:avLst>
          </a:prstGeom>
          <a:solidFill>
            <a:srgbClr val="FFFFFF"/>
          </a:solidFill>
          <a:ln w="12383">
            <a:solidFill>
              <a:srgbClr val="2E9E5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EBB4274F-1F24-4C14-BF24-2E7671EAEAC9}"/>
              </a:ext>
            </a:extLst>
          </p:cNvPr>
          <p:cNvSpPr>
            <a:spLocks noGrp="1"/>
          </p:cNvSpPr>
          <p:nvPr/>
        </p:nvSpPr>
        <p:spPr>
          <a:xfrm>
            <a:off x="9544050" y="2114550"/>
            <a:ext cx="323850" cy="323850"/>
          </a:xfrm>
          <a:prstGeom prst="ellipse">
            <a:avLst/>
          </a:prstGeom>
          <a:solidFill>
            <a:srgbClr val="2E9E5B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074E2F5B-616F-49F3-AE9A-1D7B66819F8D}"/>
              </a:ext>
            </a:extLst>
          </p:cNvPr>
          <p:cNvSpPr>
            <a:spLocks noGrp="1"/>
          </p:cNvSpPr>
          <p:nvPr/>
        </p:nvSpPr>
        <p:spPr>
          <a:xfrm>
            <a:off x="9544050" y="21717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2EF4D667-A41E-4E3E-8AFD-44C12FF38396}"/>
              </a:ext>
            </a:extLst>
          </p:cNvPr>
          <p:cNvSpPr>
            <a:spLocks noGrp="1"/>
          </p:cNvSpPr>
          <p:nvPr/>
        </p:nvSpPr>
        <p:spPr>
          <a:xfrm>
            <a:off x="9620250" y="2505075"/>
            <a:ext cx="15240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Estudos</a:t>
            </a:r>
          </a:p>
          <a:p>
            <a:pPr algn="ctr">
              <a:lnSpc>
                <a:spcPct val="104000"/>
              </a:lnSpc>
              <a:buNone/>
              <a:def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elétricos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91D72067-5F4D-4471-A58D-D692039F4FF0}"/>
              </a:ext>
            </a:extLst>
          </p:cNvPr>
          <p:cNvSpPr>
            <a:spLocks noGrp="1"/>
          </p:cNvSpPr>
          <p:nvPr/>
        </p:nvSpPr>
        <p:spPr>
          <a:xfrm>
            <a:off x="9601200" y="3000375"/>
            <a:ext cx="15621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estabilidade do SIN</a:t>
            </a:r>
          </a:p>
        </p:txBody>
      </p:sp>
      <p:cxnSp>
        <p:nvCxnSpPr>
          <p:cNvPr id="78" name="Conector de Seta Reta 77"/>
          <p:cNvCxnSpPr>
            <a:stCxn id="6" idx="3"/>
            <a:endCxn id="11" idx="1"/>
          </p:cNvCxnSpPr>
          <p:nvPr/>
        </p:nvCxnSpPr>
        <p:spPr>
          <a:xfrm>
            <a:off x="2609850" y="2647950"/>
            <a:ext cx="209550" cy="0"/>
          </a:xfrm>
          <a:prstGeom prst="straightConnector1">
            <a:avLst/>
          </a:prstGeom>
          <a:ln w="19050">
            <a:solidFill>
              <a:srgbClr val="123C67"/>
            </a:solidFill>
            <a:prstDash val="solid"/>
            <a:tailEnd type="arrow" w="sm" len="sm"/>
          </a:ln>
        </p:spPr>
      </p:cxnSp>
      <p:cxnSp>
        <p:nvCxnSpPr>
          <p:cNvPr id="79" name="Conector de Seta Reta 78"/>
          <p:cNvCxnSpPr>
            <a:stCxn id="11" idx="3"/>
            <a:endCxn id="16" idx="1"/>
          </p:cNvCxnSpPr>
          <p:nvPr/>
        </p:nvCxnSpPr>
        <p:spPr>
          <a:xfrm>
            <a:off x="4800600" y="2647950"/>
            <a:ext cx="209550" cy="0"/>
          </a:xfrm>
          <a:prstGeom prst="straightConnector1">
            <a:avLst/>
          </a:prstGeom>
          <a:ln w="19050">
            <a:solidFill>
              <a:srgbClr val="123C67"/>
            </a:solidFill>
            <a:prstDash val="solid"/>
            <a:tailEnd type="arrow" w="sm" len="sm"/>
          </a:ln>
        </p:spPr>
      </p:cxnSp>
      <p:cxnSp>
        <p:nvCxnSpPr>
          <p:cNvPr id="80" name="Conector de Seta Reta 79"/>
          <p:cNvCxnSpPr>
            <a:stCxn id="16" idx="3"/>
            <a:endCxn id="21" idx="1"/>
          </p:cNvCxnSpPr>
          <p:nvPr/>
        </p:nvCxnSpPr>
        <p:spPr>
          <a:xfrm>
            <a:off x="6991350" y="2647950"/>
            <a:ext cx="209550" cy="0"/>
          </a:xfrm>
          <a:prstGeom prst="straightConnector1">
            <a:avLst/>
          </a:prstGeom>
          <a:ln w="19050">
            <a:solidFill>
              <a:srgbClr val="123C67"/>
            </a:solidFill>
            <a:prstDash val="solid"/>
            <a:tailEnd type="arrow" w="sm" len="sm"/>
          </a:ln>
        </p:spPr>
      </p:cxnSp>
      <p:cxnSp>
        <p:nvCxnSpPr>
          <p:cNvPr id="81" name="Conector de Seta Reta 80"/>
          <p:cNvCxnSpPr>
            <a:stCxn id="21" idx="3"/>
            <a:endCxn id="26" idx="1"/>
          </p:cNvCxnSpPr>
          <p:nvPr/>
        </p:nvCxnSpPr>
        <p:spPr>
          <a:xfrm>
            <a:off x="9182100" y="2647950"/>
            <a:ext cx="209550" cy="0"/>
          </a:xfrm>
          <a:prstGeom prst="straightConnector1">
            <a:avLst/>
          </a:prstGeom>
          <a:ln w="19050">
            <a:solidFill>
              <a:srgbClr val="123C67"/>
            </a:solidFill>
            <a:prstDash val="solid"/>
            <a:tailEnd type="arrow" w="sm" len="sm"/>
          </a:ln>
        </p:spPr>
      </p:cxn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93819867-DEAD-4B5B-B2D1-7F82A9A502CE}"/>
              </a:ext>
            </a:extLst>
          </p:cNvPr>
          <p:cNvSpPr>
            <a:spLocks noGrp="1"/>
          </p:cNvSpPr>
          <p:nvPr/>
        </p:nvSpPr>
        <p:spPr>
          <a:xfrm>
            <a:off x="628650" y="3638550"/>
            <a:ext cx="10934700" cy="971550"/>
          </a:xfrm>
          <a:prstGeom prst="roundRect">
            <a:avLst>
              <a:gd name="adj" fmla="val 17647"/>
            </a:avLst>
          </a:prstGeom>
          <a:solidFill>
            <a:srgbClr val="E6F5F2"/>
          </a:solidFill>
          <a:ln w="9525">
            <a:solidFill>
              <a:srgbClr val="C9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60D010B3-543E-44D7-AA33-B41049D7A437}"/>
              </a:ext>
            </a:extLst>
          </p:cNvPr>
          <p:cNvSpPr>
            <a:spLocks noGrp="1"/>
          </p:cNvSpPr>
          <p:nvPr/>
        </p:nvSpPr>
        <p:spPr>
          <a:xfrm>
            <a:off x="628650" y="3638550"/>
            <a:ext cx="76200" cy="971550"/>
          </a:xfrm>
          <a:prstGeom prst="roundRect">
            <a:avLst>
              <a:gd name="adj" fmla="val 50000"/>
            </a:avLst>
          </a:prstGeom>
          <a:solidFill>
            <a:srgbClr val="0E8B7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4CB0B145-105C-4609-8A77-6F7988E33C51}"/>
              </a:ext>
            </a:extLst>
          </p:cNvPr>
          <p:cNvSpPr>
            <a:spLocks noGrp="1"/>
          </p:cNvSpPr>
          <p:nvPr/>
        </p:nvSpPr>
        <p:spPr>
          <a:xfrm>
            <a:off x="857250" y="3781425"/>
            <a:ext cx="10496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3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Composite Load Model (CLM)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B2F38C92-EBF8-4991-B13F-3F76AF03456B}"/>
              </a:ext>
            </a:extLst>
          </p:cNvPr>
          <p:cNvSpPr>
            <a:spLocks noGrp="1"/>
          </p:cNvSpPr>
          <p:nvPr/>
        </p:nvSpPr>
        <p:spPr>
          <a:xfrm>
            <a:off x="857250" y="4105275"/>
            <a:ext cx="104965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469" lnSpcReduction="10000"/>
          </a:bodyPr>
          <a:lstStyle/>
          <a:p>
            <a:pPr algn="l">
              <a:lnSpc>
                <a:spcPct val="112000"/>
              </a:lnSpc>
              <a:buNone/>
              <a:defRPr sz="116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16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Os perfis observados subsidiam a parametrização e o aperfeiçoamento da representação equivalente, reduzindo incertezas e aumentando a precisão dos estudos elétricos.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7E2B0ED4-C1AC-476C-8281-F288131974C1}"/>
              </a:ext>
            </a:extLst>
          </p:cNvPr>
          <p:cNvSpPr>
            <a:spLocks noGrp="1"/>
          </p:cNvSpPr>
          <p:nvPr/>
        </p:nvSpPr>
        <p:spPr>
          <a:xfrm>
            <a:off x="628650" y="4876800"/>
            <a:ext cx="5219700" cy="12001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538F19F2-7B6D-4FF6-9B86-9FFB1D9E86D2}"/>
              </a:ext>
            </a:extLst>
          </p:cNvPr>
          <p:cNvSpPr>
            <a:spLocks noGrp="1"/>
          </p:cNvSpPr>
          <p:nvPr/>
        </p:nvSpPr>
        <p:spPr>
          <a:xfrm>
            <a:off x="628650" y="4876800"/>
            <a:ext cx="76200" cy="1200150"/>
          </a:xfrm>
          <a:prstGeom prst="roundRect">
            <a:avLst>
              <a:gd name="adj" fmla="val 50000"/>
            </a:avLst>
          </a:prstGeom>
          <a:solidFill>
            <a:srgbClr val="58D6A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DA365F99-4B5F-4DAC-AF25-6031B9C64318}"/>
              </a:ext>
            </a:extLst>
          </p:cNvPr>
          <p:cNvSpPr>
            <a:spLocks noGrp="1"/>
          </p:cNvSpPr>
          <p:nvPr/>
        </p:nvSpPr>
        <p:spPr>
          <a:xfrm>
            <a:off x="857250" y="5019675"/>
            <a:ext cx="4781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3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ENTREGA QUALIFICADA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9E927848-5BED-4791-8892-918FE4F2B4B9}"/>
              </a:ext>
            </a:extLst>
          </p:cNvPr>
          <p:cNvSpPr>
            <a:spLocks noGrp="1"/>
          </p:cNvSpPr>
          <p:nvPr/>
        </p:nvSpPr>
        <p:spPr>
          <a:xfrm>
            <a:off x="857250" y="5334000"/>
            <a:ext cx="4781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07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07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Perfis representativos por mancha e área de concessão; validação contra bases verificadas; calibração espacial; cenários com elevada penetração de GD.</a:t>
            </a:r>
          </a:p>
        </p:txBody>
      </p:sp>
      <p:sp>
        <p:nvSpPr>
          <p:cNvPr id="43" name="Retângulo: Cantos Arredondados 42">
            <a:extLst>
              <a:ext uri="{FF2B5EF4-FFF2-40B4-BE49-F238E27FC236}">
                <a16:creationId xmlns:a16="http://schemas.microsoft.com/office/drawing/2014/main" id="{D9BC87FE-6B47-4F63-8AF8-673836C3EF0E}"/>
              </a:ext>
            </a:extLst>
          </p:cNvPr>
          <p:cNvSpPr>
            <a:spLocks noGrp="1"/>
          </p:cNvSpPr>
          <p:nvPr/>
        </p:nvSpPr>
        <p:spPr>
          <a:xfrm>
            <a:off x="6343650" y="4876800"/>
            <a:ext cx="5219700" cy="1200150"/>
          </a:xfrm>
          <a:prstGeom prst="roundRect">
            <a:avLst>
              <a:gd name="adj" fmla="val 14286"/>
            </a:avLst>
          </a:prstGeom>
          <a:solidFill>
            <a:srgbClr val="FFF4F4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669F76BD-C6F7-4127-AC72-85E9ADEBD7C6}"/>
              </a:ext>
            </a:extLst>
          </p:cNvPr>
          <p:cNvSpPr>
            <a:spLocks noGrp="1"/>
          </p:cNvSpPr>
          <p:nvPr/>
        </p:nvSpPr>
        <p:spPr>
          <a:xfrm>
            <a:off x="6343650" y="4876800"/>
            <a:ext cx="76200" cy="1200150"/>
          </a:xfrm>
          <a:prstGeom prst="roundRect">
            <a:avLst>
              <a:gd name="adj" fmla="val 50000"/>
            </a:avLst>
          </a:prstGeom>
          <a:solidFill>
            <a:srgbClr val="E85C5C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4938A309-A9A7-4C66-953E-05A54FBE4465}"/>
              </a:ext>
            </a:extLst>
          </p:cNvPr>
          <p:cNvSpPr>
            <a:spLocks noGrp="1"/>
          </p:cNvSpPr>
          <p:nvPr/>
        </p:nvSpPr>
        <p:spPr>
          <a:xfrm>
            <a:off x="6572250" y="5019675"/>
            <a:ext cx="4781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3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LIMITE DECLARADO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38C1B546-C03D-485B-B0B2-87A3CACBBE34}"/>
              </a:ext>
            </a:extLst>
          </p:cNvPr>
          <p:cNvSpPr>
            <a:spLocks noGrp="1"/>
          </p:cNvSpPr>
          <p:nvPr/>
        </p:nvSpPr>
        <p:spPr>
          <a:xfrm>
            <a:off x="6572250" y="5334000"/>
            <a:ext cx="4781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2000"/>
              </a:lnSpc>
              <a:buNone/>
              <a:defRPr sz="107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073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A solução não executa fluxo de potência nem estudos de estabilidade. Entrega insumos consistentes para os modelos oficiais e para os especialistas do ONS.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B41A7612-E117-4F81-8C73-F7ECA193867B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10934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Referência técnica: WECC — Composite Load Model Specification. Aplicação proposta: estudos de estabilidade eletromecânica do SIN.</a:t>
            </a:r>
          </a:p>
        </p:txBody>
      </p:sp>
    </p:spTree>
    <p:extLst>
      <p:ext uri="{BB962C8B-B14F-4D97-AF65-F5344CB8AC3E}">
        <p14:creationId xmlns:p14="http://schemas.microsoft.com/office/powerpoint/2010/main" val="230654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 59">
            <a:extLst>
              <a:ext uri="{FF2B5EF4-FFF2-40B4-BE49-F238E27FC236}">
                <a16:creationId xmlns:a16="http://schemas.microsoft.com/office/drawing/2014/main" id="{DA3470A8-3752-47DE-A7D9-B6EEEA1A41A9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EXPERIÊNCIA DO OPERADOR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9E69FB9-A406-47FF-B8AC-0D6192551892}"/>
              </a:ext>
            </a:extLst>
          </p:cNvPr>
          <p:cNvSpPr>
            <a:spLocks noGrp="1"/>
          </p:cNvSpPr>
          <p:nvPr/>
        </p:nvSpPr>
        <p:spPr>
          <a:xfrm>
            <a:off x="628650" y="666750"/>
            <a:ext cx="1038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25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Uma visão acionável — por região, horizonte e causa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E7B4F38F-5FEB-4F88-8CB9-1127687CDBC3}"/>
              </a:ext>
            </a:extLst>
          </p:cNvPr>
          <p:cNvSpPr>
            <a:spLocks noGrp="1"/>
          </p:cNvSpPr>
          <p:nvPr/>
        </p:nvSpPr>
        <p:spPr>
          <a:xfrm>
            <a:off x="628650" y="1323975"/>
            <a:ext cx="10934700" cy="0"/>
          </a:xfrm>
          <a:prstGeom prst="line">
            <a:avLst/>
          </a:prstGeom>
          <a:noFill/>
          <a:ln w="12383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D151FA5-2E28-4FD4-A534-5078C5C6C2B1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7B56673-41E5-4E8E-A9B3-4CD33D9F8761}"/>
              </a:ext>
            </a:extLst>
          </p:cNvPr>
          <p:cNvSpPr>
            <a:spLocks noGrp="1"/>
          </p:cNvSpPr>
          <p:nvPr/>
        </p:nvSpPr>
        <p:spPr>
          <a:xfrm>
            <a:off x="628650" y="1504950"/>
            <a:ext cx="10934700" cy="4705350"/>
          </a:xfrm>
          <a:prstGeom prst="roundRect">
            <a:avLst>
              <a:gd name="adj" fmla="val 4453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6EA92FB-4C69-48B0-A76C-10A0E01BD491}"/>
              </a:ext>
            </a:extLst>
          </p:cNvPr>
          <p:cNvSpPr>
            <a:spLocks noGrp="1"/>
          </p:cNvSpPr>
          <p:nvPr/>
        </p:nvSpPr>
        <p:spPr>
          <a:xfrm>
            <a:off x="628650" y="1504950"/>
            <a:ext cx="10934700" cy="533400"/>
          </a:xfrm>
          <a:prstGeom prst="roundRect">
            <a:avLst>
              <a:gd name="adj" fmla="val 39286"/>
            </a:avLst>
          </a:prstGeom>
          <a:solidFill>
            <a:srgbClr val="061B33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B388388-1F6D-4AB4-8B75-D1D6D242380A}"/>
              </a:ext>
            </a:extLst>
          </p:cNvPr>
          <p:cNvSpPr>
            <a:spLocks noGrp="1"/>
          </p:cNvSpPr>
          <p:nvPr/>
        </p:nvSpPr>
        <p:spPr>
          <a:xfrm>
            <a:off x="876300" y="1628775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27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O.R.A.C.U.L.O. · Visão operativa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31A6FCD-09A2-4BD1-876A-EDA488EEB771}"/>
              </a:ext>
            </a:extLst>
          </p:cNvPr>
          <p:cNvSpPr>
            <a:spLocks noGrp="1"/>
          </p:cNvSpPr>
          <p:nvPr/>
        </p:nvSpPr>
        <p:spPr>
          <a:xfrm>
            <a:off x="8134350" y="1619250"/>
            <a:ext cx="1485900" cy="323850"/>
          </a:xfrm>
          <a:prstGeom prst="roundRect">
            <a:avLst>
              <a:gd name="adj" fmla="val 50000"/>
            </a:avLst>
          </a:prstGeom>
          <a:solidFill>
            <a:srgbClr val="123C67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CONCEITUAL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83323C3-06B8-40D4-ADC1-5079F7E6010A}"/>
              </a:ext>
            </a:extLst>
          </p:cNvPr>
          <p:cNvSpPr>
            <a:spLocks noGrp="1"/>
          </p:cNvSpPr>
          <p:nvPr/>
        </p:nvSpPr>
        <p:spPr>
          <a:xfrm>
            <a:off x="9810750" y="16192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22C7F2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H+1 → H+6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0F89C87-649E-471D-A8FB-5E1ED76CAD8F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2457450" cy="742950"/>
          </a:xfrm>
          <a:prstGeom prst="roundRect">
            <a:avLst>
              <a:gd name="adj" fmla="val 17949"/>
            </a:avLst>
          </a:prstGeom>
          <a:solidFill>
            <a:srgbClr val="F5F9FC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A076EF9-CC54-4F7E-863E-DFF503A0BBEE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66675" cy="742950"/>
          </a:xfrm>
          <a:prstGeom prst="roundRect">
            <a:avLst>
              <a:gd name="adj" fmla="val 42857"/>
            </a:avLst>
          </a:prstGeom>
          <a:solidFill>
            <a:srgbClr val="22C7F2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F8812F5C-D552-473B-9907-D43CA2354620}"/>
              </a:ext>
            </a:extLst>
          </p:cNvPr>
          <p:cNvSpPr>
            <a:spLocks noGrp="1"/>
          </p:cNvSpPr>
          <p:nvPr/>
        </p:nvSpPr>
        <p:spPr>
          <a:xfrm>
            <a:off x="1085850" y="2381250"/>
            <a:ext cx="20764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Carga supervisionada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7E9BD78-06ED-4CCF-A5D1-24CF4073CEF8}"/>
              </a:ext>
            </a:extLst>
          </p:cNvPr>
          <p:cNvSpPr>
            <a:spLocks noGrp="1"/>
          </p:cNvSpPr>
          <p:nvPr/>
        </p:nvSpPr>
        <p:spPr>
          <a:xfrm>
            <a:off x="1085850" y="2647950"/>
            <a:ext cx="2076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previsão por distribuidora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3040C0AE-FBF7-4D80-90E5-3E3219283707}"/>
              </a:ext>
            </a:extLst>
          </p:cNvPr>
          <p:cNvSpPr>
            <a:spLocks noGrp="1"/>
          </p:cNvSpPr>
          <p:nvPr/>
        </p:nvSpPr>
        <p:spPr>
          <a:xfrm>
            <a:off x="3638550" y="2247900"/>
            <a:ext cx="2457450" cy="742950"/>
          </a:xfrm>
          <a:prstGeom prst="roundRect">
            <a:avLst>
              <a:gd name="adj" fmla="val 17949"/>
            </a:avLst>
          </a:prstGeom>
          <a:solidFill>
            <a:srgbClr val="F5F9FC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7437E50-9976-44C0-9B1E-51071993B4EA}"/>
              </a:ext>
            </a:extLst>
          </p:cNvPr>
          <p:cNvSpPr>
            <a:spLocks noGrp="1"/>
          </p:cNvSpPr>
          <p:nvPr/>
        </p:nvSpPr>
        <p:spPr>
          <a:xfrm>
            <a:off x="3638550" y="2247900"/>
            <a:ext cx="66675" cy="742950"/>
          </a:xfrm>
          <a:prstGeom prst="roundRect">
            <a:avLst>
              <a:gd name="adj" fmla="val 42857"/>
            </a:avLst>
          </a:prstGeom>
          <a:solidFill>
            <a:srgbClr val="58D6A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21D2AB33-900B-4A4C-AEBC-867F8CF621B9}"/>
              </a:ext>
            </a:extLst>
          </p:cNvPr>
          <p:cNvSpPr>
            <a:spLocks noGrp="1"/>
          </p:cNvSpPr>
          <p:nvPr/>
        </p:nvSpPr>
        <p:spPr>
          <a:xfrm>
            <a:off x="3848100" y="2381250"/>
            <a:ext cx="20764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Geração MMGD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372040C-C00D-40FF-85DD-4DFA7815E2DD}"/>
              </a:ext>
            </a:extLst>
          </p:cNvPr>
          <p:cNvSpPr>
            <a:spLocks noGrp="1"/>
          </p:cNvSpPr>
          <p:nvPr/>
        </p:nvSpPr>
        <p:spPr>
          <a:xfrm>
            <a:off x="3848100" y="2647950"/>
            <a:ext cx="2076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estimativa por horizonte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4D79FD8-34D2-439E-B142-10071C4B527F}"/>
              </a:ext>
            </a:extLst>
          </p:cNvPr>
          <p:cNvSpPr>
            <a:spLocks noGrp="1"/>
          </p:cNvSpPr>
          <p:nvPr/>
        </p:nvSpPr>
        <p:spPr>
          <a:xfrm>
            <a:off x="6400800" y="2247900"/>
            <a:ext cx="2457450" cy="742950"/>
          </a:xfrm>
          <a:prstGeom prst="roundRect">
            <a:avLst>
              <a:gd name="adj" fmla="val 17949"/>
            </a:avLst>
          </a:prstGeom>
          <a:solidFill>
            <a:srgbClr val="F5F9FC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3529AEFC-4397-44E0-AFC9-96362E9A7C30}"/>
              </a:ext>
            </a:extLst>
          </p:cNvPr>
          <p:cNvSpPr>
            <a:spLocks noGrp="1"/>
          </p:cNvSpPr>
          <p:nvPr/>
        </p:nvSpPr>
        <p:spPr>
          <a:xfrm>
            <a:off x="6400800" y="2247900"/>
            <a:ext cx="66675" cy="742950"/>
          </a:xfrm>
          <a:prstGeom prst="roundRect">
            <a:avLst>
              <a:gd name="adj" fmla="val 42857"/>
            </a:avLst>
          </a:prstGeom>
          <a:solidFill>
            <a:srgbClr val="D8690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1B3D8CF-687D-4985-BAF5-2DC687B8CDCA}"/>
              </a:ext>
            </a:extLst>
          </p:cNvPr>
          <p:cNvSpPr>
            <a:spLocks noGrp="1"/>
          </p:cNvSpPr>
          <p:nvPr/>
        </p:nvSpPr>
        <p:spPr>
          <a:xfrm>
            <a:off x="6610350" y="2381250"/>
            <a:ext cx="20764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Risco energético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63E5FFBA-0C6E-4784-B968-37F5C5757727}"/>
              </a:ext>
            </a:extLst>
          </p:cNvPr>
          <p:cNvSpPr>
            <a:spLocks noGrp="1"/>
          </p:cNvSpPr>
          <p:nvPr/>
        </p:nvSpPr>
        <p:spPr>
          <a:xfrm>
            <a:off x="6610350" y="2647950"/>
            <a:ext cx="2076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3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probabilidade + severidade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9991189-C30B-42ED-A520-0557B26E4FEC}"/>
              </a:ext>
            </a:extLst>
          </p:cNvPr>
          <p:cNvSpPr>
            <a:spLocks noGrp="1"/>
          </p:cNvSpPr>
          <p:nvPr/>
        </p:nvSpPr>
        <p:spPr>
          <a:xfrm>
            <a:off x="9163050" y="2247900"/>
            <a:ext cx="2114550" cy="742950"/>
          </a:xfrm>
          <a:prstGeom prst="roundRect">
            <a:avLst>
              <a:gd name="adj" fmla="val 17949"/>
            </a:avLst>
          </a:prstGeom>
          <a:solidFill>
            <a:srgbClr val="FFF0E2"/>
          </a:solidFill>
          <a:ln w="11430">
            <a:solidFill>
              <a:srgbClr val="D8690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AFAB370-FD2B-42FA-9D45-B43014F572A7}"/>
              </a:ext>
            </a:extLst>
          </p:cNvPr>
          <p:cNvSpPr>
            <a:spLocks noGrp="1"/>
          </p:cNvSpPr>
          <p:nvPr/>
        </p:nvSpPr>
        <p:spPr>
          <a:xfrm>
            <a:off x="9353550" y="2362200"/>
            <a:ext cx="1733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975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D8690E"/>
                </a:solidFill>
                <a:latin typeface="DejaVu Sans"/>
                <a:ea typeface="DejaVu Sans"/>
                <a:cs typeface="DejaVu Sans"/>
              </a:rPr>
              <a:t>ALERTA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D03DCC64-9E72-424A-BD95-BAC2927569D6}"/>
              </a:ext>
            </a:extLst>
          </p:cNvPr>
          <p:cNvSpPr>
            <a:spLocks noGrp="1"/>
          </p:cNvSpPr>
          <p:nvPr/>
        </p:nvSpPr>
        <p:spPr>
          <a:xfrm>
            <a:off x="9353550" y="2581275"/>
            <a:ext cx="1733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54"/>
          </a:bodyPr>
          <a:lstStyle/>
          <a:p>
            <a:pPr algn="ctr">
              <a:lnSpc>
                <a:spcPct val="104000"/>
              </a:lnSpc>
              <a:buNone/>
              <a:def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excedente provável</a:t>
            </a:r>
          </a:p>
          <a:p>
            <a:pPr algn="ctr">
              <a:lnSpc>
                <a:spcPct val="104000"/>
              </a:lnSpc>
              <a:buNone/>
              <a:def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em Área A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E4E9E427-822F-4C10-B274-197D9B4F156B}"/>
              </a:ext>
            </a:extLst>
          </p:cNvPr>
          <p:cNvSpPr>
            <a:spLocks noGrp="1"/>
          </p:cNvSpPr>
          <p:nvPr/>
        </p:nvSpPr>
        <p:spPr>
          <a:xfrm>
            <a:off x="876300" y="3228975"/>
            <a:ext cx="6819900" cy="2609850"/>
          </a:xfrm>
          <a:prstGeom prst="roundRect">
            <a:avLst>
              <a:gd name="adj" fmla="val 5109"/>
            </a:avLst>
          </a:prstGeom>
          <a:solidFill>
            <a:srgbClr val="FBFDFF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4CB36D1-810C-4D38-8F1A-6F5D214CB13D}"/>
              </a:ext>
            </a:extLst>
          </p:cNvPr>
          <p:cNvSpPr>
            <a:spLocks noGrp="1"/>
          </p:cNvSpPr>
          <p:nvPr/>
        </p:nvSpPr>
        <p:spPr>
          <a:xfrm>
            <a:off x="1104900" y="3400425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Previsão de carga líquida e MMGD</a:t>
            </a:r>
          </a:p>
        </p:txBody>
      </p:sp>
      <p:sp>
        <p:nvSpPr>
          <p:cNvPr id="27" name="Conector reto 26">
            <a:extLst>
              <a:ext uri="{FF2B5EF4-FFF2-40B4-BE49-F238E27FC236}">
                <a16:creationId xmlns:a16="http://schemas.microsoft.com/office/drawing/2014/main" id="{D41796BF-A3D0-47B8-93DE-EF2C20E87F68}"/>
              </a:ext>
            </a:extLst>
          </p:cNvPr>
          <p:cNvSpPr>
            <a:spLocks noGrp="1"/>
          </p:cNvSpPr>
          <p:nvPr/>
        </p:nvSpPr>
        <p:spPr>
          <a:xfrm>
            <a:off x="1200150" y="3857625"/>
            <a:ext cx="6115050" cy="0"/>
          </a:xfrm>
          <a:prstGeom prst="line">
            <a:avLst/>
          </a:prstGeom>
          <a:noFill/>
          <a:ln w="9525">
            <a:solidFill>
              <a:srgbClr val="DCE7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Conector reto 27">
            <a:extLst>
              <a:ext uri="{FF2B5EF4-FFF2-40B4-BE49-F238E27FC236}">
                <a16:creationId xmlns:a16="http://schemas.microsoft.com/office/drawing/2014/main" id="{73C0A308-A403-4F05-B2A7-756D59DF4287}"/>
              </a:ext>
            </a:extLst>
          </p:cNvPr>
          <p:cNvSpPr>
            <a:spLocks noGrp="1"/>
          </p:cNvSpPr>
          <p:nvPr/>
        </p:nvSpPr>
        <p:spPr>
          <a:xfrm>
            <a:off x="1200150" y="4333875"/>
            <a:ext cx="6115050" cy="0"/>
          </a:xfrm>
          <a:prstGeom prst="line">
            <a:avLst/>
          </a:prstGeom>
          <a:noFill/>
          <a:ln w="9525">
            <a:solidFill>
              <a:srgbClr val="DCE7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Conector reto 28">
            <a:extLst>
              <a:ext uri="{FF2B5EF4-FFF2-40B4-BE49-F238E27FC236}">
                <a16:creationId xmlns:a16="http://schemas.microsoft.com/office/drawing/2014/main" id="{5DB2E9AC-68A8-449F-8A1F-FBBC122946EE}"/>
              </a:ext>
            </a:extLst>
          </p:cNvPr>
          <p:cNvSpPr>
            <a:spLocks noGrp="1"/>
          </p:cNvSpPr>
          <p:nvPr/>
        </p:nvSpPr>
        <p:spPr>
          <a:xfrm>
            <a:off x="1200150" y="4810125"/>
            <a:ext cx="6115050" cy="0"/>
          </a:xfrm>
          <a:prstGeom prst="line">
            <a:avLst/>
          </a:prstGeom>
          <a:noFill/>
          <a:ln w="9525">
            <a:solidFill>
              <a:srgbClr val="DCE7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Conector reto 29">
            <a:extLst>
              <a:ext uri="{FF2B5EF4-FFF2-40B4-BE49-F238E27FC236}">
                <a16:creationId xmlns:a16="http://schemas.microsoft.com/office/drawing/2014/main" id="{D7027143-C689-47DF-80D1-4B03EB6EDF9D}"/>
              </a:ext>
            </a:extLst>
          </p:cNvPr>
          <p:cNvSpPr>
            <a:spLocks noGrp="1"/>
          </p:cNvSpPr>
          <p:nvPr/>
        </p:nvSpPr>
        <p:spPr>
          <a:xfrm>
            <a:off x="1200150" y="5286375"/>
            <a:ext cx="6115050" cy="0"/>
          </a:xfrm>
          <a:prstGeom prst="line">
            <a:avLst/>
          </a:prstGeom>
          <a:noFill/>
          <a:ln w="9525">
            <a:solidFill>
              <a:srgbClr val="DCE7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Conector reto 30">
            <a:extLst>
              <a:ext uri="{FF2B5EF4-FFF2-40B4-BE49-F238E27FC236}">
                <a16:creationId xmlns:a16="http://schemas.microsoft.com/office/drawing/2014/main" id="{FA809578-0018-42C8-8CB7-574C42C64923}"/>
              </a:ext>
            </a:extLst>
          </p:cNvPr>
          <p:cNvSpPr>
            <a:spLocks noGrp="1"/>
          </p:cNvSpPr>
          <p:nvPr/>
        </p:nvSpPr>
        <p:spPr>
          <a:xfrm flipV="1">
            <a:off x="1238250" y="4972050"/>
            <a:ext cx="762000" cy="219075"/>
          </a:xfrm>
          <a:prstGeom prst="line">
            <a:avLst/>
          </a:prstGeom>
          <a:noFill/>
          <a:ln w="28575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Conector reto 31">
            <a:extLst>
              <a:ext uri="{FF2B5EF4-FFF2-40B4-BE49-F238E27FC236}">
                <a16:creationId xmlns:a16="http://schemas.microsoft.com/office/drawing/2014/main" id="{9884A320-CE46-4781-A386-F9CD0BD43BEB}"/>
              </a:ext>
            </a:extLst>
          </p:cNvPr>
          <p:cNvSpPr>
            <a:spLocks noGrp="1"/>
          </p:cNvSpPr>
          <p:nvPr/>
        </p:nvSpPr>
        <p:spPr>
          <a:xfrm flipV="1">
            <a:off x="2000250" y="4781550"/>
            <a:ext cx="762000" cy="190500"/>
          </a:xfrm>
          <a:prstGeom prst="line">
            <a:avLst/>
          </a:prstGeom>
          <a:noFill/>
          <a:ln w="28575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Conector reto 32">
            <a:extLst>
              <a:ext uri="{FF2B5EF4-FFF2-40B4-BE49-F238E27FC236}">
                <a16:creationId xmlns:a16="http://schemas.microsoft.com/office/drawing/2014/main" id="{A093CD56-BFD3-4FD7-89DC-F8AE8B2393C1}"/>
              </a:ext>
            </a:extLst>
          </p:cNvPr>
          <p:cNvSpPr>
            <a:spLocks noGrp="1"/>
          </p:cNvSpPr>
          <p:nvPr/>
        </p:nvSpPr>
        <p:spPr>
          <a:xfrm flipV="1">
            <a:off x="2762250" y="4476750"/>
            <a:ext cx="762000" cy="304800"/>
          </a:xfrm>
          <a:prstGeom prst="line">
            <a:avLst/>
          </a:prstGeom>
          <a:noFill/>
          <a:ln w="28575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Conector reto 33">
            <a:extLst>
              <a:ext uri="{FF2B5EF4-FFF2-40B4-BE49-F238E27FC236}">
                <a16:creationId xmlns:a16="http://schemas.microsoft.com/office/drawing/2014/main" id="{9014DADB-3C02-44A9-8005-109768B57E00}"/>
              </a:ext>
            </a:extLst>
          </p:cNvPr>
          <p:cNvSpPr>
            <a:spLocks noGrp="1"/>
          </p:cNvSpPr>
          <p:nvPr/>
        </p:nvSpPr>
        <p:spPr>
          <a:xfrm>
            <a:off x="3524250" y="4476750"/>
            <a:ext cx="762000" cy="114300"/>
          </a:xfrm>
          <a:prstGeom prst="line">
            <a:avLst/>
          </a:prstGeom>
          <a:noFill/>
          <a:ln w="28575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Conector reto 34">
            <a:extLst>
              <a:ext uri="{FF2B5EF4-FFF2-40B4-BE49-F238E27FC236}">
                <a16:creationId xmlns:a16="http://schemas.microsoft.com/office/drawing/2014/main" id="{AE3DFB50-8508-49B8-A709-EC6CAC0ADD64}"/>
              </a:ext>
            </a:extLst>
          </p:cNvPr>
          <p:cNvSpPr>
            <a:spLocks noGrp="1"/>
          </p:cNvSpPr>
          <p:nvPr/>
        </p:nvSpPr>
        <p:spPr>
          <a:xfrm flipV="1">
            <a:off x="4286250" y="4238625"/>
            <a:ext cx="762000" cy="352425"/>
          </a:xfrm>
          <a:prstGeom prst="line">
            <a:avLst/>
          </a:prstGeom>
          <a:noFill/>
          <a:ln w="28575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Conector reto 35">
            <a:extLst>
              <a:ext uri="{FF2B5EF4-FFF2-40B4-BE49-F238E27FC236}">
                <a16:creationId xmlns:a16="http://schemas.microsoft.com/office/drawing/2014/main" id="{6B3F7400-23EF-4F3E-A943-6C6D25BEACB2}"/>
              </a:ext>
            </a:extLst>
          </p:cNvPr>
          <p:cNvSpPr>
            <a:spLocks noGrp="1"/>
          </p:cNvSpPr>
          <p:nvPr/>
        </p:nvSpPr>
        <p:spPr>
          <a:xfrm>
            <a:off x="5048250" y="4238625"/>
            <a:ext cx="762000" cy="123825"/>
          </a:xfrm>
          <a:prstGeom prst="line">
            <a:avLst/>
          </a:prstGeom>
          <a:noFill/>
          <a:ln w="28575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Conector reto 36">
            <a:extLst>
              <a:ext uri="{FF2B5EF4-FFF2-40B4-BE49-F238E27FC236}">
                <a16:creationId xmlns:a16="http://schemas.microsoft.com/office/drawing/2014/main" id="{4C29E03F-6081-4848-A933-207BC4A96D62}"/>
              </a:ext>
            </a:extLst>
          </p:cNvPr>
          <p:cNvSpPr>
            <a:spLocks noGrp="1"/>
          </p:cNvSpPr>
          <p:nvPr/>
        </p:nvSpPr>
        <p:spPr>
          <a:xfrm flipV="1">
            <a:off x="5810250" y="4038600"/>
            <a:ext cx="762000" cy="323850"/>
          </a:xfrm>
          <a:prstGeom prst="line">
            <a:avLst/>
          </a:prstGeom>
          <a:noFill/>
          <a:ln w="28575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Conector reto 37">
            <a:extLst>
              <a:ext uri="{FF2B5EF4-FFF2-40B4-BE49-F238E27FC236}">
                <a16:creationId xmlns:a16="http://schemas.microsoft.com/office/drawing/2014/main" id="{4FC9F4F2-AF6B-47BE-8B0D-C02D0D2EAB8D}"/>
              </a:ext>
            </a:extLst>
          </p:cNvPr>
          <p:cNvSpPr>
            <a:spLocks noGrp="1"/>
          </p:cNvSpPr>
          <p:nvPr/>
        </p:nvSpPr>
        <p:spPr>
          <a:xfrm>
            <a:off x="6572250" y="4038600"/>
            <a:ext cx="714375" cy="123825"/>
          </a:xfrm>
          <a:prstGeom prst="line">
            <a:avLst/>
          </a:prstGeom>
          <a:noFill/>
          <a:ln w="28575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Conector reto 38">
            <a:extLst>
              <a:ext uri="{FF2B5EF4-FFF2-40B4-BE49-F238E27FC236}">
                <a16:creationId xmlns:a16="http://schemas.microsoft.com/office/drawing/2014/main" id="{49D3A6B0-1DAC-40E7-8FFA-EB42A5A7C764}"/>
              </a:ext>
            </a:extLst>
          </p:cNvPr>
          <p:cNvSpPr>
            <a:spLocks noGrp="1"/>
          </p:cNvSpPr>
          <p:nvPr/>
        </p:nvSpPr>
        <p:spPr>
          <a:xfrm flipV="1">
            <a:off x="1238250" y="5143500"/>
            <a:ext cx="762000" cy="171450"/>
          </a:xfrm>
          <a:prstGeom prst="line">
            <a:avLst/>
          </a:prstGeom>
          <a:noFill/>
          <a:ln w="28575">
            <a:solidFill>
              <a:srgbClr val="58D6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Conector reto 39">
            <a:extLst>
              <a:ext uri="{FF2B5EF4-FFF2-40B4-BE49-F238E27FC236}">
                <a16:creationId xmlns:a16="http://schemas.microsoft.com/office/drawing/2014/main" id="{77798444-C98D-4E27-B9F3-0CCC918A3BDA}"/>
              </a:ext>
            </a:extLst>
          </p:cNvPr>
          <p:cNvSpPr>
            <a:spLocks noGrp="1"/>
          </p:cNvSpPr>
          <p:nvPr/>
        </p:nvSpPr>
        <p:spPr>
          <a:xfrm flipV="1">
            <a:off x="2000250" y="4914900"/>
            <a:ext cx="762000" cy="228600"/>
          </a:xfrm>
          <a:prstGeom prst="line">
            <a:avLst/>
          </a:prstGeom>
          <a:noFill/>
          <a:ln w="28575">
            <a:solidFill>
              <a:srgbClr val="58D6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Conector reto 40">
            <a:extLst>
              <a:ext uri="{FF2B5EF4-FFF2-40B4-BE49-F238E27FC236}">
                <a16:creationId xmlns:a16="http://schemas.microsoft.com/office/drawing/2014/main" id="{D26EC34A-EA5F-4CC9-8B2E-0D44CFD433B7}"/>
              </a:ext>
            </a:extLst>
          </p:cNvPr>
          <p:cNvSpPr>
            <a:spLocks noGrp="1"/>
          </p:cNvSpPr>
          <p:nvPr/>
        </p:nvSpPr>
        <p:spPr>
          <a:xfrm flipV="1">
            <a:off x="2762250" y="4686300"/>
            <a:ext cx="762000" cy="228600"/>
          </a:xfrm>
          <a:prstGeom prst="line">
            <a:avLst/>
          </a:prstGeom>
          <a:noFill/>
          <a:ln w="28575">
            <a:solidFill>
              <a:srgbClr val="58D6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Conector reto 41">
            <a:extLst>
              <a:ext uri="{FF2B5EF4-FFF2-40B4-BE49-F238E27FC236}">
                <a16:creationId xmlns:a16="http://schemas.microsoft.com/office/drawing/2014/main" id="{BDEF34B2-5DD0-4A16-8953-150477AACE31}"/>
              </a:ext>
            </a:extLst>
          </p:cNvPr>
          <p:cNvSpPr>
            <a:spLocks noGrp="1"/>
          </p:cNvSpPr>
          <p:nvPr/>
        </p:nvSpPr>
        <p:spPr>
          <a:xfrm flipV="1">
            <a:off x="3524250" y="4248150"/>
            <a:ext cx="762000" cy="438150"/>
          </a:xfrm>
          <a:prstGeom prst="line">
            <a:avLst/>
          </a:prstGeom>
          <a:noFill/>
          <a:ln w="28575">
            <a:solidFill>
              <a:srgbClr val="58D6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Conector reto 42">
            <a:extLst>
              <a:ext uri="{FF2B5EF4-FFF2-40B4-BE49-F238E27FC236}">
                <a16:creationId xmlns:a16="http://schemas.microsoft.com/office/drawing/2014/main" id="{CD56E8C2-EF7A-46DA-8521-2B8104A032B0}"/>
              </a:ext>
            </a:extLst>
          </p:cNvPr>
          <p:cNvSpPr>
            <a:spLocks noGrp="1"/>
          </p:cNvSpPr>
          <p:nvPr/>
        </p:nvSpPr>
        <p:spPr>
          <a:xfrm flipV="1">
            <a:off x="4286250" y="3905250"/>
            <a:ext cx="762000" cy="342900"/>
          </a:xfrm>
          <a:prstGeom prst="line">
            <a:avLst/>
          </a:prstGeom>
          <a:noFill/>
          <a:ln w="28575">
            <a:solidFill>
              <a:srgbClr val="58D6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Conector reto 43">
            <a:extLst>
              <a:ext uri="{FF2B5EF4-FFF2-40B4-BE49-F238E27FC236}">
                <a16:creationId xmlns:a16="http://schemas.microsoft.com/office/drawing/2014/main" id="{8B3277C3-79F8-4D79-8852-77D6308E6F18}"/>
              </a:ext>
            </a:extLst>
          </p:cNvPr>
          <p:cNvSpPr>
            <a:spLocks noGrp="1"/>
          </p:cNvSpPr>
          <p:nvPr/>
        </p:nvSpPr>
        <p:spPr>
          <a:xfrm>
            <a:off x="5048250" y="3905250"/>
            <a:ext cx="762000" cy="190500"/>
          </a:xfrm>
          <a:prstGeom prst="line">
            <a:avLst/>
          </a:prstGeom>
          <a:noFill/>
          <a:ln w="28575">
            <a:solidFill>
              <a:srgbClr val="58D6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Conector reto 44">
            <a:extLst>
              <a:ext uri="{FF2B5EF4-FFF2-40B4-BE49-F238E27FC236}">
                <a16:creationId xmlns:a16="http://schemas.microsoft.com/office/drawing/2014/main" id="{984B1A46-700F-4B65-962F-6A60D530CFB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762000" cy="457200"/>
          </a:xfrm>
          <a:prstGeom prst="line">
            <a:avLst/>
          </a:prstGeom>
          <a:noFill/>
          <a:ln w="28575">
            <a:solidFill>
              <a:srgbClr val="58D6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Conector reto 45">
            <a:extLst>
              <a:ext uri="{FF2B5EF4-FFF2-40B4-BE49-F238E27FC236}">
                <a16:creationId xmlns:a16="http://schemas.microsoft.com/office/drawing/2014/main" id="{3E9395D5-F61A-4783-A701-3799A1E98BD2}"/>
              </a:ext>
            </a:extLst>
          </p:cNvPr>
          <p:cNvSpPr>
            <a:spLocks noGrp="1"/>
          </p:cNvSpPr>
          <p:nvPr/>
        </p:nvSpPr>
        <p:spPr>
          <a:xfrm>
            <a:off x="6572250" y="4552950"/>
            <a:ext cx="714375" cy="304800"/>
          </a:xfrm>
          <a:prstGeom prst="line">
            <a:avLst/>
          </a:prstGeom>
          <a:noFill/>
          <a:ln w="28575">
            <a:solidFill>
              <a:srgbClr val="58D6A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8E165E73-3860-4436-98D5-289CCD02496C}"/>
              </a:ext>
            </a:extLst>
          </p:cNvPr>
          <p:cNvSpPr>
            <a:spLocks noGrp="1"/>
          </p:cNvSpPr>
          <p:nvPr/>
        </p:nvSpPr>
        <p:spPr>
          <a:xfrm>
            <a:off x="5429250" y="3390900"/>
            <a:ext cx="1257300" cy="323850"/>
          </a:xfrm>
          <a:prstGeom prst="roundRect">
            <a:avLst>
              <a:gd name="adj" fmla="val 50000"/>
            </a:avLst>
          </a:prstGeom>
          <a:solidFill>
            <a:srgbClr val="22C7F2"/>
          </a:solidFill>
          <a:ln w="0">
            <a:noFill/>
            <a:prstDash val="solid"/>
          </a:ln>
        </p:spPr>
        <p:txBody>
          <a:bodyPr lIns="95250" tIns="0" rIns="95250" bIns="0" anchor="ctr">
            <a:normAutofit fontScale="88704" lnSpcReduction="20000"/>
          </a:bodyPr>
          <a:lstStyle/>
          <a:p>
            <a:pPr algn="ctr">
              <a:def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CARGA LÍQUIDA</a:t>
            </a:r>
          </a:p>
        </p:txBody>
      </p:sp>
      <p:sp>
        <p:nvSpPr>
          <p:cNvPr id="48" name="Retângulo: Cantos Arredondados 47">
            <a:extLst>
              <a:ext uri="{FF2B5EF4-FFF2-40B4-BE49-F238E27FC236}">
                <a16:creationId xmlns:a16="http://schemas.microsoft.com/office/drawing/2014/main" id="{AE198EB2-ABAE-45EA-88A7-249CFB1AEA6F}"/>
              </a:ext>
            </a:extLst>
          </p:cNvPr>
          <p:cNvSpPr>
            <a:spLocks noGrp="1"/>
          </p:cNvSpPr>
          <p:nvPr/>
        </p:nvSpPr>
        <p:spPr>
          <a:xfrm>
            <a:off x="6667500" y="3390900"/>
            <a:ext cx="838200" cy="323850"/>
          </a:xfrm>
          <a:prstGeom prst="roundRect">
            <a:avLst>
              <a:gd name="adj" fmla="val 50000"/>
            </a:avLst>
          </a:prstGeom>
          <a:solidFill>
            <a:srgbClr val="58D6A5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MMGD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AD0C4C19-195A-495F-B33D-C243276C3089}"/>
              </a:ext>
            </a:extLst>
          </p:cNvPr>
          <p:cNvSpPr>
            <a:spLocks noGrp="1"/>
          </p:cNvSpPr>
          <p:nvPr/>
        </p:nvSpPr>
        <p:spPr>
          <a:xfrm>
            <a:off x="7953375" y="3228975"/>
            <a:ext cx="3324225" cy="2609850"/>
          </a:xfrm>
          <a:prstGeom prst="roundRect">
            <a:avLst>
              <a:gd name="adj" fmla="val 5109"/>
            </a:avLst>
          </a:prstGeom>
          <a:solidFill>
            <a:srgbClr val="FBFDFF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Retângulo 49">
            <a:extLst>
              <a:ext uri="{FF2B5EF4-FFF2-40B4-BE49-F238E27FC236}">
                <a16:creationId xmlns:a16="http://schemas.microsoft.com/office/drawing/2014/main" id="{E051A9B1-FCB6-4235-85F9-50312512FA22}"/>
              </a:ext>
            </a:extLst>
          </p:cNvPr>
          <p:cNvSpPr>
            <a:spLocks noGrp="1"/>
          </p:cNvSpPr>
          <p:nvPr/>
        </p:nvSpPr>
        <p:spPr>
          <a:xfrm>
            <a:off x="8181975" y="34004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Mapa de risco por área</a:t>
            </a:r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62410622-A0E4-40C3-AD2A-D03904BC51AE}"/>
              </a:ext>
            </a:extLst>
          </p:cNvPr>
          <p:cNvSpPr>
            <a:spLocks noGrp="1"/>
          </p:cNvSpPr>
          <p:nvPr/>
        </p:nvSpPr>
        <p:spPr>
          <a:xfrm>
            <a:off x="8191500" y="3857625"/>
            <a:ext cx="283845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Retângulo 51">
            <a:extLst>
              <a:ext uri="{FF2B5EF4-FFF2-40B4-BE49-F238E27FC236}">
                <a16:creationId xmlns:a16="http://schemas.microsoft.com/office/drawing/2014/main" id="{A7F83169-24AE-43B3-AFA9-3B1DC88D425E}"/>
              </a:ext>
            </a:extLst>
          </p:cNvPr>
          <p:cNvSpPr>
            <a:spLocks noGrp="1"/>
          </p:cNvSpPr>
          <p:nvPr/>
        </p:nvSpPr>
        <p:spPr>
          <a:xfrm>
            <a:off x="8362950" y="39528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Área A</a:t>
            </a:r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67017486-9D6C-4199-A038-E23D17AAE4F8}"/>
              </a:ext>
            </a:extLst>
          </p:cNvPr>
          <p:cNvSpPr>
            <a:spLocks noGrp="1"/>
          </p:cNvSpPr>
          <p:nvPr/>
        </p:nvSpPr>
        <p:spPr>
          <a:xfrm>
            <a:off x="9829800" y="3914775"/>
            <a:ext cx="1009650" cy="323850"/>
          </a:xfrm>
          <a:prstGeom prst="roundRect">
            <a:avLst>
              <a:gd name="adj" fmla="val 50000"/>
            </a:avLst>
          </a:prstGeom>
          <a:solidFill>
            <a:srgbClr val="E85C5C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ALTO</a:t>
            </a:r>
          </a:p>
        </p:txBody>
      </p:sp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id="{D000BF00-485F-4D38-911C-FB43AA432253}"/>
              </a:ext>
            </a:extLst>
          </p:cNvPr>
          <p:cNvSpPr>
            <a:spLocks noGrp="1"/>
          </p:cNvSpPr>
          <p:nvPr/>
        </p:nvSpPr>
        <p:spPr>
          <a:xfrm>
            <a:off x="8191500" y="4429125"/>
            <a:ext cx="283845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5" name="Retângulo 54">
            <a:extLst>
              <a:ext uri="{FF2B5EF4-FFF2-40B4-BE49-F238E27FC236}">
                <a16:creationId xmlns:a16="http://schemas.microsoft.com/office/drawing/2014/main" id="{F525CA83-45F0-4CD8-8E04-2A658D68C3B1}"/>
              </a:ext>
            </a:extLst>
          </p:cNvPr>
          <p:cNvSpPr>
            <a:spLocks noGrp="1"/>
          </p:cNvSpPr>
          <p:nvPr/>
        </p:nvSpPr>
        <p:spPr>
          <a:xfrm>
            <a:off x="8362950" y="45243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Área B</a:t>
            </a:r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AE9A0E41-667E-486E-8CFC-D6C8D2B2542E}"/>
              </a:ext>
            </a:extLst>
          </p:cNvPr>
          <p:cNvSpPr>
            <a:spLocks noGrp="1"/>
          </p:cNvSpPr>
          <p:nvPr/>
        </p:nvSpPr>
        <p:spPr>
          <a:xfrm>
            <a:off x="9829800" y="4486275"/>
            <a:ext cx="1009650" cy="323850"/>
          </a:xfrm>
          <a:prstGeom prst="roundRect">
            <a:avLst>
              <a:gd name="adj" fmla="val 50000"/>
            </a:avLst>
          </a:prstGeom>
          <a:solidFill>
            <a:srgbClr val="D8690E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MÉDIO</a:t>
            </a:r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D324C687-3989-40D5-A25D-6D059F7A968B}"/>
              </a:ext>
            </a:extLst>
          </p:cNvPr>
          <p:cNvSpPr>
            <a:spLocks noGrp="1"/>
          </p:cNvSpPr>
          <p:nvPr/>
        </p:nvSpPr>
        <p:spPr>
          <a:xfrm>
            <a:off x="8191500" y="5000625"/>
            <a:ext cx="283845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Retângulo 57">
            <a:extLst>
              <a:ext uri="{FF2B5EF4-FFF2-40B4-BE49-F238E27FC236}">
                <a16:creationId xmlns:a16="http://schemas.microsoft.com/office/drawing/2014/main" id="{505475E4-DBE2-4C5A-A234-91D6663B93DD}"/>
              </a:ext>
            </a:extLst>
          </p:cNvPr>
          <p:cNvSpPr>
            <a:spLocks noGrp="1"/>
          </p:cNvSpPr>
          <p:nvPr/>
        </p:nvSpPr>
        <p:spPr>
          <a:xfrm>
            <a:off x="8362950" y="5095875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Área C</a:t>
            </a:r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A63AD992-F268-4D65-B38A-6D793BED0841}"/>
              </a:ext>
            </a:extLst>
          </p:cNvPr>
          <p:cNvSpPr>
            <a:spLocks noGrp="1"/>
          </p:cNvSpPr>
          <p:nvPr/>
        </p:nvSpPr>
        <p:spPr>
          <a:xfrm>
            <a:off x="9829800" y="5057775"/>
            <a:ext cx="1009650" cy="323850"/>
          </a:xfrm>
          <a:prstGeom prst="roundRect">
            <a:avLst>
              <a:gd name="adj" fmla="val 50000"/>
            </a:avLst>
          </a:prstGeom>
          <a:solidFill>
            <a:srgbClr val="58D6A5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BAIXO</a:t>
            </a:r>
          </a:p>
        </p:txBody>
      </p:sp>
    </p:spTree>
    <p:extLst>
      <p:ext uri="{BB962C8B-B14F-4D97-AF65-F5344CB8AC3E}">
        <p14:creationId xmlns:p14="http://schemas.microsoft.com/office/powerpoint/2010/main" val="181866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tângulo 37">
            <a:extLst>
              <a:ext uri="{FF2B5EF4-FFF2-40B4-BE49-F238E27FC236}">
                <a16:creationId xmlns:a16="http://schemas.microsoft.com/office/drawing/2014/main" id="{1355E293-C454-4921-97AF-399D0B0CD4AD}"/>
              </a:ext>
            </a:extLst>
          </p:cNvPr>
          <p:cNvSpPr>
            <a:spLocks noGrp="1"/>
          </p:cNvSpPr>
          <p:nvPr/>
        </p:nvSpPr>
        <p:spPr>
          <a:xfrm>
            <a:off x="628650" y="3810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CONFIANÇA ANTES DE ESCALA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0FEA89C-AA25-4708-8CD3-F56936DA87C7}"/>
              </a:ext>
            </a:extLst>
          </p:cNvPr>
          <p:cNvSpPr>
            <a:spLocks noGrp="1"/>
          </p:cNvSpPr>
          <p:nvPr/>
        </p:nvSpPr>
        <p:spPr>
          <a:xfrm>
            <a:off x="628650" y="666750"/>
            <a:ext cx="10382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30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Validação pensada para uso operacional</a:t>
            </a:r>
          </a:p>
        </p:txBody>
      </p:sp>
      <p:sp>
        <p:nvSpPr>
          <p:cNvPr id="3" name="Conector reto 2">
            <a:extLst>
              <a:ext uri="{FF2B5EF4-FFF2-40B4-BE49-F238E27FC236}">
                <a16:creationId xmlns:a16="http://schemas.microsoft.com/office/drawing/2014/main" id="{9CE06A7F-C0A1-4011-9036-FE90DCA065C4}"/>
              </a:ext>
            </a:extLst>
          </p:cNvPr>
          <p:cNvSpPr>
            <a:spLocks noGrp="1"/>
          </p:cNvSpPr>
          <p:nvPr/>
        </p:nvSpPr>
        <p:spPr>
          <a:xfrm>
            <a:off x="628650" y="1323975"/>
            <a:ext cx="10934700" cy="0"/>
          </a:xfrm>
          <a:prstGeom prst="line">
            <a:avLst/>
          </a:prstGeom>
          <a:noFill/>
          <a:ln w="12383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4E2D850-9E38-4C1A-990F-B56E96870FA3}"/>
              </a:ext>
            </a:extLst>
          </p:cNvPr>
          <p:cNvSpPr>
            <a:spLocks noGrp="1"/>
          </p:cNvSpPr>
          <p:nvPr/>
        </p:nvSpPr>
        <p:spPr>
          <a:xfrm>
            <a:off x="11163300" y="400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70B0AC81-6DD0-4B9A-8303-1709460A4FF2}"/>
              </a:ext>
            </a:extLst>
          </p:cNvPr>
          <p:cNvSpPr>
            <a:spLocks noGrp="1"/>
          </p:cNvSpPr>
          <p:nvPr/>
        </p:nvSpPr>
        <p:spPr>
          <a:xfrm>
            <a:off x="628650" y="1752600"/>
            <a:ext cx="2514600" cy="2419350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EE0F7C35-E20B-4B46-A602-DFF99D01C7BF}"/>
              </a:ext>
            </a:extLst>
          </p:cNvPr>
          <p:cNvSpPr>
            <a:spLocks noGrp="1"/>
          </p:cNvSpPr>
          <p:nvPr/>
        </p:nvSpPr>
        <p:spPr>
          <a:xfrm>
            <a:off x="838200" y="1952625"/>
            <a:ext cx="438150" cy="438150"/>
          </a:xfrm>
          <a:prstGeom prst="ellipse">
            <a:avLst/>
          </a:prstGeom>
          <a:solidFill>
            <a:srgbClr val="22C7F2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1B5C17B-B6F0-4870-9956-8D6CB5EE0C94}"/>
              </a:ext>
            </a:extLst>
          </p:cNvPr>
          <p:cNvSpPr>
            <a:spLocks noGrp="1"/>
          </p:cNvSpPr>
          <p:nvPr/>
        </p:nvSpPr>
        <p:spPr>
          <a:xfrm>
            <a:off x="838200" y="2047875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C7F6F57-059E-456E-BA19-CBDAB89C6070}"/>
              </a:ext>
            </a:extLst>
          </p:cNvPr>
          <p:cNvSpPr>
            <a:spLocks noGrp="1"/>
          </p:cNvSpPr>
          <p:nvPr/>
        </p:nvSpPr>
        <p:spPr>
          <a:xfrm>
            <a:off x="857250" y="2600325"/>
            <a:ext cx="2057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Qualidade e reconciliação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8F59BCD-187B-4EB0-9C7F-370128F7822D}"/>
              </a:ext>
            </a:extLst>
          </p:cNvPr>
          <p:cNvSpPr>
            <a:spLocks noGrp="1"/>
          </p:cNvSpPr>
          <p:nvPr/>
        </p:nvSpPr>
        <p:spPr>
          <a:xfrm>
            <a:off x="876300" y="3267075"/>
            <a:ext cx="2019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ausências, defasagens, timestamps e coerência entre bases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649CC8D-5F1F-4056-A687-C5DD6E61EF65}"/>
              </a:ext>
            </a:extLst>
          </p:cNvPr>
          <p:cNvSpPr>
            <a:spLocks noGrp="1"/>
          </p:cNvSpPr>
          <p:nvPr/>
        </p:nvSpPr>
        <p:spPr>
          <a:xfrm>
            <a:off x="3362325" y="1752600"/>
            <a:ext cx="2514600" cy="2419350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1E97044-A6A0-48E9-8E84-51C583F86397}"/>
              </a:ext>
            </a:extLst>
          </p:cNvPr>
          <p:cNvSpPr>
            <a:spLocks noGrp="1"/>
          </p:cNvSpPr>
          <p:nvPr/>
        </p:nvSpPr>
        <p:spPr>
          <a:xfrm>
            <a:off x="3571875" y="1952625"/>
            <a:ext cx="438150" cy="438150"/>
          </a:xfrm>
          <a:prstGeom prst="ellipse">
            <a:avLst/>
          </a:prstGeom>
          <a:solidFill>
            <a:srgbClr val="58D6A5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1397E8F-D888-41CE-B2BE-CCDB4EB31D2F}"/>
              </a:ext>
            </a:extLst>
          </p:cNvPr>
          <p:cNvSpPr>
            <a:spLocks noGrp="1"/>
          </p:cNvSpPr>
          <p:nvPr/>
        </p:nvSpPr>
        <p:spPr>
          <a:xfrm>
            <a:off x="3571875" y="2047875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D3519E8-6895-48E6-AEB5-3DFFF6F59796}"/>
              </a:ext>
            </a:extLst>
          </p:cNvPr>
          <p:cNvSpPr>
            <a:spLocks noGrp="1"/>
          </p:cNvSpPr>
          <p:nvPr/>
        </p:nvSpPr>
        <p:spPr>
          <a:xfrm>
            <a:off x="3590925" y="2600325"/>
            <a:ext cx="2057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Validação espacial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90A43770-F036-4FB3-8FDE-6EBC567891F9}"/>
              </a:ext>
            </a:extLst>
          </p:cNvPr>
          <p:cNvSpPr>
            <a:spLocks noGrp="1"/>
          </p:cNvSpPr>
          <p:nvPr/>
        </p:nvSpPr>
        <p:spPr>
          <a:xfrm>
            <a:off x="3609975" y="3267075"/>
            <a:ext cx="2019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satélite × BDGD/ANEEL com precisão, recall e inspeção amostral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075472CB-7728-4B19-9B4C-9CE8DABF07FD}"/>
              </a:ext>
            </a:extLst>
          </p:cNvPr>
          <p:cNvSpPr>
            <a:spLocks noGrp="1"/>
          </p:cNvSpPr>
          <p:nvPr/>
        </p:nvSpPr>
        <p:spPr>
          <a:xfrm>
            <a:off x="6096000" y="1752600"/>
            <a:ext cx="2514600" cy="2419350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3A0266C-1221-4A06-B13C-E7EB37E69D5F}"/>
              </a:ext>
            </a:extLst>
          </p:cNvPr>
          <p:cNvSpPr>
            <a:spLocks noGrp="1"/>
          </p:cNvSpPr>
          <p:nvPr/>
        </p:nvSpPr>
        <p:spPr>
          <a:xfrm>
            <a:off x="6305550" y="1952625"/>
            <a:ext cx="438150" cy="438150"/>
          </a:xfrm>
          <a:prstGeom prst="ellipse">
            <a:avLst/>
          </a:prstGeom>
          <a:solidFill>
            <a:srgbClr val="F4C95D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5895517-1881-42F0-A8DF-E38233A7A7D6}"/>
              </a:ext>
            </a:extLst>
          </p:cNvPr>
          <p:cNvSpPr>
            <a:spLocks noGrp="1"/>
          </p:cNvSpPr>
          <p:nvPr/>
        </p:nvSpPr>
        <p:spPr>
          <a:xfrm>
            <a:off x="6305550" y="2047875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9C435266-E714-4AB1-90DA-B970FAD9C831}"/>
              </a:ext>
            </a:extLst>
          </p:cNvPr>
          <p:cNvSpPr>
            <a:spLocks noGrp="1"/>
          </p:cNvSpPr>
          <p:nvPr/>
        </p:nvSpPr>
        <p:spPr>
          <a:xfrm>
            <a:off x="6324600" y="2600325"/>
            <a:ext cx="2057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Backtesting temporal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DFCF4F6-412E-4624-B3E9-974D84829B00}"/>
              </a:ext>
            </a:extLst>
          </p:cNvPr>
          <p:cNvSpPr>
            <a:spLocks noGrp="1"/>
          </p:cNvSpPr>
          <p:nvPr/>
        </p:nvSpPr>
        <p:spPr>
          <a:xfrm>
            <a:off x="6343650" y="3267075"/>
            <a:ext cx="2019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MAE, RMSE e MAPE por distribuidora, horizonte e regime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E599F6EC-0B5A-4FA5-9422-74F257E962A4}"/>
              </a:ext>
            </a:extLst>
          </p:cNvPr>
          <p:cNvSpPr>
            <a:spLocks noGrp="1"/>
          </p:cNvSpPr>
          <p:nvPr/>
        </p:nvSpPr>
        <p:spPr>
          <a:xfrm>
            <a:off x="8829675" y="1752600"/>
            <a:ext cx="2514600" cy="2419350"/>
          </a:xfrm>
          <a:prstGeom prst="roundRect">
            <a:avLst>
              <a:gd name="adj" fmla="val 7874"/>
            </a:avLst>
          </a:prstGeom>
          <a:solidFill>
            <a:srgbClr val="FFFFFF"/>
          </a:solidFill>
          <a:ln w="9525">
            <a:solidFill>
              <a:srgbClr val="C9D7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  <p:txBody>
          <a:bodyPr/>
          <a:lstStyle/>
          <a:p>
            <a:endParaRPr lang="pt-BR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E94599E1-4545-4A07-8B29-E9F719A5F139}"/>
              </a:ext>
            </a:extLst>
          </p:cNvPr>
          <p:cNvSpPr>
            <a:spLocks noGrp="1"/>
          </p:cNvSpPr>
          <p:nvPr/>
        </p:nvSpPr>
        <p:spPr>
          <a:xfrm>
            <a:off x="9039225" y="1952625"/>
            <a:ext cx="438150" cy="438150"/>
          </a:xfrm>
          <a:prstGeom prst="ellipse">
            <a:avLst/>
          </a:prstGeom>
          <a:solidFill>
            <a:srgbClr val="D8690E"/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2A93BEF-064F-434E-9227-8033609A11E5}"/>
              </a:ext>
            </a:extLst>
          </p:cNvPr>
          <p:cNvSpPr>
            <a:spLocks noGrp="1"/>
          </p:cNvSpPr>
          <p:nvPr/>
        </p:nvSpPr>
        <p:spPr>
          <a:xfrm>
            <a:off x="9039225" y="2047875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0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57CD820-7D2A-46A4-8CDC-271D2125435B}"/>
              </a:ext>
            </a:extLst>
          </p:cNvPr>
          <p:cNvSpPr>
            <a:spLocks noGrp="1"/>
          </p:cNvSpPr>
          <p:nvPr/>
        </p:nvSpPr>
        <p:spPr>
          <a:xfrm>
            <a:off x="9058275" y="2600325"/>
            <a:ext cx="2057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Eventos de curtailment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F8C3DB6-3F67-482F-982A-85A2CAFD95FD}"/>
              </a:ext>
            </a:extLst>
          </p:cNvPr>
          <p:cNvSpPr>
            <a:spLocks noGrp="1"/>
          </p:cNvSpPr>
          <p:nvPr/>
        </p:nvSpPr>
        <p:spPr>
          <a:xfrm>
            <a:off x="9077325" y="3267075"/>
            <a:ext cx="20193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12000"/>
              </a:lnSpc>
              <a:buNone/>
              <a:def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calibração do risco, precisão/recall e análise de falsos alertas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E8FC2373-A00F-47DF-A556-77C8E4B81FFB}"/>
              </a:ext>
            </a:extLst>
          </p:cNvPr>
          <p:cNvSpPr>
            <a:spLocks noGrp="1"/>
          </p:cNvSpPr>
          <p:nvPr/>
        </p:nvSpPr>
        <p:spPr>
          <a:xfrm>
            <a:off x="628650" y="452437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ROTA DE EVOLUÇÃO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8379BD76-5FD5-44D3-8970-F8990DC05DFD}"/>
              </a:ext>
            </a:extLst>
          </p:cNvPr>
          <p:cNvSpPr>
            <a:spLocks noGrp="1"/>
          </p:cNvSpPr>
          <p:nvPr/>
        </p:nvSpPr>
        <p:spPr>
          <a:xfrm>
            <a:off x="628650" y="4886325"/>
            <a:ext cx="3390900" cy="952500"/>
          </a:xfrm>
          <a:prstGeom prst="roundRect">
            <a:avLst>
              <a:gd name="adj" fmla="val 18000"/>
            </a:avLst>
          </a:prstGeom>
          <a:solidFill>
            <a:srgbClr val="E8F1F8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2B56251-987E-4DDA-88BC-F9B201B62A74}"/>
              </a:ext>
            </a:extLst>
          </p:cNvPr>
          <p:cNvSpPr>
            <a:spLocks noGrp="1"/>
          </p:cNvSpPr>
          <p:nvPr/>
        </p:nvSpPr>
        <p:spPr>
          <a:xfrm>
            <a:off x="819150" y="5057775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MVP</a:t>
            </a: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9E151CE5-9B50-4469-AA45-2D027CFA3D63}"/>
              </a:ext>
            </a:extLst>
          </p:cNvPr>
          <p:cNvSpPr>
            <a:spLocks noGrp="1"/>
          </p:cNvSpPr>
          <p:nvPr/>
        </p:nvSpPr>
        <p:spPr>
          <a:xfrm>
            <a:off x="819150" y="535305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uma distribuidora e baselines</a:t>
            </a:r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8C442D9B-87E5-4439-A1E3-E74FD8EA423D}"/>
              </a:ext>
            </a:extLst>
          </p:cNvPr>
          <p:cNvSpPr>
            <a:spLocks noGrp="1"/>
          </p:cNvSpPr>
          <p:nvPr/>
        </p:nvSpPr>
        <p:spPr>
          <a:xfrm>
            <a:off x="4267200" y="4886325"/>
            <a:ext cx="3390900" cy="952500"/>
          </a:xfrm>
          <a:prstGeom prst="roundRect">
            <a:avLst>
              <a:gd name="adj" fmla="val 18000"/>
            </a:avLst>
          </a:prstGeom>
          <a:solidFill>
            <a:srgbClr val="E8F1F8"/>
          </a:solidFill>
          <a:ln w="9525">
            <a:solidFill>
              <a:srgbClr val="C9D7E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F3339AB4-7559-4035-B44A-8FFD9992247E}"/>
              </a:ext>
            </a:extLst>
          </p:cNvPr>
          <p:cNvSpPr>
            <a:spLocks noGrp="1"/>
          </p:cNvSpPr>
          <p:nvPr/>
        </p:nvSpPr>
        <p:spPr>
          <a:xfrm>
            <a:off x="4457700" y="5057775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PILOTO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593D05CE-BBF4-49B7-944B-4812BC3050D1}"/>
              </a:ext>
            </a:extLst>
          </p:cNvPr>
          <p:cNvSpPr>
            <a:spLocks noGrp="1"/>
          </p:cNvSpPr>
          <p:nvPr/>
        </p:nvSpPr>
        <p:spPr>
          <a:xfrm>
            <a:off x="4457700" y="535305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múltiplas áreas e cenários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81C5C7D2-5535-43D1-91DD-59B500ED7ABB}"/>
              </a:ext>
            </a:extLst>
          </p:cNvPr>
          <p:cNvSpPr>
            <a:spLocks noGrp="1"/>
          </p:cNvSpPr>
          <p:nvPr/>
        </p:nvSpPr>
        <p:spPr>
          <a:xfrm>
            <a:off x="7905750" y="4886325"/>
            <a:ext cx="3390900" cy="952500"/>
          </a:xfrm>
          <a:prstGeom prst="roundRect">
            <a:avLst>
              <a:gd name="adj" fmla="val 18000"/>
            </a:avLst>
          </a:prstGeom>
          <a:solidFill>
            <a:srgbClr val="061B33"/>
          </a:solidFill>
          <a:ln w="9525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75B18BB5-5CBB-482D-9440-82D03DF18C53}"/>
              </a:ext>
            </a:extLst>
          </p:cNvPr>
          <p:cNvSpPr>
            <a:spLocks noGrp="1"/>
          </p:cNvSpPr>
          <p:nvPr/>
        </p:nvSpPr>
        <p:spPr>
          <a:xfrm>
            <a:off x="8096250" y="5057775"/>
            <a:ext cx="914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 i="0">
                <a:solidFill>
                  <a:srgbClr val="22C7F2"/>
                </a:solidFill>
                <a:latin typeface="DejaVu Sans"/>
                <a:ea typeface="DejaVu Sans"/>
                <a:cs typeface="DejaVu Sans"/>
              </a:rPr>
              <a:t>ESCALA</a:t>
            </a:r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721CF7E9-3997-438F-A2C2-2B747BF4EF14}"/>
              </a:ext>
            </a:extLst>
          </p:cNvPr>
          <p:cNvSpPr>
            <a:spLocks noGrp="1"/>
          </p:cNvSpPr>
          <p:nvPr/>
        </p:nvSpPr>
        <p:spPr>
          <a:xfrm>
            <a:off x="8096250" y="5353050"/>
            <a:ext cx="3009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98"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integração progressiva à interface TSO–DSO</a:t>
            </a:r>
          </a:p>
        </p:txBody>
      </p:sp>
      <p:cxnSp>
        <p:nvCxnSpPr>
          <p:cNvPr id="72" name="Conector de Seta Reta 71"/>
          <p:cNvCxnSpPr>
            <a:stCxn id="26" idx="3"/>
            <a:endCxn id="29" idx="1"/>
          </p:cNvCxnSpPr>
          <p:nvPr/>
        </p:nvCxnSpPr>
        <p:spPr>
          <a:xfrm>
            <a:off x="4019550" y="5362575"/>
            <a:ext cx="247650" cy="0"/>
          </a:xfrm>
          <a:prstGeom prst="straightConnector1">
            <a:avLst/>
          </a:prstGeom>
          <a:ln w="19050">
            <a:solidFill>
              <a:srgbClr val="123C67"/>
            </a:solidFill>
            <a:prstDash val="solid"/>
            <a:tailEnd type="arrow" w="sm" len="sm"/>
          </a:ln>
        </p:spPr>
      </p:cxnSp>
      <p:cxnSp>
        <p:nvCxnSpPr>
          <p:cNvPr id="73" name="Conector de Seta Reta 72"/>
          <p:cNvCxnSpPr>
            <a:stCxn id="29" idx="3"/>
            <a:endCxn id="32" idx="1"/>
          </p:cNvCxnSpPr>
          <p:nvPr/>
        </p:nvCxnSpPr>
        <p:spPr>
          <a:xfrm>
            <a:off x="7658100" y="5362575"/>
            <a:ext cx="247650" cy="0"/>
          </a:xfrm>
          <a:prstGeom prst="straightConnector1">
            <a:avLst/>
          </a:prstGeom>
          <a:ln w="19050">
            <a:solidFill>
              <a:srgbClr val="123C67"/>
            </a:solidFill>
            <a:prstDash val="solid"/>
            <a:tailEnd type="arrow" w="sm" len="sm"/>
          </a:ln>
        </p:spPr>
      </p:cxnSp>
      <p:sp>
        <p:nvSpPr>
          <p:cNvPr id="37" name="Retângulo 36">
            <a:extLst>
              <a:ext uri="{FF2B5EF4-FFF2-40B4-BE49-F238E27FC236}">
                <a16:creationId xmlns:a16="http://schemas.microsoft.com/office/drawing/2014/main" id="{898627C7-9EFF-43DA-8D6B-21C9924961A3}"/>
              </a:ext>
            </a:extLst>
          </p:cNvPr>
          <p:cNvSpPr>
            <a:spLocks noGrp="1"/>
          </p:cNvSpPr>
          <p:nvPr/>
        </p:nvSpPr>
        <p:spPr>
          <a:xfrm>
            <a:off x="628650" y="6534150"/>
            <a:ext cx="10934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defRPr>
            </a:pPr>
            <a:r>
              <a:rPr sz="788" b="0" i="0">
                <a:solidFill>
                  <a:srgbClr val="52667C"/>
                </a:solidFill>
                <a:latin typeface="DejaVu Sans"/>
                <a:ea typeface="DejaVu Sans"/>
                <a:cs typeface="DejaVu Sans"/>
              </a:rPr>
              <a:t>Princípio: baselines explícitos, validação fora da amostra e rastreabilidade — sem prometer desempenho antes do teste.</a:t>
            </a:r>
          </a:p>
        </p:txBody>
      </p:sp>
    </p:spTree>
    <p:extLst>
      <p:ext uri="{BB962C8B-B14F-4D97-AF65-F5344CB8AC3E}">
        <p14:creationId xmlns:p14="http://schemas.microsoft.com/office/powerpoint/2010/main" val="1238631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84A5125D-C071-4C30-B52F-4FEF030F7F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323">
              <a:alpha val="77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46FB036-C737-4AE1-AB1E-5ABFE93ED0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7048500" cy="6858000"/>
          </a:xfrm>
          <a:prstGeom prst="rect">
            <a:avLst/>
          </a:prstGeom>
          <a:gradFill>
            <a:gsLst>
              <a:gs pos="0">
                <a:srgbClr val="031323">
                  <a:alpha val="100000"/>
                </a:srgbClr>
              </a:gs>
              <a:gs pos="72000">
                <a:srgbClr val="031323">
                  <a:alpha val="96000"/>
                </a:srgbClr>
              </a:gs>
              <a:gs pos="100000">
                <a:srgbClr val="031323">
                  <a:alpha val="0"/>
                </a:srgbClr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EA299B5-2E1B-41D3-BA15-17F2321D4FBC}"/>
              </a:ext>
            </a:extLst>
          </p:cNvPr>
          <p:cNvSpPr>
            <a:spLocks noGrp="1"/>
          </p:cNvSpPr>
          <p:nvPr/>
        </p:nvSpPr>
        <p:spPr>
          <a:xfrm>
            <a:off x="647700" y="5524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58D6A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8D6A5"/>
                </a:solidFill>
                <a:latin typeface="DejaVu Sans"/>
                <a:ea typeface="DejaVu Sans"/>
                <a:cs typeface="DejaVu Sans"/>
              </a:rPr>
              <a:t>O.R.A.C.U.L.O.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5C4D845-4391-412F-857B-1176E89FE8D8}"/>
              </a:ext>
            </a:extLst>
          </p:cNvPr>
          <p:cNvSpPr>
            <a:spLocks noGrp="1"/>
          </p:cNvSpPr>
          <p:nvPr/>
        </p:nvSpPr>
        <p:spPr>
          <a:xfrm>
            <a:off x="628650" y="933450"/>
            <a:ext cx="5905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00" lnSpcReduction="20000"/>
          </a:bodyPr>
          <a:lstStyle/>
          <a:p>
            <a:pPr>
              <a:lnSpc>
                <a:spcPct val="102000"/>
              </a:lnSpc>
              <a:defRPr sz="3600" b="1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3600" b="1" i="0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Observabilidade</a:t>
            </a:r>
            <a:r>
              <a:rPr lang="pt-BR" sz="360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e Controlabilidade </a:t>
            </a:r>
            <a:r>
              <a:rPr lang="pt-BR" sz="3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para a </a:t>
            </a:r>
            <a:r>
              <a:rPr lang="pt-BR" sz="3600" b="1" dirty="0" err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</a:t>
            </a:r>
            <a:r>
              <a:rPr lang="pt-BR" sz="3600" b="1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 Interface </a:t>
            </a:r>
            <a:r>
              <a:rPr lang="pt-BR" sz="3600" b="1" i="0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ONS/DSO</a:t>
            </a:r>
            <a:endParaRPr sz="3600" b="1" i="0" dirty="0">
              <a:solidFill>
                <a:srgbClr val="FFFFFF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Conector reto 5">
            <a:extLst>
              <a:ext uri="{FF2B5EF4-FFF2-40B4-BE49-F238E27FC236}">
                <a16:creationId xmlns:a16="http://schemas.microsoft.com/office/drawing/2014/main" id="{F9D731DD-2C89-4D38-86C3-BEA7363B5C3D}"/>
              </a:ext>
            </a:extLst>
          </p:cNvPr>
          <p:cNvSpPr>
            <a:spLocks noGrp="1"/>
          </p:cNvSpPr>
          <p:nvPr/>
        </p:nvSpPr>
        <p:spPr>
          <a:xfrm>
            <a:off x="666750" y="2524125"/>
            <a:ext cx="3905250" cy="0"/>
          </a:xfrm>
          <a:prstGeom prst="line">
            <a:avLst/>
          </a:prstGeom>
          <a:noFill/>
          <a:ln w="28575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439A681A-93B4-4651-A5AF-021124AA4E19}"/>
              </a:ext>
            </a:extLst>
          </p:cNvPr>
          <p:cNvSpPr>
            <a:spLocks noGrp="1"/>
          </p:cNvSpPr>
          <p:nvPr/>
        </p:nvSpPr>
        <p:spPr>
          <a:xfrm>
            <a:off x="666750" y="2781300"/>
            <a:ext cx="5334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2175" b="1" i="0">
                <a:solidFill>
                  <a:srgbClr val="D9F6F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 i="0" dirty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ONDE </a:t>
            </a:r>
            <a:r>
              <a:rPr sz="2175" b="1" i="0" dirty="0" err="1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está</a:t>
            </a:r>
            <a:r>
              <a:rPr sz="2175" b="1" i="0" dirty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 a MMGD.</a:t>
            </a:r>
          </a:p>
          <a:p>
            <a:pPr algn="l">
              <a:lnSpc>
                <a:spcPct val="118000"/>
              </a:lnSpc>
              <a:buNone/>
              <a:defRPr sz="2175" b="1" i="0">
                <a:solidFill>
                  <a:srgbClr val="D9F6F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 i="0" dirty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QUANTO </a:t>
            </a:r>
            <a:r>
              <a:rPr sz="2175" b="1" i="0" dirty="0" err="1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pode</a:t>
            </a:r>
            <a:r>
              <a:rPr sz="2175" b="1" i="0" dirty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1" i="0" dirty="0" err="1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gerar</a:t>
            </a:r>
            <a:r>
              <a:rPr sz="2175" b="1" i="0" dirty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.</a:t>
            </a:r>
          </a:p>
          <a:p>
            <a:pPr algn="l">
              <a:lnSpc>
                <a:spcPct val="118000"/>
              </a:lnSpc>
              <a:buNone/>
              <a:defRPr sz="2175" b="1" i="0">
                <a:solidFill>
                  <a:srgbClr val="D9F6FD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 i="0" dirty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ONDE o </a:t>
            </a:r>
            <a:r>
              <a:rPr sz="2175" b="1" i="0" dirty="0" err="1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excedente</a:t>
            </a:r>
            <a:r>
              <a:rPr sz="2175" b="1" i="0" dirty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1" i="0" dirty="0" err="1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pode</a:t>
            </a:r>
            <a:r>
              <a:rPr sz="2175" b="1" i="0" dirty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75" b="1" i="0" dirty="0" err="1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surgir</a:t>
            </a:r>
            <a:r>
              <a:rPr sz="2175" b="1" i="0" dirty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7E51380-F34D-4C8B-8AE8-85CE16DCE18D}"/>
              </a:ext>
            </a:extLst>
          </p:cNvPr>
          <p:cNvSpPr>
            <a:spLocks noGrp="1"/>
          </p:cNvSpPr>
          <p:nvPr/>
        </p:nvSpPr>
        <p:spPr>
          <a:xfrm>
            <a:off x="647699" y="4114800"/>
            <a:ext cx="5635113" cy="323850"/>
          </a:xfrm>
          <a:prstGeom prst="roundRect">
            <a:avLst>
              <a:gd name="adj" fmla="val 50000"/>
            </a:avLst>
          </a:prstGeom>
          <a:solidFill>
            <a:srgbClr val="22C7F2"/>
          </a:solidFill>
          <a:ln w="0">
            <a:noFill/>
            <a:prstDash val="solid"/>
          </a:ln>
        </p:spPr>
        <p:txBody>
          <a:bodyPr lIns="95250" tIns="0" rIns="95250" bIns="0" anchor="ctr">
            <a:normAutofit/>
          </a:bodyPr>
          <a:lstStyle/>
          <a:p>
            <a:pPr algn="ctr">
              <a:defRPr sz="975" b="1">
                <a:solidFill>
                  <a:srgbClr val="061B33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dirty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INTERPRETAR SINAIS · ANTECIPAR CONDIÇÕES · </a:t>
            </a:r>
            <a:r>
              <a:rPr lang="pt-BR" sz="975" b="1" dirty="0">
                <a:solidFill>
                  <a:srgbClr val="061B33"/>
                </a:solidFill>
                <a:latin typeface="DejaVu Sans"/>
                <a:ea typeface="DejaVu Sans"/>
                <a:cs typeface="DejaVu Sans"/>
              </a:rPr>
              <a:t>OTIMIZAR RECURSOS</a:t>
            </a:r>
            <a:endParaRPr sz="975" b="1" dirty="0">
              <a:solidFill>
                <a:srgbClr val="061B3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63BB3B2-DD65-464B-B339-99D28DED17AD}"/>
              </a:ext>
            </a:extLst>
          </p:cNvPr>
          <p:cNvSpPr>
            <a:spLocks noGrp="1"/>
          </p:cNvSpPr>
          <p:nvPr/>
        </p:nvSpPr>
        <p:spPr>
          <a:xfrm>
            <a:off x="7696200" y="3752850"/>
            <a:ext cx="3867150" cy="2457450"/>
          </a:xfrm>
          <a:prstGeom prst="roundRect">
            <a:avLst>
              <a:gd name="adj" fmla="val 6977"/>
            </a:avLst>
          </a:prstGeom>
          <a:solidFill>
            <a:srgbClr val="061B33">
              <a:alpha val="88000"/>
            </a:srgbClr>
          </a:solidFill>
          <a:ln w="9525">
            <a:solidFill>
              <a:srgbClr val="22C7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EC48D31-F6AF-4D34-B150-041080FC3BE4}"/>
              </a:ext>
            </a:extLst>
          </p:cNvPr>
          <p:cNvSpPr>
            <a:spLocks noGrp="1"/>
          </p:cNvSpPr>
          <p:nvPr/>
        </p:nvSpPr>
        <p:spPr>
          <a:xfrm>
            <a:off x="7962900" y="3990975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58D6A5"/>
                </a:solidFill>
                <a:latin typeface="DejaVu Sans"/>
                <a:ea typeface="DejaVu Sans"/>
                <a:cs typeface="DejaVu Sans"/>
              </a:defRPr>
            </a:pPr>
            <a:r>
              <a:rPr sz="975" b="1" i="0">
                <a:solidFill>
                  <a:srgbClr val="58D6A5"/>
                </a:solidFill>
                <a:latin typeface="DejaVu Sans"/>
                <a:ea typeface="DejaVu Sans"/>
                <a:cs typeface="DejaVu Sans"/>
              </a:rPr>
              <a:t>FONTES TÉCNICAS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8B3383B4-BF66-4A3B-9FED-368C337C5455}"/>
              </a:ext>
            </a:extLst>
          </p:cNvPr>
          <p:cNvSpPr>
            <a:spLocks noGrp="1"/>
          </p:cNvSpPr>
          <p:nvPr/>
        </p:nvSpPr>
        <p:spPr>
          <a:xfrm>
            <a:off x="7962900" y="4324350"/>
            <a:ext cx="3333750" cy="1600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25000"/>
              </a:lnSpc>
              <a:buNone/>
              <a:defRPr sz="975" b="0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ONS · PAR/PEL 2025 — Sumário Executivo</a:t>
            </a:r>
          </a:p>
          <a:p>
            <a:pPr algn="l">
              <a:lnSpc>
                <a:spcPct val="125000"/>
              </a:lnSpc>
              <a:buNone/>
              <a:defRPr sz="975" b="0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ons.org.br/.../parpel2025/sumario-executivo</a:t>
            </a:r>
          </a:p>
          <a:p>
            <a:pPr algn="l">
              <a:lnSpc>
                <a:spcPct val="125000"/>
              </a:lnSpc>
              <a:buNone/>
              <a:defRPr sz="975" b="0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ONS · Portal de Dados Abertos — dados.ons.org.br</a:t>
            </a:r>
          </a:p>
          <a:p>
            <a:pPr algn="l">
              <a:lnSpc>
                <a:spcPct val="125000"/>
              </a:lnSpc>
              <a:buNone/>
              <a:defRPr sz="975" b="0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ONS · FAQ Curtailment — ons.org.br/Paginas/faq_curtailment.aspx</a:t>
            </a:r>
          </a:p>
          <a:p>
            <a:pPr algn="l">
              <a:lnSpc>
                <a:spcPct val="125000"/>
              </a:lnSpc>
              <a:buNone/>
              <a:defRPr sz="975" b="0" i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 i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WECC · Composite Load Model Specification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5EEFC72-106A-43B2-BDDB-F510021D6CDF}"/>
              </a:ext>
            </a:extLst>
          </p:cNvPr>
          <p:cNvSpPr>
            <a:spLocks noGrp="1"/>
          </p:cNvSpPr>
          <p:nvPr/>
        </p:nvSpPr>
        <p:spPr>
          <a:xfrm>
            <a:off x="666750" y="6381750"/>
            <a:ext cx="647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4000"/>
              </a:lnSpc>
              <a:buNone/>
              <a:defRPr sz="97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defRPr>
            </a:pPr>
            <a:r>
              <a:rPr sz="975" b="0" i="0">
                <a:solidFill>
                  <a:srgbClr val="D9F6FD"/>
                </a:solidFill>
                <a:latin typeface="DejaVu Sans"/>
                <a:ea typeface="DejaVu Sans"/>
                <a:cs typeface="DejaVu Sans"/>
              </a:rPr>
              <a:t>Hackathon IA COPPE/UFRJ 2026 · Transição Energética</a:t>
            </a:r>
          </a:p>
        </p:txBody>
      </p:sp>
    </p:spTree>
    <p:extLst>
      <p:ext uri="{BB962C8B-B14F-4D97-AF65-F5344CB8AC3E}">
        <p14:creationId xmlns:p14="http://schemas.microsoft.com/office/powerpoint/2010/main" val="7104057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2022</Words>
  <Application>Microsoft Office PowerPoint</Application>
  <DocSecurity>0</DocSecurity>
  <PresentationFormat>Widescreen</PresentationFormat>
  <Paragraphs>256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Calibri</vt:lpstr>
      <vt:lpstr>DejaVu Sans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Lígia Rolim</cp:lastModifiedBy>
  <cp:revision>1</cp:revision>
  <dcterms:created xsi:type="dcterms:W3CDTF">2026-09-13T22:19:27Z</dcterms:created>
  <dcterms:modified xsi:type="dcterms:W3CDTF">2026-09-13T22:53:51Z</dcterms:modified>
</cp:coreProperties>
</file>