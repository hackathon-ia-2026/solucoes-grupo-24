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68" r:id="rId2"/>
    <p:sldId id="269" r:id="rId10"/>
    <p:sldId id="270" r:id="rId11"/>
    <p:sldId id="271" r:id="rId12"/>
    <p:sldId id="272" r:id="rId13"/>
    <p:sldId id="273" r:id="rId9"/>
    <p:sldId id="274" r:id="rId8"/>
    <p:sldId id="275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16FEAC-854F-40A6-AFFA-432E683711B7}" v="3" dt="2026-09-13T22:55:00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732" autoAdjust="0"/>
  </p:normalViewPr>
  <p:slideViewPr>
    <p:cSldViewPr snapToGrid="0">
      <p:cViewPr varScale="1">
        <p:scale>
          <a:sx n="63" d="100"/>
          <a:sy n="63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6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gia Rolim da Silva" userId="fbfb8c71-666a-4142-abbf-504e3765d1c9" providerId="ADAL" clId="{FA76E5CA-1635-4CD7-8042-536D286A8E09}"/>
    <pc:docChg chg="custSel addSld delSld modSld">
      <pc:chgData name="Ligia Rolim da Silva" userId="fbfb8c71-666a-4142-abbf-504e3765d1c9" providerId="ADAL" clId="{FA76E5CA-1635-4CD7-8042-536D286A8E09}" dt="2026-09-13T22:55:51.194" v="39" actId="1076"/>
      <pc:docMkLst>
        <pc:docMk/>
      </pc:docMkLst>
      <pc:sldChg chg="modSp del mod">
        <pc:chgData name="Ligia Rolim da Silva" userId="fbfb8c71-666a-4142-abbf-504e3765d1c9" providerId="ADAL" clId="{FA76E5CA-1635-4CD7-8042-536D286A8E09}" dt="2026-09-13T22:54:17.978" v="21" actId="47"/>
        <pc:sldMkLst>
          <pc:docMk/>
          <pc:sldMk cId="338314519" sldId="256"/>
        </pc:sldMkLst>
        <pc:spChg chg="mod">
          <ac:chgData name="Ligia Rolim da Silva" userId="fbfb8c71-666a-4142-abbf-504e3765d1c9" providerId="ADAL" clId="{FA76E5CA-1635-4CD7-8042-536D286A8E09}" dt="2026-09-13T22:54:15.305" v="20" actId="27636"/>
          <ac:spMkLst>
            <pc:docMk/>
            <pc:sldMk cId="338314519" sldId="256"/>
            <ac:spMk id="7" creationId="{104B5957-B56F-4BDB-A6DD-9E0E9D761912}"/>
          </ac:spMkLst>
        </pc:spChg>
      </pc:sldChg>
      <pc:sldChg chg="del">
        <pc:chgData name="Ligia Rolim da Silva" userId="fbfb8c71-666a-4142-abbf-504e3765d1c9" providerId="ADAL" clId="{FA76E5CA-1635-4CD7-8042-536D286A8E09}" dt="2026-09-13T22:54:27.370" v="23" actId="47"/>
        <pc:sldMkLst>
          <pc:docMk/>
          <pc:sldMk cId="1252882878" sldId="257"/>
        </pc:sldMkLst>
      </pc:sldChg>
      <pc:sldChg chg="del">
        <pc:chgData name="Ligia Rolim da Silva" userId="fbfb8c71-666a-4142-abbf-504e3765d1c9" providerId="ADAL" clId="{FA76E5CA-1635-4CD7-8042-536D286A8E09}" dt="2026-09-13T22:55:02.020" v="25" actId="47"/>
        <pc:sldMkLst>
          <pc:docMk/>
          <pc:sldMk cId="650032880" sldId="258"/>
        </pc:sldMkLst>
      </pc:sldChg>
      <pc:sldChg chg="modSp mod">
        <pc:chgData name="Ligia Rolim da Silva" userId="fbfb8c71-666a-4142-abbf-504e3765d1c9" providerId="ADAL" clId="{FA76E5CA-1635-4CD7-8042-536D286A8E09}" dt="2026-09-13T22:54:15.180" v="3" actId="27636"/>
        <pc:sldMkLst>
          <pc:docMk/>
          <pc:sldMk cId="953358249" sldId="259"/>
        </pc:sldMkLst>
        <pc:spChg chg="mod">
          <ac:chgData name="Ligia Rolim da Silva" userId="fbfb8c71-666a-4142-abbf-504e3765d1c9" providerId="ADAL" clId="{FA76E5CA-1635-4CD7-8042-536D286A8E09}" dt="2026-09-13T22:54:15.180" v="3" actId="27636"/>
          <ac:spMkLst>
            <pc:docMk/>
            <pc:sldMk cId="953358249" sldId="259"/>
            <ac:spMk id="16" creationId="{E077A481-FC40-4B72-8FC5-85EFD50CE141}"/>
          </ac:spMkLst>
        </pc:spChg>
        <pc:spChg chg="mod">
          <ac:chgData name="Ligia Rolim da Silva" userId="fbfb8c71-666a-4142-abbf-504e3765d1c9" providerId="ADAL" clId="{FA76E5CA-1635-4CD7-8042-536D286A8E09}" dt="2026-09-13T22:54:15.175" v="1" actId="27636"/>
          <ac:spMkLst>
            <pc:docMk/>
            <pc:sldMk cId="953358249" sldId="259"/>
            <ac:spMk id="17" creationId="{F1F6D2E4-0834-4605-9D81-D4BC27A6825C}"/>
          </ac:spMkLst>
        </pc:spChg>
        <pc:spChg chg="mod">
          <ac:chgData name="Ligia Rolim da Silva" userId="fbfb8c71-666a-4142-abbf-504e3765d1c9" providerId="ADAL" clId="{FA76E5CA-1635-4CD7-8042-536D286A8E09}" dt="2026-09-13T22:54:15.178" v="2" actId="27636"/>
          <ac:spMkLst>
            <pc:docMk/>
            <pc:sldMk cId="953358249" sldId="259"/>
            <ac:spMk id="27" creationId="{2FDDCEC0-7FC1-438F-A7C0-19141797DF7B}"/>
          </ac:spMkLst>
        </pc:spChg>
      </pc:sldChg>
      <pc:sldChg chg="addSp modSp mod">
        <pc:chgData name="Ligia Rolim da Silva" userId="fbfb8c71-666a-4142-abbf-504e3765d1c9" providerId="ADAL" clId="{FA76E5CA-1635-4CD7-8042-536D286A8E09}" dt="2026-09-13T22:55:51.194" v="39" actId="1076"/>
        <pc:sldMkLst>
          <pc:docMk/>
          <pc:sldMk cId="26689343" sldId="260"/>
        </pc:sldMkLst>
        <pc:spChg chg="mod">
          <ac:chgData name="Ligia Rolim da Silva" userId="fbfb8c71-666a-4142-abbf-504e3765d1c9" providerId="ADAL" clId="{FA76E5CA-1635-4CD7-8042-536D286A8E09}" dt="2026-09-13T22:54:15.191" v="4" actId="27636"/>
          <ac:spMkLst>
            <pc:docMk/>
            <pc:sldMk cId="26689343" sldId="260"/>
            <ac:spMk id="17" creationId="{176DD0F3-7215-4103-899F-0FF5FE4CF2BD}"/>
          </ac:spMkLst>
        </pc:spChg>
        <pc:picChg chg="add mod">
          <ac:chgData name="Ligia Rolim da Silva" userId="fbfb8c71-666a-4142-abbf-504e3765d1c9" providerId="ADAL" clId="{FA76E5CA-1635-4CD7-8042-536D286A8E09}" dt="2026-09-13T22:55:51.194" v="39" actId="1076"/>
          <ac:picMkLst>
            <pc:docMk/>
            <pc:sldMk cId="26689343" sldId="260"/>
            <ac:picMk id="28" creationId="{F3C1BBE6-1B8B-FE91-79CF-C90A6C53304F}"/>
          </ac:picMkLst>
        </pc:picChg>
        <pc:picChg chg="add mod">
          <ac:chgData name="Ligia Rolim da Silva" userId="fbfb8c71-666a-4142-abbf-504e3765d1c9" providerId="ADAL" clId="{FA76E5CA-1635-4CD7-8042-536D286A8E09}" dt="2026-09-13T22:55:47.099" v="36" actId="1076"/>
          <ac:picMkLst>
            <pc:docMk/>
            <pc:sldMk cId="26689343" sldId="260"/>
            <ac:picMk id="30" creationId="{63557A15-B05A-9AE7-C500-480FC9A8D229}"/>
          </ac:picMkLst>
        </pc:picChg>
      </pc:sldChg>
      <pc:sldChg chg="modSp mod">
        <pc:chgData name="Ligia Rolim da Silva" userId="fbfb8c71-666a-4142-abbf-504e3765d1c9" providerId="ADAL" clId="{FA76E5CA-1635-4CD7-8042-536D286A8E09}" dt="2026-09-13T22:54:15.210" v="6" actId="27636"/>
        <pc:sldMkLst>
          <pc:docMk/>
          <pc:sldMk cId="230654313" sldId="261"/>
        </pc:sldMkLst>
        <pc:spChg chg="mod">
          <ac:chgData name="Ligia Rolim da Silva" userId="fbfb8c71-666a-4142-abbf-504e3765d1c9" providerId="ADAL" clId="{FA76E5CA-1635-4CD7-8042-536D286A8E09}" dt="2026-09-13T22:54:15.204" v="5" actId="27636"/>
          <ac:spMkLst>
            <pc:docMk/>
            <pc:sldMk cId="230654313" sldId="261"/>
            <ac:spMk id="19" creationId="{BC8F30EE-F4B8-4EBB-B7CE-3F32059B31AE}"/>
          </ac:spMkLst>
        </pc:spChg>
        <pc:spChg chg="mod">
          <ac:chgData name="Ligia Rolim da Silva" userId="fbfb8c71-666a-4142-abbf-504e3765d1c9" providerId="ADAL" clId="{FA76E5CA-1635-4CD7-8042-536D286A8E09}" dt="2026-09-13T22:54:15.210" v="6" actId="27636"/>
          <ac:spMkLst>
            <pc:docMk/>
            <pc:sldMk cId="230654313" sldId="261"/>
            <ac:spMk id="38" creationId="{B2F38C92-EBF8-4991-B13F-3F76AF03456B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35" v="10" actId="27636"/>
        <pc:sldMkLst>
          <pc:docMk/>
          <pc:sldMk cId="496114723" sldId="262"/>
        </pc:sldMkLst>
        <pc:spChg chg="mod">
          <ac:chgData name="Ligia Rolim da Silva" userId="fbfb8c71-666a-4142-abbf-504e3765d1c9" providerId="ADAL" clId="{FA76E5CA-1635-4CD7-8042-536D286A8E09}" dt="2026-09-13T22:54:15.231" v="9" actId="27636"/>
          <ac:spMkLst>
            <pc:docMk/>
            <pc:sldMk cId="496114723" sldId="262"/>
            <ac:spMk id="13" creationId="{C20DF4A6-52F1-4B29-8977-E53E2895DF76}"/>
          </ac:spMkLst>
        </pc:spChg>
        <pc:spChg chg="mod">
          <ac:chgData name="Ligia Rolim da Silva" userId="fbfb8c71-666a-4142-abbf-504e3765d1c9" providerId="ADAL" clId="{FA76E5CA-1635-4CD7-8042-536D286A8E09}" dt="2026-09-13T22:54:15.235" v="10" actId="27636"/>
          <ac:spMkLst>
            <pc:docMk/>
            <pc:sldMk cId="496114723" sldId="262"/>
            <ac:spMk id="34" creationId="{330784E9-DF00-487F-9997-4D36C38C2D34}"/>
          </ac:spMkLst>
        </pc:spChg>
        <pc:spChg chg="mod">
          <ac:chgData name="Ligia Rolim da Silva" userId="fbfb8c71-666a-4142-abbf-504e3765d1c9" providerId="ADAL" clId="{FA76E5CA-1635-4CD7-8042-536D286A8E09}" dt="2026-09-13T22:54:15.225" v="8" actId="27636"/>
          <ac:spMkLst>
            <pc:docMk/>
            <pc:sldMk cId="496114723" sldId="262"/>
            <ac:spMk id="38" creationId="{B3F12612-EEE1-43B2-987F-9DD315E2783B}"/>
          </ac:spMkLst>
        </pc:spChg>
        <pc:spChg chg="mod">
          <ac:chgData name="Ligia Rolim da Silva" userId="fbfb8c71-666a-4142-abbf-504e3765d1c9" providerId="ADAL" clId="{FA76E5CA-1635-4CD7-8042-536D286A8E09}" dt="2026-09-13T22:54:15.220" v="7" actId="27636"/>
          <ac:spMkLst>
            <pc:docMk/>
            <pc:sldMk cId="496114723" sldId="262"/>
            <ac:spMk id="42" creationId="{C8569297-72BD-4799-A19B-3EF08091B238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49" v="12" actId="27636"/>
        <pc:sldMkLst>
          <pc:docMk/>
          <pc:sldMk cId="97620267" sldId="263"/>
        </pc:sldMkLst>
        <pc:spChg chg="mod">
          <ac:chgData name="Ligia Rolim da Silva" userId="fbfb8c71-666a-4142-abbf-504e3765d1c9" providerId="ADAL" clId="{FA76E5CA-1635-4CD7-8042-536D286A8E09}" dt="2026-09-13T22:54:15.249" v="12" actId="27636"/>
          <ac:spMkLst>
            <pc:docMk/>
            <pc:sldMk cId="97620267" sldId="263"/>
            <ac:spMk id="40" creationId="{B4D0B400-82D1-4D05-AEF2-2C6CB51ACBBA}"/>
          </ac:spMkLst>
        </pc:spChg>
        <pc:spChg chg="mod">
          <ac:chgData name="Ligia Rolim da Silva" userId="fbfb8c71-666a-4142-abbf-504e3765d1c9" providerId="ADAL" clId="{FA76E5CA-1635-4CD7-8042-536D286A8E09}" dt="2026-09-13T22:54:15.242" v="11" actId="27636"/>
          <ac:spMkLst>
            <pc:docMk/>
            <pc:sldMk cId="97620267" sldId="263"/>
            <ac:spMk id="54" creationId="{19402882-1A11-458D-945F-A856AD6CE1A3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57" v="15" actId="27636"/>
        <pc:sldMkLst>
          <pc:docMk/>
          <pc:sldMk cId="278837521" sldId="264"/>
        </pc:sldMkLst>
        <pc:spChg chg="mod">
          <ac:chgData name="Ligia Rolim da Silva" userId="fbfb8c71-666a-4142-abbf-504e3765d1c9" providerId="ADAL" clId="{FA76E5CA-1635-4CD7-8042-536D286A8E09}" dt="2026-09-13T22:54:15.253" v="13" actId="27636"/>
          <ac:spMkLst>
            <pc:docMk/>
            <pc:sldMk cId="278837521" sldId="264"/>
            <ac:spMk id="12" creationId="{9B22085E-B19F-4389-B29E-FB59E2DC88C8}"/>
          </ac:spMkLst>
        </pc:spChg>
        <pc:spChg chg="mod">
          <ac:chgData name="Ligia Rolim da Silva" userId="fbfb8c71-666a-4142-abbf-504e3765d1c9" providerId="ADAL" clId="{FA76E5CA-1635-4CD7-8042-536D286A8E09}" dt="2026-09-13T22:54:15.257" v="15" actId="27636"/>
          <ac:spMkLst>
            <pc:docMk/>
            <pc:sldMk cId="278837521" sldId="264"/>
            <ac:spMk id="16" creationId="{FF5F12D6-15F0-4915-BBBA-203DD30FB866}"/>
          </ac:spMkLst>
        </pc:spChg>
        <pc:spChg chg="mod">
          <ac:chgData name="Ligia Rolim da Silva" userId="fbfb8c71-666a-4142-abbf-504e3765d1c9" providerId="ADAL" clId="{FA76E5CA-1635-4CD7-8042-536D286A8E09}" dt="2026-09-13T22:54:15.254" v="14" actId="27636"/>
          <ac:spMkLst>
            <pc:docMk/>
            <pc:sldMk cId="278837521" sldId="264"/>
            <ac:spMk id="19" creationId="{97211235-FE54-4E04-A2F6-19AB57D58FE7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68" v="16" actId="27636"/>
        <pc:sldMkLst>
          <pc:docMk/>
          <pc:sldMk cId="1385590671" sldId="265"/>
        </pc:sldMkLst>
        <pc:spChg chg="mod">
          <ac:chgData name="Ligia Rolim da Silva" userId="fbfb8c71-666a-4142-abbf-504e3765d1c9" providerId="ADAL" clId="{FA76E5CA-1635-4CD7-8042-536D286A8E09}" dt="2026-09-13T22:54:15.268" v="16" actId="27636"/>
          <ac:spMkLst>
            <pc:docMk/>
            <pc:sldMk cId="1385590671" sldId="265"/>
            <ac:spMk id="5" creationId="{CE2C8D96-2B10-4516-A78E-54A81EE58015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84" v="18" actId="27636"/>
        <pc:sldMkLst>
          <pc:docMk/>
          <pc:sldMk cId="816622820" sldId="266"/>
        </pc:sldMkLst>
        <pc:spChg chg="mod">
          <ac:chgData name="Ligia Rolim da Silva" userId="fbfb8c71-666a-4142-abbf-504e3765d1c9" providerId="ADAL" clId="{FA76E5CA-1635-4CD7-8042-536D286A8E09}" dt="2026-09-13T22:54:15.282" v="17" actId="27636"/>
          <ac:spMkLst>
            <pc:docMk/>
            <pc:sldMk cId="816622820" sldId="266"/>
            <ac:spMk id="5" creationId="{CCA29A42-061C-4392-95E3-6F5A860B57F8}"/>
          </ac:spMkLst>
        </pc:spChg>
        <pc:spChg chg="mod">
          <ac:chgData name="Ligia Rolim da Silva" userId="fbfb8c71-666a-4142-abbf-504e3765d1c9" providerId="ADAL" clId="{FA76E5CA-1635-4CD7-8042-536D286A8E09}" dt="2026-09-13T22:54:15.284" v="18" actId="27636"/>
          <ac:spMkLst>
            <pc:docMk/>
            <pc:sldMk cId="816622820" sldId="266"/>
            <ac:spMk id="24" creationId="{A50CAD5F-AD6B-4D88-AA8B-2A0346769C00}"/>
          </ac:spMkLst>
        </pc:spChg>
      </pc:sldChg>
      <pc:sldChg chg="modSp mod">
        <pc:chgData name="Ligia Rolim da Silva" userId="fbfb8c71-666a-4142-abbf-504e3765d1c9" providerId="ADAL" clId="{FA76E5CA-1635-4CD7-8042-536D286A8E09}" dt="2026-09-13T22:54:15.291" v="19" actId="27636"/>
        <pc:sldMkLst>
          <pc:docMk/>
          <pc:sldMk cId="1515270000" sldId="267"/>
        </pc:sldMkLst>
        <pc:spChg chg="mod">
          <ac:chgData name="Ligia Rolim da Silva" userId="fbfb8c71-666a-4142-abbf-504e3765d1c9" providerId="ADAL" clId="{FA76E5CA-1635-4CD7-8042-536D286A8E09}" dt="2026-09-13T22:54:15.291" v="19" actId="27636"/>
          <ac:spMkLst>
            <pc:docMk/>
            <pc:sldMk cId="1515270000" sldId="267"/>
            <ac:spMk id="2" creationId="{39921D0E-2D07-4C7D-8494-D7D788CC83C4}"/>
          </ac:spMkLst>
        </pc:spChg>
      </pc:sldChg>
      <pc:sldChg chg="add setBg">
        <pc:chgData name="Ligia Rolim da Silva" userId="fbfb8c71-666a-4142-abbf-504e3765d1c9" providerId="ADAL" clId="{FA76E5CA-1635-4CD7-8042-536D286A8E09}" dt="2026-09-13T22:54:15.073" v="0"/>
        <pc:sldMkLst>
          <pc:docMk/>
          <pc:sldMk cId="1510257333" sldId="268"/>
        </pc:sldMkLst>
      </pc:sldChg>
      <pc:sldChg chg="add setBg">
        <pc:chgData name="Ligia Rolim da Silva" userId="fbfb8c71-666a-4142-abbf-504e3765d1c9" providerId="ADAL" clId="{FA76E5CA-1635-4CD7-8042-536D286A8E09}" dt="2026-09-13T22:54:25.269" v="22"/>
        <pc:sldMkLst>
          <pc:docMk/>
          <pc:sldMk cId="29081268" sldId="269"/>
        </pc:sldMkLst>
      </pc:sldChg>
      <pc:sldChg chg="add setBg">
        <pc:chgData name="Ligia Rolim da Silva" userId="fbfb8c71-666a-4142-abbf-504e3765d1c9" providerId="ADAL" clId="{FA76E5CA-1635-4CD7-8042-536D286A8E09}" dt="2026-09-13T22:55:00.419" v="24"/>
        <pc:sldMkLst>
          <pc:docMk/>
          <pc:sldMk cId="543649783" sldId="270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Mapa Inteligente (ortoimagem)</c:v>
                </c:pt>
              </c:strCache>
            </c:strRef>
          </c:tx>
          <c:spPr>
            <a:solidFill>
              <a:srgbClr val="9FB3C8"/>
            </a:solidFill>
          </c:spPr>
          <c:cat>
            <c:strRef>
              <c:f>Sheet1!$A$2:$A$5</c:f>
              <c:strCache>
                <c:ptCount val="4"/>
                <c:pt idx="0">
                  <c:v>residencial</c:v>
                </c:pt>
                <c:pt idx="1">
                  <c:v>comercial</c:v>
                </c:pt>
                <c:pt idx="2">
                  <c:v>industrial</c:v>
                </c:pt>
                <c:pt idx="3">
                  <c:v>rural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0.1227</c:v>
                </c:pt>
                <c:pt idx="1">
                  <c:v>0.7417</c:v>
                </c:pt>
                <c:pt idx="2">
                  <c:v>0.049</c:v>
                </c:pt>
                <c:pt idx="3">
                  <c:v>0.0866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BDGD + SAMP (faturamento)</c:v>
                </c:pt>
              </c:strCache>
            </c:strRef>
          </c:tx>
          <c:spPr>
            <a:solidFill>
              <a:srgbClr val="D8690E"/>
            </a:solidFill>
          </c:spPr>
          <c:cat>
            <c:strRef>
              <c:f>Sheet1!$A$2:$A$5</c:f>
              <c:strCache>
                <c:ptCount val="4"/>
                <c:pt idx="0">
                  <c:v>residencial</c:v>
                </c:pt>
                <c:pt idx="1">
                  <c:v>comercial</c:v>
                </c:pt>
                <c:pt idx="2">
                  <c:v>industrial</c:v>
                </c:pt>
                <c:pt idx="3">
                  <c:v>rural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0.4358</c:v>
                </c:pt>
                <c:pt idx="1">
                  <c:v>0.475</c:v>
                </c:pt>
                <c:pt idx="2">
                  <c:v>0.089</c:v>
                </c:pt>
                <c:pt idx="3">
                  <c:v>0.0002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61B33"/>
                  </a:solidFill>
                  <a:latin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7E5"/>
            </a:solidFill>
          </a:ln>
        </c:spPr>
        <c:txPr>
          <a:bodyPr/>
          <a:lstStyle/>
          <a:p>
            <a:pPr>
              <a:defRPr sz="1050">
                <a:solidFill>
                  <a:srgbClr val="061B33"/>
                </a:solidFill>
                <a:latin typeface="DejaVu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52667C"/>
              </a:solidFill>
              <a:latin typeface="DejaVu 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razão</c:v>
                </c:pt>
              </c:strCache>
            </c:strRef>
          </c:tx>
          <c:spPr>
            <a:solidFill>
              <a:srgbClr val="0E8B7E"/>
            </a:solidFill>
          </c:spPr>
          <c:cat>
            <c:strRef>
              <c:f>Sheet1!$A$2:$A$5</c:f>
              <c:strCache>
                <c:ptCount val="4"/>
                <c:pt idx="0">
                  <c:v>SE</c:v>
                </c:pt>
                <c:pt idx="1">
                  <c:v>S</c:v>
                </c:pt>
                <c:pt idx="2">
                  <c:v>NE</c:v>
                </c:pt>
                <c:pt idx="3">
                  <c:v>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0.651</c:v>
                </c:pt>
                <c:pt idx="1">
                  <c:v>0.745</c:v>
                </c:pt>
                <c:pt idx="2">
                  <c:v>0.615</c:v>
                </c:pt>
                <c:pt idx="3">
                  <c:v>0.393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061B33"/>
                  </a:solidFill>
                  <a:latin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7E5"/>
            </a:solidFill>
          </a:ln>
        </c:spPr>
        <c:txPr>
          <a:bodyPr/>
          <a:lstStyle/>
          <a:p>
            <a:pPr>
              <a:defRPr sz="1050" b="1">
                <a:latin typeface="DejaVu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Seção nova do protótipo: correlação entre as subestações de fronteira da Rede Básica (ONS) e as subestações de distribuição (ANEEL). Serve principalmente ao Eixo 1 e alimenta o Eixo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seção serve principalmente ao Eixo 1: melhora a representação da carga e da MMGD que alimenta o CLM, nas etapas 1 a 3 da cadeia. Também dá ao Eixo 2 a granularidade de fronteira do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duas pontas existem em dado aberto; a ligação entre elas não. A SED é reconstruída a partir das unidades consumidoras que ela atende.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posição da SED é a mediana das UCs que ela atende: é a posição da carga, que é o que importa para saber de onde ela recebe energia.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Dados reais, não demonstrativos. Cada ponto é uma SED; o tamanho da SE de fronteira é proporcional à raiz do MVA.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Inteligente: morfologia de ortoimagem sintética com prior do subsistema. Fronteira T-D: energia faturada real por classe. A diferença é o ganho de representação que vai ao modelo de carga.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externa contra a carga do ONS; coerência física do carregamento implícito; e varredura das duas premissas que mais pesam.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a seção fecha a lacuna entre a Rede Básica e a distribuição com dado aberto, e entrega ao modelo de carga uma composição medida em vez de estimada.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9A140C6-82B2-44F3-8619-E87850C51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762750" cy="6858000"/>
          </a:xfrm>
          <a:prstGeom prst="rect">
            <a:avLst/>
          </a:prstGeom>
          <a:gradFill>
            <a:gsLst>
              <a:gs pos="0">
                <a:srgbClr val="041427">
                  <a:alpha val="100000"/>
                </a:srgbClr>
              </a:gs>
              <a:gs pos="70000">
                <a:srgbClr val="041427">
                  <a:alpha val="94000"/>
                </a:srgbClr>
              </a:gs>
              <a:gs pos="100000">
                <a:srgbClr val="041427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E680C6A-ADDF-4C85-98F6-23985592E2ED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28956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NOVA SEÇÃO DO PROTÓTIPO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BCEF8A1-6556-4F4B-AB72-E4FD1F85DA1C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48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Fronteira T–D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53BE4C1-0098-45C4-901C-DEE3A06F746D}"/>
              </a:ext>
            </a:extLst>
          </p:cNvPr>
          <p:cNvSpPr>
            <a:spLocks noGrp="1"/>
          </p:cNvSpPr>
          <p:nvPr/>
        </p:nvSpPr>
        <p:spPr>
          <a:xfrm>
            <a:off x="666750" y="2371725"/>
            <a:ext cx="5619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75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Correlação entre as SEs de fronteira da Rede Básica e as subestações de distribuição</a:t>
            </a:r>
            <a:endParaRPr sz="1875" b="1" i="0" dirty="0">
              <a:solidFill>
                <a:srgbClr val="D9F6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D70B0BA0-AAB5-4672-A67E-0F1F586B86DC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4000500" cy="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E64611-3292-495D-8728-B1D0A619B5DE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92" lnSpcReduction="10000"/>
          </a:bodyPr>
          <a:lstStyle/>
          <a:p>
            <a:pPr algn="l">
              <a:lnSpc>
                <a:spcPct val="106000"/>
              </a:lnSpc>
              <a:buNone/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Carga e MMGD medidas na distribuição, levadas até a SE de fronteira — e dali ao modelo de carga</a:t>
            </a:r>
            <a:endParaRPr sz="225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3C4A2A-E31E-4BC4-AEC8-05AAACCE4C05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  ·  Eixo 1 · Carga e MMGD nos estudos elétricos  ·  ponte para o Eixo 2</a:t>
            </a:r>
            <a:endParaRPr sz="1125" b="0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1025733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ONDE SE ENCAIXA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Eixo 1, com ponte para o Eixo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A seção qualifica a carga e a MMGD de cada SE de fronteira — exatamente o insumo que o Composite Load Model precisa.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057400"/>
            <a:ext cx="598932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30936" y="2057400"/>
            <a:ext cx="5989320" cy="548640"/>
          </a:xfrm>
          <a:prstGeom prst="roundRect">
            <a:avLst>
              <a:gd name="adj" fmla="val 30000"/>
            </a:avLst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2057400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FFFFFF"/>
                </a:solidFill>
                <a:latin typeface="DejaVu Sans"/>
              </a:rPr>
              <a:t>EIXO 1 · CARGA E MMGD NOS ESTUDOS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6048" y="2176272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50" b="1">
                <a:solidFill>
                  <a:srgbClr val="D8690E"/>
                </a:solidFill>
                <a:latin typeface="DejaVu Sans"/>
              </a:rPr>
              <a:t>EIXO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788920"/>
            <a:ext cx="5440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35808"/>
            <a:ext cx="5440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061B33"/>
                </a:solidFill>
                <a:latin typeface="DejaVu Sans"/>
              </a:rPr>
              <a:t>Levar a cada SE de fronteira a composição de carga e a MMGD que de fato passam por ela, medidas no faturamento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767328"/>
            <a:ext cx="5440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ENTREGA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986784"/>
            <a:ext cx="5440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667C"/>
                </a:solidFill>
                <a:latin typeface="DejaVu Sans"/>
              </a:rPr>
              <a:t>Composição por classe e MMGD por SE de fronteira → cartão do CLM com fonte = BDGD, no lugar da estimativa por ortoimagem.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" y="4590288"/>
            <a:ext cx="5440680" cy="36576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75" b="1">
                <a:solidFill>
                  <a:srgbClr val="FFFFFF"/>
                </a:solidFill>
                <a:latin typeface="DejaVu Sans"/>
              </a:rPr>
              <a:t>CLM · ESTABILIDADE ELETROMECÂNICA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057400"/>
            <a:ext cx="46634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903720" y="2057400"/>
            <a:ext cx="4663440" cy="548640"/>
          </a:xfrm>
          <a:prstGeom prst="roundRect">
            <a:avLst>
              <a:gd name="adj" fmla="val 30000"/>
            </a:avLst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0" y="2057400"/>
            <a:ext cx="329183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75" b="1" i="0">
                <a:solidFill>
                  <a:srgbClr val="FFFFFF"/>
                </a:solidFill>
                <a:latin typeface="DejaVu Sans"/>
              </a:rPr>
              <a:t>EIXO 2 · INTERFACE ONS–DSO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311" y="217627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850" b="1">
                <a:solidFill>
                  <a:srgbClr val="123C67"/>
                </a:solidFill>
                <a:latin typeface="DejaVu Sans"/>
              </a:rPr>
              <a:t>APOIO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788920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123C67"/>
                </a:solidFill>
                <a:latin typeface="DejaVu Sans"/>
              </a:rPr>
              <a:t>OBJETIVO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035808"/>
            <a:ext cx="4114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75" b="0" i="0">
                <a:solidFill>
                  <a:srgbClr val="061B33"/>
                </a:solidFill>
                <a:latin typeface="DejaVu Sans"/>
              </a:rPr>
              <a:t>Materializar a granularidade “fronteira” do payload ONS–DSO.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767328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123C67"/>
                </a:solidFill>
                <a:latin typeface="DejaVu Sans"/>
              </a:rPr>
              <a:t>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8678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2667C"/>
                </a:solidFill>
                <a:latin typeface="DejaVu Sans"/>
              </a:rPr>
              <a:t>Cada SE sabe quais SEDs e distribuidoras alimenta — base para localizar carga e MMGD por área.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4590288"/>
            <a:ext cx="4114800" cy="365760"/>
          </a:xfrm>
          <a:prstGeom prst="roundRect">
            <a:avLst>
              <a:gd name="adj" fmla="val 50000"/>
            </a:avLst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975" b="1">
                <a:solidFill>
                  <a:srgbClr val="FFFFFF"/>
                </a:solidFill>
                <a:latin typeface="DejaVu Sans"/>
              </a:rPr>
              <a:t>GRANULARIDADE · ÁREA + FRONTEIRA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" y="542239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NA CADEIA DO EIXO 1</a:t>
            </a:r>
          </a:p>
          <a:p>
            <a:pPr algn="l"/>
            <a:r>
              <a:rPr sz="975" b="0" i="0">
                <a:solidFill>
                  <a:srgbClr val="52667C"/>
                </a:solidFill>
                <a:latin typeface="DejaVu Sans"/>
              </a:rPr>
              <a:t>etapas em que a seção atua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5394960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FFF0E2"/>
          </a:solidFill>
          <a:ln w="15875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19272" y="53949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8690E"/>
                </a:solidFill>
                <a:latin typeface="DejaVu Sans"/>
              </a:rPr>
              <a:t>1  </a:t>
            </a:r>
            <a:r>
              <a:rPr sz="900" b="1" i="0">
                <a:solidFill>
                  <a:srgbClr val="061B33"/>
                </a:solidFill>
                <a:latin typeface="DejaVu Sans"/>
              </a:rPr>
              <a:t>Séries e medições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27448" y="5678424"/>
            <a:ext cx="20116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928616" y="5394960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FFF0E2"/>
          </a:solidFill>
          <a:ln w="15875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01768" y="53949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8690E"/>
                </a:solidFill>
                <a:latin typeface="DejaVu Sans"/>
              </a:rPr>
              <a:t>2  </a:t>
            </a:r>
            <a:r>
              <a:rPr sz="900" b="1" i="0">
                <a:solidFill>
                  <a:srgbClr val="061B33"/>
                </a:solidFill>
                <a:latin typeface="DejaVu Sans"/>
              </a:rPr>
              <a:t>Caracterização de perfis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9944" y="5678424"/>
            <a:ext cx="20116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611112" y="5394960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FFF0E2"/>
          </a:solidFill>
          <a:ln w="15875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84264" y="53949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D8690E"/>
                </a:solidFill>
                <a:latin typeface="DejaVu Sans"/>
              </a:rPr>
              <a:t>3  </a:t>
            </a:r>
            <a:r>
              <a:rPr sz="900" b="1" i="0">
                <a:solidFill>
                  <a:srgbClr val="061B33"/>
                </a:solidFill>
                <a:latin typeface="DejaVu Sans"/>
              </a:rPr>
              <a:t>Parametrizar e calibrar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92440" y="5678424"/>
            <a:ext cx="20116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93608" y="5394960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66760" y="53949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2667C"/>
                </a:solidFill>
                <a:latin typeface="DejaVu Sans"/>
              </a:rPr>
              <a:t>4  </a:t>
            </a:r>
            <a:r>
              <a:rPr sz="900" b="0" i="0">
                <a:solidFill>
                  <a:srgbClr val="52667C"/>
                </a:solidFill>
                <a:latin typeface="DejaVu Sans"/>
              </a:rPr>
              <a:t>Modelos equivalentes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774936" y="5678424"/>
            <a:ext cx="20116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976104" y="5394960"/>
            <a:ext cx="1481328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049256" y="5394960"/>
            <a:ext cx="13350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2667C"/>
                </a:solidFill>
                <a:latin typeface="DejaVu Sans"/>
              </a:rPr>
              <a:t>5  </a:t>
            </a:r>
            <a:r>
              <a:rPr sz="900" b="0" i="0">
                <a:solidFill>
                  <a:srgbClr val="52667C"/>
                </a:solidFill>
                <a:latin typeface="DejaVu Sans"/>
              </a:rPr>
              <a:t>Estudos elétricos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Aderência: parametrização, validação e calibração de modelos de carga e MMGD e Projeto Interface ONS/DSO — PAR/PEL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O PROBLEMA DE 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Duas pontas, nenhuma ligação publicada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O ONS publica a Rede Básica; a subestação de distribuição está na ANEEL. Qual SE alimenta qual SED está no cadastro interno da distribuidora.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23C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05256" y="22860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23C67"/>
                </a:solidFill>
                <a:latin typeface="DejaVu Sans"/>
              </a:rPr>
              <a:t>ONS · REDE BÁSICA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60604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61B33"/>
                </a:solidFill>
                <a:latin typeface="DejaVu Sans"/>
              </a:rPr>
              <a:t>523</a:t>
            </a:r>
            <a:r>
              <a:rPr sz="1200" b="0" i="0">
                <a:solidFill>
                  <a:srgbClr val="52667C"/>
                </a:solidFill>
                <a:latin typeface="DejaVu Sans"/>
              </a:rPr>
              <a:t>  SEs de fronteira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383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61B33"/>
                </a:solidFill>
                <a:latin typeface="DejaVu Sans"/>
              </a:rPr>
              <a:t>secundário ≤ 138 kV: onde a energia desce para a distribuição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977639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subestacao + capacidade-transformacao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103120"/>
            <a:ext cx="35661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D8690E"/>
                </a:solidFill>
                <a:latin typeface="DejaVu Sans"/>
              </a:rPr>
              <a:t>ANEEL · DISTRIBUIÇÃO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06040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061B33"/>
                </a:solidFill>
                <a:latin typeface="DejaVu Sans"/>
              </a:rPr>
              <a:t>5.177</a:t>
            </a:r>
            <a:r>
              <a:rPr sz="1200" b="0" i="0">
                <a:solidFill>
                  <a:srgbClr val="52667C"/>
                </a:solidFill>
                <a:latin typeface="DejaVu Sans"/>
              </a:rPr>
              <a:t>  SEDs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832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061B33"/>
                </a:solidFill>
                <a:latin typeface="DejaVu Sans"/>
              </a:rPr>
              <a:t>reconstruídas de 316 mil unidades consumidoras de média e alta tensão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977639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BDGD · UCMT_PJ + UCAT_PJ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51960" y="3246120"/>
            <a:ext cx="3703319" cy="0"/>
          </a:xfrm>
          <a:prstGeom prst="line">
            <a:avLst/>
          </a:prstGeom>
          <a:ln w="19050">
            <a:solidFill>
              <a:srgbClr val="52667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669280" y="2834640"/>
            <a:ext cx="822960" cy="822960"/>
          </a:xfrm>
          <a:prstGeom prst="ellipse">
            <a:avLst/>
          </a:prstGeom>
          <a:solidFill>
            <a:srgbClr val="06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DejaVu San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49039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061B33"/>
                </a:solidFill>
                <a:latin typeface="DejaVu Sans"/>
              </a:rPr>
              <a:t>qual SE alimenta qual SED?</a:t>
            </a:r>
          </a:p>
          <a:p>
            <a:pPr algn="ctr"/>
            <a:r>
              <a:rPr sz="1000" b="0" i="0">
                <a:solidFill>
                  <a:srgbClr val="52667C"/>
                </a:solidFill>
                <a:latin typeface="DejaVu Sans"/>
              </a:rPr>
              <a:t>topologia de subtransmissão não é dado aberto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" y="4754880"/>
            <a:ext cx="3538728" cy="1417320"/>
          </a:xfrm>
          <a:prstGeom prst="roundRect">
            <a:avLst>
              <a:gd name="adj" fmla="val 8000"/>
            </a:avLst>
          </a:prstGeom>
          <a:solidFill>
            <a:srgbClr val="F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" y="48920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E85C5C"/>
                </a:solidFill>
                <a:latin typeface="DejaVu Sans"/>
              </a:rPr>
              <a:t>CAMINHO BLOQUEADO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175504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1B33"/>
                </a:solidFill>
                <a:latin typeface="DejaVu Sans"/>
              </a:rPr>
              <a:t>A camada SUB da BDGD (hub ArcGIS da ANEEL) é bloqueada pelo proxy corporativo.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5968" y="4754880"/>
            <a:ext cx="3538728" cy="1417320"/>
          </a:xfrm>
          <a:prstGeom prst="roundRect">
            <a:avLst>
              <a:gd name="adj" fmla="val 8000"/>
            </a:avLst>
          </a:prstGeom>
          <a:solidFill>
            <a:srgbClr val="F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44568" y="48920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E85C5C"/>
                </a:solidFill>
                <a:latin typeface="DejaVu Sans"/>
              </a:rPr>
              <a:t>CAMPO INUTILIZÁVEL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175504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1B33"/>
                </a:solidFill>
                <a:latin typeface="DejaVu Sans"/>
              </a:rPr>
              <a:t>O nome da SED no cadastro de MMGD está preenchido em 0,06% dos 4,66 milhões de registros.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4754880"/>
            <a:ext cx="3538728" cy="1417320"/>
          </a:xfrm>
          <a:prstGeom prst="roundRect">
            <a:avLst>
              <a:gd name="adj" fmla="val 8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0" y="48920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0E8B7E"/>
                </a:solidFill>
                <a:latin typeface="DejaVu Sans"/>
              </a:rPr>
              <a:t>A SAÍDA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175504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1B33"/>
                </a:solidFill>
                <a:latin typeface="DejaVu Sans"/>
              </a:rPr>
              <a:t>Cada UC de média e alta tensão traz o código SUB da SED, classe, 12 meses de energia e demanda, vínculo com a GD e coordenada.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Medido em 26/09/2026 nos portais de dados abertos do ONS e da ANEEL.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Da unidade consumidora à SE de fronteira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Cinco etapas, todas sobre dado aberto. A associação é inferida e sai com probabilidade e alternativas.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23C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7240" y="2231136"/>
            <a:ext cx="347472" cy="347472"/>
          </a:xfrm>
          <a:prstGeom prst="ellipse">
            <a:avLst/>
          </a:prstGeom>
          <a:solidFill>
            <a:srgbClr val="123C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SE de fronteira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ONS · 523 SEs · MVA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52928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E8B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2999232" y="2231136"/>
            <a:ext cx="347472" cy="347472"/>
          </a:xfrm>
          <a:prstGeom prst="ellipse">
            <a:avLst/>
          </a:prstGeom>
          <a:solidFill>
            <a:srgbClr val="0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SED reconstruída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BDGD · mediana das UCs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28032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74920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554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221224" y="2231136"/>
            <a:ext cx="347472" cy="347472"/>
          </a:xfrm>
          <a:prstGeom prst="ellipse">
            <a:avLst/>
          </a:prstGeom>
          <a:solidFill>
            <a:srgbClr val="355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Associação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modelo gravitacional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50024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96912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869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443216" y="2231136"/>
            <a:ext cx="347472" cy="347472"/>
          </a:xfrm>
          <a:prstGeom prst="ellipse">
            <a:avLst/>
          </a:prstGeom>
          <a:solidFill>
            <a:srgbClr val="D869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Baixa tensão e MMGD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SAMP · IBGE · CEG_GD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72016" y="2761488"/>
            <a:ext cx="246888" cy="0"/>
          </a:xfrm>
          <a:prstGeom prst="line">
            <a:avLst/>
          </a:prstGeom>
          <a:ln w="12700">
            <a:solidFill>
              <a:srgbClr val="123C6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18904" y="2103120"/>
            <a:ext cx="1975104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9665208" y="2231136"/>
            <a:ext cx="347472" cy="347472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2651760"/>
            <a:ext cx="175564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61B33"/>
                </a:solidFill>
                <a:latin typeface="DejaVu Sans"/>
              </a:rPr>
              <a:t>Agregado por 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090672"/>
            <a:ext cx="17556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40" b="0" i="0">
                <a:solidFill>
                  <a:srgbClr val="52667C"/>
                </a:solidFill>
                <a:latin typeface="DejaVu Sans"/>
              </a:rPr>
              <a:t>classe + MMGD → CLM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" y="3703320"/>
            <a:ext cx="10936224" cy="109728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38130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0E8B7E"/>
                </a:solidFill>
                <a:latin typeface="DejaVu Sans"/>
              </a:rPr>
              <a:t>ASSOCIAÇÃO SED → SE DE FRONTEIRA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087368"/>
            <a:ext cx="5943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61B33"/>
                </a:solidFill>
                <a:latin typeface="DejaVu Sans"/>
              </a:rPr>
              <a:t>atratividade = MVA</a:t>
            </a:r>
            <a:r>
              <a:rPr sz="1700" b="1" i="0" baseline="30000">
                <a:solidFill>
                  <a:srgbClr val="061B33"/>
                </a:solidFill>
                <a:latin typeface="DejaVu Sans"/>
              </a:rPr>
              <a:t>0,5</a:t>
            </a:r>
            <a:r>
              <a:rPr sz="1700" b="1" i="0">
                <a:solidFill>
                  <a:srgbClr val="061B33"/>
                </a:solidFill>
                <a:latin typeface="DejaVu Sans"/>
              </a:rPr>
              <a:t> × e</a:t>
            </a:r>
            <a:r>
              <a:rPr sz="1700" b="1" i="0" baseline="30000">
                <a:solidFill>
                  <a:srgbClr val="061B33"/>
                </a:solidFill>
                <a:latin typeface="DejaVu Sans"/>
              </a:rPr>
              <a:t>−d / 20 km</a:t>
            </a:r>
            <a:r>
              <a:rPr sz="1700" b="1" i="0">
                <a:solidFill>
                  <a:srgbClr val="061B33"/>
                </a:solidFill>
                <a:latin typeface="DejaVu Sans"/>
              </a:rPr>
              <a:t>  × bônus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840480"/>
            <a:ext cx="4480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61B33"/>
                </a:solidFill>
                <a:latin typeface="DejaVu Sans"/>
              </a:rPr>
              <a:t>Raio de 150 km · bônus ×1,5 mesma UF · ×1,5 mesmo grupo econômico.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061B33"/>
                </a:solidFill>
                <a:latin typeface="DejaVu Sans"/>
              </a:rPr>
              <a:t>Probabilidade = atratividade ÷ soma das candidatas; abaixo de 0,5, o vínculo é marcado ambíguo.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" y="5029200"/>
            <a:ext cx="5394960" cy="1188720"/>
          </a:xfrm>
          <a:prstGeom prst="roundRect">
            <a:avLst>
              <a:gd name="adj" fmla="val 10000"/>
            </a:avLst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9536" y="513892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BAIXA TENSÃO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" y="541324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5" b="0" i="0">
                <a:solidFill>
                  <a:srgbClr val="061B33"/>
                </a:solidFill>
                <a:latin typeface="DejaVu Sans"/>
              </a:rPr>
              <a:t>A BDGD aberta só tem pessoa jurídica. O residencial vem do SAMP 2025 (mercados Regular), rateado pela população do IBGE e pelas UCs de cada SED no município.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5029200"/>
            <a:ext cx="5394960" cy="1188720"/>
          </a:xfrm>
          <a:prstGeom prst="roundRect">
            <a:avLst>
              <a:gd name="adj" fmla="val 10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0" y="513892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E9E5B"/>
                </a:solidFill>
                <a:latin typeface="DejaVu Sans"/>
              </a:rPr>
              <a:t>MMGD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413248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75" b="0" i="0">
                <a:solidFill>
                  <a:srgbClr val="061B33"/>
                </a:solidFill>
                <a:latin typeface="DejaVu Sans"/>
              </a:rPr>
              <a:t>4,66 milhões de empreendimentos (54 GW). 7,7 GW casam exatamente com a SED pelo código da GD na UC; o restante é rateado pelo município.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Fontes: ANEEL (BDGD UCMT/UCAT, cadastro de MMGD, SAMP), IBGE (SIDRA 6579, malha municipal) e ONS (subestacao, capacidade-transformacao).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PROTÓTIPO FUNCIONAL · DADOS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O Brasil inteiro, SED por SED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Mapa de SEs de fronteira e SEDs coloridas pela probabilidade do vínculo; ranking das SEs por energia alocada.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1874519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5527" y="2240279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8B7E"/>
                </a:solidFill>
                <a:latin typeface="DejaVu Sans"/>
              </a:rPr>
              <a:t>5.119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" y="2907791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SEDs associadas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" y="329183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de 5.177 · 58 sem SE no raio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42616" y="2103120"/>
            <a:ext cx="1874519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807208" y="2240279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23C67"/>
                </a:solidFill>
                <a:latin typeface="DejaVu Sans"/>
              </a:rPr>
              <a:t>462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907791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de 523 SEs com carga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291839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secundário ≤ 138 kV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3886200"/>
            <a:ext cx="1874519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5527" y="402336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E9E5B"/>
                </a:solidFill>
                <a:latin typeface="DejaVu Sans"/>
              </a:rPr>
              <a:t>443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" y="469087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TWh/ano alocados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" y="50749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48% medidos por UC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42616" y="3886200"/>
            <a:ext cx="1874519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807208" y="4023360"/>
            <a:ext cx="16459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D8690E"/>
                </a:solidFill>
                <a:latin typeface="DejaVu Sans"/>
              </a:rPr>
              <a:t>53,7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4690872"/>
            <a:ext cx="1645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1B33"/>
                </a:solidFill>
                <a:latin typeface="DejaVu Sans"/>
              </a:rPr>
              <a:t>GW de MMGD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507492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7,7 GW por vínculo exato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45152" y="2103120"/>
            <a:ext cx="6922007" cy="3590163"/>
          </a:xfrm>
          <a:prstGeom prst="roundRect">
            <a:avLst>
              <a:gd name="adj" fmla="val 3000"/>
            </a:avLst>
          </a:prstGeom>
          <a:solidFill>
            <a:srgbClr val="0B1020"/>
          </a:solidFill>
          <a:ln w="15875">
            <a:solidFill>
              <a:srgbClr val="22C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cap_f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2112264"/>
            <a:ext cx="6903720" cy="35718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45152" y="5766434"/>
            <a:ext cx="6903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Tela do protótipo · aba Fronteira T–D › SE × distribuição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Dados reais extraídos em 26/09/2026 da ANEEL, do IBGE e do ONS. A base agregada é construída em ~2 min e fica em cache por 7 dias.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EIXO 1 · GANHO DE REPRESENTAÇÃO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Da morfologia estimada à energia faturada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Mesma SE, dois retratos. Exemplo: BANDEIRANTES (SP) · 61 SEDs · 3.910 UCs · 12,3 TWh/ano, 40% medidos por UC.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598932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2667C"/>
                </a:solidFill>
                <a:latin typeface="DejaVu Sans"/>
              </a:rPr>
              <a:t>COMPOSIÇÃO DA CARGA POR CLASSE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" y="2560320"/>
          <a:ext cx="5715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0" y="2103120"/>
            <a:ext cx="4709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59168" y="2194560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9E5B"/>
                </a:solidFill>
                <a:latin typeface="DejaVu Sans"/>
              </a:rPr>
              <a:t>MMGD NA ÁREA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432303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52667C"/>
                </a:solidFill>
                <a:latin typeface="DejaVu Sans"/>
              </a:rPr>
              <a:t>0 MW</a:t>
            </a:r>
            <a:r>
              <a:rPr sz="1700" b="1" i="0">
                <a:solidFill>
                  <a:srgbClr val="52667C"/>
                </a:solidFill>
                <a:latin typeface="DejaVu Sans"/>
              </a:rPr>
              <a:t>  →  </a:t>
            </a:r>
            <a:r>
              <a:rPr sz="1700" b="1" i="0">
                <a:solidFill>
                  <a:srgbClr val="061B33"/>
                </a:solidFill>
                <a:latin typeface="DejaVu Sans"/>
              </a:rPr>
              <a:t>115,7 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9168" y="2798063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amostra sem painel → cadastro homologado da ANEEL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182111"/>
            <a:ext cx="4709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059168" y="3273551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123C67"/>
                </a:solidFill>
                <a:latin typeface="DejaVu Sans"/>
              </a:rPr>
              <a:t>FRAÇÃO MOTORA DO CLM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511295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52667C"/>
                </a:solidFill>
                <a:latin typeface="DejaVu Sans"/>
              </a:rPr>
              <a:t>0,387</a:t>
            </a:r>
            <a:r>
              <a:rPr sz="1700" b="1" i="0">
                <a:solidFill>
                  <a:srgbClr val="52667C"/>
                </a:solidFill>
                <a:latin typeface="DejaVu Sans"/>
              </a:rPr>
              <a:t>  →  </a:t>
            </a:r>
            <a:r>
              <a:rPr sz="1700" b="1" i="0">
                <a:solidFill>
                  <a:srgbClr val="061B33"/>
                </a:solidFill>
                <a:latin typeface="DejaVu Sans"/>
              </a:rPr>
              <a:t>0,332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3877055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menos carga comercial do que a imagem sugeria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4261104"/>
            <a:ext cx="470916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059168" y="4352544"/>
            <a:ext cx="4389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85C5C"/>
                </a:solidFill>
                <a:latin typeface="DejaVu Sans"/>
              </a:rPr>
              <a:t>MOTOR D · AR-CONDICIONADO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590288"/>
            <a:ext cx="4389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52667C"/>
                </a:solidFill>
                <a:latin typeface="DejaVu Sans"/>
              </a:rPr>
              <a:t>0,092</a:t>
            </a:r>
            <a:r>
              <a:rPr sz="1700" b="1" i="0">
                <a:solidFill>
                  <a:srgbClr val="52667C"/>
                </a:solidFill>
                <a:latin typeface="DejaVu Sans"/>
              </a:rPr>
              <a:t>  →  </a:t>
            </a:r>
            <a:r>
              <a:rPr sz="1700" b="1" i="0">
                <a:solidFill>
                  <a:srgbClr val="061B33"/>
                </a:solidFill>
                <a:latin typeface="DejaVu Sans"/>
              </a:rPr>
              <a:t>0,102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956048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o componente da recuperação lenta de tensão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5358384"/>
            <a:ext cx="4709160" cy="722376"/>
          </a:xfrm>
          <a:prstGeom prst="roundRect">
            <a:avLst>
              <a:gd name="adj" fmla="val 12000"/>
            </a:avLst>
          </a:prstGeom>
          <a:solidFill>
            <a:srgbClr val="06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40880" y="5358384"/>
            <a:ext cx="438912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DejaVu Sans"/>
              </a:rPr>
              <a:t>O cartão do CLM passa a usar a composição medida (fonte = BDGD) no lugar da estimativa por ortoimagem.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Valores do protótipo com dados reais. Pdg ao meio-dia (teto de céu claro): 90 MW. Fração motora pela mesma tabela de premissas do Mapa Inteligente.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0936" y="38404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CONFIANÇA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40233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52667C"/>
                </a:solidFill>
                <a:latin typeface="DejaVu San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4008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50" b="1" i="0">
                <a:solidFill>
                  <a:srgbClr val="061B33"/>
                </a:solidFill>
                <a:latin typeface="DejaVu Sans"/>
              </a:rPr>
              <a:t>Sem gabarito de campo: três validações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0936" y="1325880"/>
            <a:ext cx="10936224" cy="0"/>
          </a:xfrm>
          <a:prstGeom prst="line">
            <a:avLst/>
          </a:prstGeom>
          <a:ln w="9525">
            <a:solidFill>
              <a:srgbClr val="C9D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0936" y="1444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52667C"/>
                </a:solidFill>
                <a:latin typeface="DejaVu Sans"/>
              </a:rPr>
              <a:t>A topologia real não é pública. Por isso a associação é verificada por fontes independentes, pela física e pela sensibilidade às premissas.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" y="2103120"/>
            <a:ext cx="354787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2103" y="22128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0E8B7E"/>
                </a:solidFill>
                <a:latin typeface="DejaVu Sans"/>
              </a:rPr>
              <a:t>1 · VALIDAÇÃO EXTERNA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103120"/>
            <a:ext cx="354787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6280" y="22128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123C67"/>
                </a:solidFill>
                <a:latin typeface="DejaVu Sans"/>
              </a:rPr>
              <a:t>2 · COERÊNCIA FÍSICA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9288" y="2103120"/>
            <a:ext cx="354787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0456" y="221284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3 · SENSIBILIDADE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68880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2667C"/>
                </a:solidFill>
                <a:latin typeface="DejaVu Sans"/>
              </a:rPr>
              <a:t>energia alocada ÷ carga verificada do ONS, 2025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731520" y="2788920"/>
          <a:ext cx="33375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32104" y="46177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Abaixo de 100% por construção: perdas, autoconsumo da MMGD e carga na Rede Básica.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60320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23C67"/>
                </a:solidFill>
                <a:latin typeface="DejaVu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560320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1B33"/>
                </a:solidFill>
                <a:latin typeface="DejaVu Sans"/>
              </a:rPr>
              <a:t>SEs acima de 100% de carregamento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82112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23C67"/>
                </a:solidFill>
                <a:latin typeface="DejaVu Sans"/>
              </a:rPr>
              <a:t>0,62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182112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1B33"/>
                </a:solidFill>
                <a:latin typeface="DejaVu Sans"/>
              </a:rPr>
              <a:t>coeficiente de variação do carregamento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803904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23C67"/>
                </a:solidFill>
                <a:latin typeface="DejaVu Sans"/>
              </a:rPr>
              <a:t>87%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803904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1B33"/>
                </a:solidFill>
                <a:latin typeface="DejaVu Sans"/>
              </a:rPr>
              <a:t>SEDs ligadas à SE mais próxima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25696"/>
            <a:ext cx="1051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23C67"/>
                </a:solidFill>
                <a:latin typeface="DejaVu Sans"/>
              </a:rP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425696"/>
            <a:ext cx="2148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61B33"/>
                </a:solidFill>
                <a:latin typeface="DejaVu Sans"/>
              </a:rPr>
              <a:t>vínculos dentro da mesma UF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46888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2667C"/>
                </a:solidFill>
                <a:latin typeface="DejaVu Sans"/>
              </a:rPr>
              <a:t>expoente da capacidade (α) × distância (λ)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0456" y="2788920"/>
          <a:ext cx="315468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822960"/>
                <a:gridCol w="960120"/>
                <a:gridCol w="82296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2667C"/>
                          </a:solidFill>
                          <a:latin typeface="DejaVu Sans"/>
                        </a:rPr>
                        <a:t>α</a:t>
                      </a:r>
                    </a:p>
                  </a:txBody>
                  <a:tcPr marL="54864" marR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2667C"/>
                          </a:solidFill>
                          <a:latin typeface="DejaVu Sans"/>
                        </a:rPr>
                        <a:t>λ</a:t>
                      </a:r>
                    </a:p>
                  </a:txBody>
                  <a:tcPr marL="54864" marR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2667C"/>
                          </a:solidFill>
                          <a:latin typeface="DejaVu Sans"/>
                        </a:rPr>
                        <a:t>SEs vazias</a:t>
                      </a:r>
                    </a:p>
                  </a:txBody>
                  <a:tcPr marL="54864" marR="5486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52667C"/>
                          </a:solidFill>
                          <a:latin typeface="DejaVu Sans"/>
                        </a:rPr>
                        <a:t>máx.</a:t>
                      </a:r>
                    </a:p>
                  </a:txBody>
                  <a:tcPr marL="54864" marR="54864" anchor="ctr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61B33"/>
                          </a:solidFill>
                          <a:latin typeface="DejaVu Sans"/>
                        </a:rPr>
                        <a:t>1,0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61B33"/>
                          </a:solidFill>
                          <a:latin typeface="DejaVu Sans"/>
                        </a:rPr>
                        <a:t>30 km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85C5C"/>
                          </a:solidFill>
                          <a:latin typeface="DejaVu Sans"/>
                        </a:rPr>
                        <a:t>103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85C5C"/>
                          </a:solidFill>
                          <a:latin typeface="DejaVu Sans"/>
                        </a:rPr>
                        <a:t>162%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61B33"/>
                          </a:solidFill>
                          <a:latin typeface="DejaVu Sans"/>
                        </a:rPr>
                        <a:t>0,5</a:t>
                      </a:r>
                    </a:p>
                  </a:txBody>
                  <a:tcPr marL="54864" marR="54864" anchor="ctr"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61B33"/>
                          </a:solidFill>
                          <a:latin typeface="DejaVu Sans"/>
                        </a:rPr>
                        <a:t>20 km</a:t>
                      </a:r>
                    </a:p>
                  </a:txBody>
                  <a:tcPr marL="54864" marR="54864" anchor="ctr"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61B33"/>
                          </a:solidFill>
                          <a:latin typeface="DejaVu Sans"/>
                        </a:rPr>
                        <a:t>44</a:t>
                      </a:r>
                    </a:p>
                  </a:txBody>
                  <a:tcPr marL="54864" marR="54864" anchor="ctr"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61B33"/>
                          </a:solidFill>
                          <a:latin typeface="DejaVu Sans"/>
                        </a:rPr>
                        <a:t>84%</a:t>
                      </a:r>
                    </a:p>
                  </a:txBody>
                  <a:tcPr marL="54864" marR="54864" anchor="ctr">
                    <a:solidFill>
                      <a:srgbClr val="FFF0E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61B33"/>
                          </a:solidFill>
                          <a:latin typeface="DejaVu Sans"/>
                        </a:rPr>
                        <a:t>0,0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61B33"/>
                          </a:solidFill>
                          <a:latin typeface="DejaVu Sans"/>
                        </a:rPr>
                        <a:t>20 km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61B33"/>
                          </a:solidFill>
                          <a:latin typeface="DejaVu Sans"/>
                        </a:rPr>
                        <a:t>5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E85C5C"/>
                          </a:solidFill>
                          <a:latin typeface="DejaVu Sans"/>
                        </a:rPr>
                        <a:t>330%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220456" y="443484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2667C"/>
                </a:solidFill>
                <a:latin typeface="DejaVu Sans"/>
              </a:rPr>
              <a:t>Escolhida (destacada): carga mais homogênea, nenhuma SE sobrecarregada.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" y="5321808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FF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1248" y="5413248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E85C5C"/>
                </a:solidFill>
                <a:latin typeface="DejaVu Sans"/>
              </a:rPr>
              <a:t>LIMITE DECLARADO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669280"/>
            <a:ext cx="6858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25" b="0" i="0">
                <a:solidFill>
                  <a:srgbClr val="061B33"/>
                </a:solidFill>
                <a:latin typeface="DejaVu Sans"/>
              </a:rPr>
              <a:t>52% dos vínculos são ambíguos (p &lt; 0,5), concentrados nas metrópoles. A associação é inferida: confirmar com a distribuidora ou o SIGA/ONS antes de uso operativo.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19288" y="5321808"/>
            <a:ext cx="3547872" cy="9144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0" y="5413248"/>
            <a:ext cx="3154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0E8B7E"/>
                </a:solidFill>
                <a:latin typeface="DejaVu Sans"/>
              </a:rPr>
              <a:t>PRIVACIDADE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66928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25" b="0" i="0">
                <a:solidFill>
                  <a:srgbClr val="061B33"/>
                </a:solidFill>
                <a:latin typeface="DejaVu Sans"/>
              </a:rPr>
              <a:t>CPF, nome e endereço não são lidos; o cache guarda só agregados.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52667C"/>
                </a:solidFill>
                <a:latin typeface="DejaVu Sans"/>
              </a:rPr>
              <a:t>Princípio do O.R.A.C.U.L.O.: nenhuma promessa de desempenho sem teste; nenhum vínculo sem probabilidade e alternativas.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8D6A5"/>
                </a:solidFill>
                <a:latin typeface="DejaVu Sans"/>
              </a:rPr>
              <a:t>FRONTEIRA T–D · MENSAGEM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384048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75" b="1" i="0">
                <a:solidFill>
                  <a:srgbClr val="AEB7CD"/>
                </a:solidFill>
                <a:latin typeface="DejaVu Sans"/>
              </a:rPr>
              <a:t>O.R.A.C.U.L.O.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DejaVu Sans"/>
              </a:rPr>
              <a:t>A SE de fronteira passa a saber o que alimenta: quais distribuidoras, quanta carga de cada classe e quanta MMGD — com dado faturado real, pronto para o modelo de carga.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95728"/>
            <a:ext cx="5852160" cy="384048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061B33"/>
                </a:solidFill>
                <a:latin typeface="DejaVu Sans"/>
              </a:rPr>
              <a:t>MEDIR · ASSOCIAR · QUALIFICAR O MODELO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3246120"/>
            <a:ext cx="11201400" cy="0"/>
          </a:xfrm>
          <a:prstGeom prst="line">
            <a:avLst/>
          </a:prstGeom>
          <a:ln w="9525">
            <a:solidFill>
              <a:srgbClr val="2C38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3520440"/>
            <a:ext cx="3611880" cy="1143000"/>
          </a:xfrm>
          <a:prstGeom prst="roundRect">
            <a:avLst>
              <a:gd name="adj" fmla="val 10000"/>
            </a:avLst>
          </a:prstGeom>
          <a:solidFill>
            <a:srgbClr val="1D2438"/>
          </a:solidFill>
          <a:ln w="12700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363016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D8690E"/>
                </a:solidFill>
                <a:latin typeface="DejaVu Sans"/>
              </a:rPr>
              <a:t>EIXO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90448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D8E6"/>
                </a:solidFill>
                <a:latin typeface="DejaVu Sans"/>
              </a:rPr>
              <a:t>composição medida e MMGD cadastrada por SE → cartão do CLM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3520440"/>
            <a:ext cx="3611880" cy="1143000"/>
          </a:xfrm>
          <a:prstGeom prst="roundRect">
            <a:avLst>
              <a:gd name="adj" fmla="val 10000"/>
            </a:avLst>
          </a:prstGeom>
          <a:solidFill>
            <a:srgbClr val="1D2438"/>
          </a:solidFill>
          <a:ln w="12700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71416" y="363016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22C7F2"/>
                </a:solidFill>
                <a:latin typeface="DejaVu Sans"/>
              </a:rPr>
              <a:t>EIXO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390448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D8E6"/>
                </a:solidFill>
                <a:latin typeface="DejaVu Sans"/>
              </a:rPr>
              <a:t>granularidade “fronteira” para o payload ONS–DSO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3520440"/>
            <a:ext cx="3611880" cy="1143000"/>
          </a:xfrm>
          <a:prstGeom prst="roundRect">
            <a:avLst>
              <a:gd name="adj" fmla="val 10000"/>
            </a:avLst>
          </a:prstGeom>
          <a:solidFill>
            <a:srgbClr val="1D2438"/>
          </a:solidFill>
          <a:ln w="12700">
            <a:solidFill>
              <a:srgbClr val="2C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38744" y="3630168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58D6A5"/>
                </a:solidFill>
                <a:latin typeface="DejaVu Sans"/>
              </a:rPr>
              <a:t>PRÓXIMO PASSO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904487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D8E6"/>
                </a:solidFill>
                <a:latin typeface="DejaVu Sans"/>
              </a:rPr>
              <a:t>validar os vínculos com as distribuidoras e a topologia do SIGA/ONS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 i="0">
                <a:solidFill>
                  <a:srgbClr val="AEB7CD"/>
                </a:solidFill>
                <a:latin typeface="DejaVu Sans"/>
              </a:rPr>
              <a:t>FONTES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D4D8E6"/>
                </a:solidFill>
                <a:latin typeface="DejaVu Sans"/>
              </a:rPr>
              <a:t>ANEEL · BDGD (UCMT, UCAT) · cadastro de MMGD · SAMP 2025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D4D8E6"/>
                </a:solidFill>
                <a:latin typeface="DejaVu Sans"/>
              </a:rPr>
              <a:t>IBGE · SIDRA 6579 · malha municipal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D4D8E6"/>
                </a:solidFill>
                <a:latin typeface="DejaVu Sans"/>
              </a:rPr>
              <a:t>ONS · subestacao · capacidade-transformacao · balanço de energia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3492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AEB7CD"/>
                </a:solidFill>
                <a:latin typeface="DejaVu Sans"/>
              </a:rPr>
              <a:t>dadosabertos.aneel.gov.br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AEB7CD"/>
                </a:solidFill>
                <a:latin typeface="DejaVu Sans"/>
              </a:rPr>
              <a:t>apisidra.ibge.gov.br · servicodados.ibge.gov.br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AEB7CD"/>
                </a:solidFill>
                <a:latin typeface="DejaVu Sans"/>
              </a:rPr>
              <a:t>dados.ons.org.br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09362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 i="0">
                <a:solidFill>
                  <a:srgbClr val="AEB7CD"/>
                </a:solidFill>
                <a:latin typeface="DejaVu Sans"/>
              </a:rPr>
              <a:t>Hackathon IA COPPE/UFRJ 2026 · Equipe 24 — Linkfy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2243</Words>
  <Application>Microsoft Office PowerPoint</Application>
  <DocSecurity>0</DocSecurity>
  <PresentationFormat>Widescreen</PresentationFormat>
  <Paragraphs>249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Calibri</vt:lpstr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Ligia Rolim da Silva</cp:lastModifiedBy>
  <cp:revision>1</cp:revision>
  <dcterms:created xsi:type="dcterms:W3CDTF">2026-09-13T22:50:12Z</dcterms:created>
  <dcterms:modified xsi:type="dcterms:W3CDTF">2026-09-26T12:57:38Z</dcterms:modified>
</cp:coreProperties>
</file>