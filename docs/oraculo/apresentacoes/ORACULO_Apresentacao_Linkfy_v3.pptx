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gia Rolim da Silva" userId="fbfb8c71-666a-4142-abbf-504e3765d1c9" providerId="ADAL" clId="{FA76E5CA-1635-4CD7-8042-536D286A8E09}"/>
    <pc:docChg chg="modSld">
      <pc:chgData name="Ligia Rolim da Silva" userId="fbfb8c71-666a-4142-abbf-504e3765d1c9" providerId="ADAL" clId="{FA76E5CA-1635-4CD7-8042-536D286A8E09}" dt="2026-09-13T22:29:49.024" v="1" actId="1076"/>
      <pc:docMkLst>
        <pc:docMk/>
      </pc:docMkLst>
      <pc:sldChg chg="modSp mod">
        <pc:chgData name="Ligia Rolim da Silva" userId="fbfb8c71-666a-4142-abbf-504e3765d1c9" providerId="ADAL" clId="{FA76E5CA-1635-4CD7-8042-536D286A8E09}" dt="2026-09-13T22:29:41.364" v="0" actId="20577"/>
        <pc:sldMkLst>
          <pc:docMk/>
          <pc:sldMk cId="0" sldId="260"/>
        </pc:sldMkLst>
        <pc:spChg chg="mod">
          <ac:chgData name="Ligia Rolim da Silva" userId="fbfb8c71-666a-4142-abbf-504e3765d1c9" providerId="ADAL" clId="{FA76E5CA-1635-4CD7-8042-536D286A8E09}" dt="2026-09-13T22:29:41.364" v="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Ligia Rolim da Silva" userId="fbfb8c71-666a-4142-abbf-504e3765d1c9" providerId="ADAL" clId="{FA76E5CA-1635-4CD7-8042-536D286A8E09}" dt="2026-09-13T22:29:49.024" v="1" actId="1076"/>
        <pc:sldMkLst>
          <pc:docMk/>
          <pc:sldMk cId="0" sldId="261"/>
        </pc:sldMkLst>
        <pc:spChg chg="mod">
          <ac:chgData name="Ligia Rolim da Silva" userId="fbfb8c71-666a-4142-abbf-504e3765d1c9" providerId="ADAL" clId="{FA76E5CA-1635-4CD7-8042-536D286A8E09}" dt="2026-09-13T22:29:49.024" v="1" actId="1076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4114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D4CC"/>
                </a:solidFill>
                <a:latin typeface="Segoe UI Semibold"/>
              </a:rPr>
              <a:t>HACKATHON IA COPPE/UFRJ 2026   |   TRILHA TRANSIÇÃO ENERGÉTICA   |   IDEATHON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25296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Segoe UI Semibold"/>
              </a:rPr>
              <a:t>O.R.A.C.U.L.O.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C6E4"/>
                </a:solidFill>
                <a:latin typeface="Segoe UI"/>
              </a:rPr>
              <a:t>Observabilidade de Redes e Análise de Curtailment em Usinas e Limites Operacionais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871216"/>
            <a:ext cx="310896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145536"/>
            <a:ext cx="6446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F2"/>
                </a:solidFill>
                <a:latin typeface="Segoe UI"/>
              </a:rPr>
              <a:t>O ONS dispõe de elevada observabilidade sobre o sistema sob sua supervisão; nas redes de distribuição, porém, essa visão ainda depende de informações agregadas e estimativas. O O.R.A.C.U.L.O. entrega ao operador a visibilidade preditiva da distribuição: onde está a MMGD, quanto poderá gerar nas horas seguintes, qual será seu impacto sobre a carga supervisionada e em quais regiões poderão surgir excedentes de geração.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090672"/>
            <a:ext cx="3456432" cy="1572768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0" y="3090672"/>
            <a:ext cx="3456432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3291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>
                <a:solidFill>
                  <a:srgbClr val="7FD4CC"/>
                </a:solidFill>
                <a:latin typeface="Segoe UI Semibold"/>
              </a:rPr>
              <a:t>DOIS EIXOS PRIORITÁRIOS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547872"/>
            <a:ext cx="3017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1 · Representação da carga e da MMGD nos estudos elétricos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2 · Fortalecimento da interface ONS–DSO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38928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AC4"/>
                </a:solidFill>
                <a:latin typeface="Segoe UI Semibold"/>
              </a:rPr>
              <a:t>DESAFIOS ENDEREÇADOS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431536"/>
            <a:ext cx="1287475" cy="365760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431536"/>
            <a:ext cx="12874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Curtailment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3899" y="5431536"/>
            <a:ext cx="3855110" cy="365760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93899" y="5431536"/>
            <a:ext cx="385511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Demanda energética, clima e operação do sistema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6144768"/>
            <a:ext cx="10268712" cy="10972"/>
          </a:xfrm>
          <a:prstGeom prst="rect">
            <a:avLst/>
          </a:prstGeom>
          <a:solidFill>
            <a:srgbClr val="3345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627278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Equipe Linkfy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6300216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AC4"/>
                </a:solidFill>
                <a:latin typeface="Segoe UI"/>
              </a:rPr>
              <a:t>Documento de planejamento da solução ·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CONTEXTO INSTITUCIONAL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96B"/>
                </a:solidFill>
                <a:latin typeface="Segoe UI Semibold"/>
              </a:rPr>
              <a:t>O ONS é o TSO do SIN — e 25% da geração está fora da sua visibilidade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296B"/>
                </a:solidFill>
                <a:latin typeface="Segoe UI Semibold"/>
              </a:rPr>
              <a:t>63,5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5"/>
            <a:ext cx="3383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MMGD e usinas Tipo III conectadas às redes de distribuição, conforme o diagnóstico do PAR/PEL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29844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06410"/>
                </a:solidFill>
                <a:latin typeface="Segoe UI Semibold"/>
              </a:rPr>
              <a:t>≈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82495"/>
            <a:ext cx="3383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da capacidade instalada de geração do SIN — sem a observabilidade, a previsibilidade e a controlabilidade do despacho centralizado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29844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C74"/>
                </a:solidFill>
                <a:latin typeface="Segoe UI Semibold"/>
              </a:rPr>
              <a:t>46% → 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82495"/>
            <a:ext cx="33832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participação máxima da geração distribuída no atendimento à demanda global: 46% em 2025, com projeção de 64% em 2029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5309463" cy="1956815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79311" y="2633472"/>
            <a:ext cx="5309463" cy="1956815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53094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TRANSMISSÃO — SUPERVISIONADA PELO ONS (TSO)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395728"/>
            <a:ext cx="53094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06410"/>
                </a:solidFill>
                <a:latin typeface="Segoe UI Semibold"/>
              </a:rPr>
              <a:t>DISTRIBUIÇÃO — SEM DSO CONSTITUÍDO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" y="3118103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813816" y="3300984"/>
            <a:ext cx="0" cy="329184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284933" y="3118103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376373" y="3300984"/>
            <a:ext cx="0" cy="329184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47490" y="3118103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3938930" y="3300984"/>
            <a:ext cx="0" cy="329184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410047" y="3118103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5501487" y="3300984"/>
            <a:ext cx="0" cy="329184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2376" y="3630168"/>
            <a:ext cx="4998567" cy="0"/>
          </a:xfrm>
          <a:prstGeom prst="line">
            <a:avLst/>
          </a:prstGeom>
          <a:ln w="28575">
            <a:solidFill>
              <a:srgbClr val="172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" y="3703320"/>
            <a:ext cx="49985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Rede Básica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867911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telemetria, previsão e despacho centralizado: o operador vê e comanda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4123944"/>
            <a:ext cx="49985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PREVCARGA e PREVCARGA PMO  ·  quatro subsistemas e quatro centros regionais  ·  atualização a cada 30 min  ·  três áreas de meteorologia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3823" y="3337560"/>
            <a:ext cx="384048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3823" y="348386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T–D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784951" y="3136391"/>
            <a:ext cx="621792" cy="0"/>
          </a:xfrm>
          <a:prstGeom prst="line">
            <a:avLst/>
          </a:prstGeom>
          <a:ln w="22225">
            <a:solidFill>
              <a:srgbClr val="2E9B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98567" y="28986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E9B57"/>
                </a:solidFill>
                <a:latin typeface="Segoe UI Semibold"/>
              </a:rPr>
              <a:t>fluxo reverso D → T</a:t>
            </a:r>
          </a:p>
        </p:txBody>
      </p:sp>
      <p:sp>
        <p:nvSpPr>
          <p:cNvPr id="32" name="Oval 31"/>
          <p:cNvSpPr/>
          <p:nvPr/>
        </p:nvSpPr>
        <p:spPr>
          <a:xfrm>
            <a:off x="8129541" y="2996713"/>
            <a:ext cx="80052" cy="8005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02428" y="3425722"/>
            <a:ext cx="67011" cy="67011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39084" y="3402011"/>
            <a:ext cx="52006" cy="52006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81214" y="2920647"/>
            <a:ext cx="54439" cy="5443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35673" y="3750528"/>
            <a:ext cx="55952" cy="5595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29131" y="3512875"/>
            <a:ext cx="93621" cy="93621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364934" y="3259022"/>
            <a:ext cx="94926" cy="94926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77300" y="3781429"/>
            <a:ext cx="63532" cy="6353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56159" y="2968269"/>
            <a:ext cx="64395" cy="6439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546874" y="3031082"/>
            <a:ext cx="76882" cy="7688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78042" y="3242172"/>
            <a:ext cx="75334" cy="7533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858738" y="2906760"/>
            <a:ext cx="59708" cy="59708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886961" y="3308077"/>
            <a:ext cx="64654" cy="6465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421907" y="3336487"/>
            <a:ext cx="63997" cy="63997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447875" y="3607482"/>
            <a:ext cx="61452" cy="6145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354098" y="3402351"/>
            <a:ext cx="90303" cy="90303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112407" y="3139611"/>
            <a:ext cx="95105" cy="9510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117389" y="3287559"/>
            <a:ext cx="84908" cy="84908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300244" y="3381703"/>
            <a:ext cx="52084" cy="5208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821254" y="3671918"/>
            <a:ext cx="76490" cy="76490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835520" y="3174444"/>
            <a:ext cx="82080" cy="82080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61553" y="3471948"/>
            <a:ext cx="71149" cy="7114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666324" y="3871811"/>
            <a:ext cx="71967" cy="71967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798377" y="2896605"/>
            <a:ext cx="82364" cy="8236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712088" y="3916985"/>
            <a:ext cx="87870" cy="87870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936594" y="3254105"/>
            <a:ext cx="80862" cy="8086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662211" y="3348837"/>
            <a:ext cx="57975" cy="5797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112375" y="2893197"/>
            <a:ext cx="85415" cy="8541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181085" y="3108835"/>
            <a:ext cx="68166" cy="68166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821243" y="2924221"/>
            <a:ext cx="70828" cy="70828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232776" y="3796660"/>
            <a:ext cx="87749" cy="8774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85521" y="3142082"/>
            <a:ext cx="69279" cy="6927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293975" y="3794383"/>
            <a:ext cx="94079" cy="9407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290619" y="3034127"/>
            <a:ext cx="60897" cy="60897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580479" y="4023359"/>
            <a:ext cx="4907127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71919" y="4096511"/>
            <a:ext cx="47242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MMGD e Tipo III: </a:t>
            </a:r>
            <a:r>
              <a:rPr sz="750" b="1">
                <a:solidFill>
                  <a:srgbClr val="C06410"/>
                </a:solidFill>
                <a:latin typeface="Segoe UI Semibold"/>
              </a:rPr>
              <a:t>sem telemetria, sem controlabilidade, sem interface TSO–DSO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4736592"/>
            <a:ext cx="5486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ONS atua como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operador independente do SIN</a:t>
            </a:r>
            <a:r>
              <a:rPr sz="900" b="0">
                <a:solidFill>
                  <a:srgbClr val="1F2430"/>
                </a:solidFill>
                <a:latin typeface="Segoe UI"/>
              </a:rPr>
              <a:t> e responde pela coordenação e pelo controle da operação da geração e da transmissão, para assegurar o equilíbrio entre carga e geração e a operação segura, econômica e confiável do sistema.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Com a rápida expansão dos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recursos energéticos distribuídos (REDs)</a:t>
            </a:r>
            <a:r>
              <a:rPr sz="900" b="0">
                <a:solidFill>
                  <a:srgbClr val="1F2430"/>
                </a:solidFill>
                <a:latin typeface="Segoe UI"/>
              </a:rPr>
              <a:t>, parcela crescente da oferta passou a estar conectada diretamente às redes de distribuição, fora do despacho centralizado.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2" y="4736592"/>
            <a:ext cx="5486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enfrentamento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não se limita à expansão da transmissão</a:t>
            </a:r>
            <a:r>
              <a:rPr sz="900" b="0">
                <a:solidFill>
                  <a:srgbClr val="1F2430"/>
                </a:solidFill>
                <a:latin typeface="Segoe UI"/>
              </a:rPr>
              <a:t>: requer coordenação entre o ONS e as distribuidoras, integração de dados e previsões e mecanismos flexíveis de controle por meio de uma interface ONS–DSO.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ONS trata a necessidade como prioridade: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Projeto Interface ONS/DSO</a:t>
            </a:r>
            <a:r>
              <a:rPr sz="900" b="0">
                <a:solidFill>
                  <a:srgbClr val="1F2430"/>
                </a:solidFill>
                <a:latin typeface="Segoe UI"/>
              </a:rPr>
              <a:t> e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Plano de Gestão de Excedentes de Energia na Rede de Distribuição</a:t>
            </a:r>
            <a:r>
              <a:rPr sz="900" b="0">
                <a:solidFill>
                  <a:srgbClr val="1F2430"/>
                </a:solidFill>
                <a:latin typeface="Segoe UI"/>
              </a:rPr>
              <a:t> já estão em curso.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TAMANHO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A restrição de geração já é estrutural, diurna e crescente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96B"/>
                </a:solidFill>
                <a:latin typeface="Segoe UI Semibold"/>
              </a:rPr>
              <a:t>≈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5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da geração potencial eólica e solar cortada em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298448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6410"/>
                </a:solidFill>
                <a:latin typeface="Segoe UI Semibold"/>
              </a:rPr>
              <a:t>4.021 MWmed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1682495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montante médio cortado no ano (Volt Robotics sobre dados do 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298448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3262A"/>
                </a:solidFill>
                <a:latin typeface="Segoe UI Semibold"/>
              </a:rPr>
              <a:t>R$ 6,5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82495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perdas estimadas no ano (Caderno de Desafios)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04288"/>
            <a:ext cx="4919472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68680" y="2892552"/>
            <a:ext cx="49194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8680" y="3480816"/>
            <a:ext cx="49194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868680" y="2516063"/>
            <a:ext cx="4919472" cy="1553017"/>
          </a:xfrm>
          <a:custGeom>
            <a:avLst/>
            <a:gdLst/>
            <a:ahLst/>
            <a:cxnLst/>
            <a:rect l="l" t="t" r="r" b="b"/>
            <a:pathLst>
              <a:path w="4919472" h="1553017">
                <a:moveTo>
                  <a:pt x="0" y="1235354"/>
                </a:moveTo>
                <a:lnTo>
                  <a:pt x="213890" y="1270650"/>
                </a:lnTo>
                <a:lnTo>
                  <a:pt x="427780" y="1288298"/>
                </a:lnTo>
                <a:lnTo>
                  <a:pt x="641670" y="1305946"/>
                </a:lnTo>
                <a:lnTo>
                  <a:pt x="855560" y="1305946"/>
                </a:lnTo>
                <a:lnTo>
                  <a:pt x="1069450" y="1270650"/>
                </a:lnTo>
                <a:lnTo>
                  <a:pt x="1283340" y="1094171"/>
                </a:lnTo>
                <a:lnTo>
                  <a:pt x="1497230" y="811804"/>
                </a:lnTo>
                <a:lnTo>
                  <a:pt x="1711120" y="494141"/>
                </a:lnTo>
                <a:lnTo>
                  <a:pt x="1925010" y="247070"/>
                </a:lnTo>
                <a:lnTo>
                  <a:pt x="2138900" y="70591"/>
                </a:lnTo>
                <a:lnTo>
                  <a:pt x="2352790" y="0"/>
                </a:lnTo>
                <a:lnTo>
                  <a:pt x="2566681" y="0"/>
                </a:lnTo>
                <a:lnTo>
                  <a:pt x="2780571" y="70591"/>
                </a:lnTo>
                <a:lnTo>
                  <a:pt x="2994461" y="211775"/>
                </a:lnTo>
                <a:lnTo>
                  <a:pt x="3208351" y="423550"/>
                </a:lnTo>
                <a:lnTo>
                  <a:pt x="3422241" y="705916"/>
                </a:lnTo>
                <a:lnTo>
                  <a:pt x="3636131" y="988283"/>
                </a:lnTo>
                <a:lnTo>
                  <a:pt x="3850021" y="1200058"/>
                </a:lnTo>
                <a:lnTo>
                  <a:pt x="4063911" y="1288298"/>
                </a:lnTo>
                <a:lnTo>
                  <a:pt x="4277801" y="1305946"/>
                </a:lnTo>
                <a:lnTo>
                  <a:pt x="4491691" y="1288298"/>
                </a:lnTo>
                <a:lnTo>
                  <a:pt x="4705581" y="1270650"/>
                </a:lnTo>
                <a:lnTo>
                  <a:pt x="4919472" y="1253002"/>
                </a:lnTo>
                <a:lnTo>
                  <a:pt x="4919472" y="1553017"/>
                </a:lnTo>
                <a:lnTo>
                  <a:pt x="0" y="1553017"/>
                </a:lnTo>
                <a:close/>
              </a:path>
            </a:pathLst>
          </a:cu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2793690" y="2516063"/>
            <a:ext cx="1069451" cy="441198"/>
          </a:xfrm>
          <a:custGeom>
            <a:avLst/>
            <a:gdLst/>
            <a:ahLst/>
            <a:cxnLst/>
            <a:rect l="l" t="t" r="r" b="b"/>
            <a:pathLst>
              <a:path w="1069451" h="441198">
                <a:moveTo>
                  <a:pt x="0" y="247070"/>
                </a:moveTo>
                <a:lnTo>
                  <a:pt x="213890" y="70591"/>
                </a:lnTo>
                <a:lnTo>
                  <a:pt x="427780" y="0"/>
                </a:lnTo>
                <a:lnTo>
                  <a:pt x="641671" y="0"/>
                </a:lnTo>
                <a:lnTo>
                  <a:pt x="855561" y="70591"/>
                </a:lnTo>
                <a:lnTo>
                  <a:pt x="1069451" y="211775"/>
                </a:lnTo>
                <a:lnTo>
                  <a:pt x="1069451" y="388254"/>
                </a:lnTo>
                <a:lnTo>
                  <a:pt x="855561" y="388254"/>
                </a:lnTo>
                <a:lnTo>
                  <a:pt x="641671" y="388254"/>
                </a:lnTo>
                <a:lnTo>
                  <a:pt x="427780" y="388254"/>
                </a:lnTo>
                <a:lnTo>
                  <a:pt x="213890" y="405902"/>
                </a:lnTo>
                <a:lnTo>
                  <a:pt x="0" y="441198"/>
                </a:lnTo>
                <a:close/>
              </a:path>
            </a:pathLst>
          </a:cu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868680" y="2657246"/>
            <a:ext cx="4919472" cy="600029"/>
          </a:xfrm>
          <a:custGeom>
            <a:avLst/>
            <a:gdLst/>
            <a:ahLst/>
            <a:cxnLst/>
            <a:rect l="l" t="t" r="r" b="b"/>
            <a:pathLst>
              <a:path w="4919472" h="600029">
                <a:moveTo>
                  <a:pt x="0" y="494142"/>
                </a:moveTo>
                <a:lnTo>
                  <a:pt x="213890" y="529438"/>
                </a:lnTo>
                <a:lnTo>
                  <a:pt x="427780" y="564733"/>
                </a:lnTo>
                <a:lnTo>
                  <a:pt x="641670" y="582381"/>
                </a:lnTo>
                <a:lnTo>
                  <a:pt x="855560" y="600029"/>
                </a:lnTo>
                <a:lnTo>
                  <a:pt x="1069450" y="582381"/>
                </a:lnTo>
                <a:lnTo>
                  <a:pt x="1283340" y="529438"/>
                </a:lnTo>
                <a:lnTo>
                  <a:pt x="1497230" y="441198"/>
                </a:lnTo>
                <a:lnTo>
                  <a:pt x="1711120" y="352958"/>
                </a:lnTo>
                <a:lnTo>
                  <a:pt x="1925010" y="300015"/>
                </a:lnTo>
                <a:lnTo>
                  <a:pt x="2138900" y="264719"/>
                </a:lnTo>
                <a:lnTo>
                  <a:pt x="2352790" y="247071"/>
                </a:lnTo>
                <a:lnTo>
                  <a:pt x="2566681" y="247071"/>
                </a:lnTo>
                <a:lnTo>
                  <a:pt x="2780571" y="247071"/>
                </a:lnTo>
                <a:lnTo>
                  <a:pt x="2994461" y="247071"/>
                </a:lnTo>
                <a:lnTo>
                  <a:pt x="3208351" y="247071"/>
                </a:lnTo>
                <a:lnTo>
                  <a:pt x="3422241" y="211775"/>
                </a:lnTo>
                <a:lnTo>
                  <a:pt x="3636131" y="141183"/>
                </a:lnTo>
                <a:lnTo>
                  <a:pt x="3850021" y="35296"/>
                </a:lnTo>
                <a:lnTo>
                  <a:pt x="4063911" y="0"/>
                </a:lnTo>
                <a:lnTo>
                  <a:pt x="4277801" y="35296"/>
                </a:lnTo>
                <a:lnTo>
                  <a:pt x="4491691" y="141183"/>
                </a:lnTo>
                <a:lnTo>
                  <a:pt x="4705581" y="282367"/>
                </a:lnTo>
                <a:lnTo>
                  <a:pt x="4919472" y="405902"/>
                </a:lnTo>
              </a:path>
            </a:pathLst>
          </a:custGeom>
          <a:noFill/>
          <a:ln w="25400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868680" y="2516063"/>
            <a:ext cx="4919472" cy="1305946"/>
          </a:xfrm>
          <a:custGeom>
            <a:avLst/>
            <a:gdLst/>
            <a:ahLst/>
            <a:cxnLst/>
            <a:rect l="l" t="t" r="r" b="b"/>
            <a:pathLst>
              <a:path w="4919472" h="1305946">
                <a:moveTo>
                  <a:pt x="0" y="1235354"/>
                </a:moveTo>
                <a:lnTo>
                  <a:pt x="213890" y="1270650"/>
                </a:lnTo>
                <a:lnTo>
                  <a:pt x="427780" y="1288298"/>
                </a:lnTo>
                <a:lnTo>
                  <a:pt x="641670" y="1305946"/>
                </a:lnTo>
                <a:lnTo>
                  <a:pt x="855560" y="1305946"/>
                </a:lnTo>
                <a:lnTo>
                  <a:pt x="1069450" y="1270650"/>
                </a:lnTo>
                <a:lnTo>
                  <a:pt x="1283340" y="1094171"/>
                </a:lnTo>
                <a:lnTo>
                  <a:pt x="1497230" y="811804"/>
                </a:lnTo>
                <a:lnTo>
                  <a:pt x="1711120" y="494141"/>
                </a:lnTo>
                <a:lnTo>
                  <a:pt x="1925010" y="247070"/>
                </a:lnTo>
                <a:lnTo>
                  <a:pt x="2138900" y="70591"/>
                </a:lnTo>
                <a:lnTo>
                  <a:pt x="2352790" y="0"/>
                </a:lnTo>
                <a:lnTo>
                  <a:pt x="2566681" y="0"/>
                </a:lnTo>
                <a:lnTo>
                  <a:pt x="2780571" y="70591"/>
                </a:lnTo>
                <a:lnTo>
                  <a:pt x="2994461" y="211775"/>
                </a:lnTo>
                <a:lnTo>
                  <a:pt x="3208351" y="423550"/>
                </a:lnTo>
                <a:lnTo>
                  <a:pt x="3422241" y="705916"/>
                </a:lnTo>
                <a:lnTo>
                  <a:pt x="3636131" y="988283"/>
                </a:lnTo>
                <a:lnTo>
                  <a:pt x="3850021" y="1200058"/>
                </a:lnTo>
                <a:lnTo>
                  <a:pt x="4063911" y="1288298"/>
                </a:lnTo>
                <a:lnTo>
                  <a:pt x="4277801" y="1305946"/>
                </a:lnTo>
                <a:lnTo>
                  <a:pt x="4491691" y="1288298"/>
                </a:lnTo>
                <a:lnTo>
                  <a:pt x="4705581" y="1270650"/>
                </a:lnTo>
                <a:lnTo>
                  <a:pt x="4919472" y="1253002"/>
                </a:lnTo>
              </a:path>
            </a:pathLst>
          </a:custGeom>
          <a:noFill/>
          <a:ln w="19050">
            <a:solidFill>
              <a:srgbClr val="E0A52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GW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11480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0852" y="411480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6h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4193" y="411480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12h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533" y="411480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18h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4" y="411480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24h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236" y="2339583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6B3E"/>
                </a:solidFill>
                <a:latin typeface="Segoe UI Semibold"/>
              </a:rPr>
              <a:t>excedente de geração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236" y="2495031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restrição por razão energética (ENE)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329684"/>
            <a:ext cx="146304" cy="82296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2885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carga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0472" y="4329684"/>
            <a:ext cx="146304" cy="82296"/>
          </a:xfrm>
          <a:prstGeom prst="rect">
            <a:avLst/>
          </a:pr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00784" y="42885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geração renovável disponível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2073" y="4329684"/>
            <a:ext cx="146304" cy="8229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42385" y="42885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excedente → corte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50" b="0">
                <a:solidFill>
                  <a:srgbClr val="1F2430"/>
                </a:solidFill>
                <a:latin typeface="Segoe UI"/>
              </a:rPr>
              <a:t>Em períodos de </a:t>
            </a:r>
            <a:r>
              <a:rPr sz="950" b="1">
                <a:solidFill>
                  <a:srgbClr val="17296B"/>
                </a:solidFill>
                <a:latin typeface="Segoe UI Semibold"/>
              </a:rPr>
              <a:t>elevada produção fotovoltaica e baixa demanda</a:t>
            </a:r>
            <a:r>
              <a:rPr sz="950" b="0">
                <a:solidFill>
                  <a:srgbClr val="1F2430"/>
                </a:solidFill>
                <a:latin typeface="Segoe UI"/>
              </a:rPr>
              <a:t>, a carga líquida observada pelo Operador cai, a complexidade do equilíbrio carga–geração aumenta e a necessidade de restrição por razão energética se agrava.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50" b="0">
                <a:solidFill>
                  <a:srgbClr val="1F2430"/>
                </a:solidFill>
                <a:latin typeface="Segoe UI"/>
              </a:rPr>
              <a:t>O ONS </a:t>
            </a:r>
            <a:r>
              <a:rPr sz="950" b="1">
                <a:solidFill>
                  <a:srgbClr val="17296B"/>
                </a:solidFill>
                <a:latin typeface="Segoe UI Semibold"/>
              </a:rPr>
              <a:t>não pune nem obriga por escolha</a:t>
            </a:r>
            <a:r>
              <a:rPr sz="950" b="0">
                <a:solidFill>
                  <a:srgbClr val="1F2430"/>
                </a:solidFill>
                <a:latin typeface="Segoe UI"/>
              </a:rPr>
              <a:t>: coordena a redução de geração para preservar o equilíbrio instantâneo e evitar risco de colapso.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50" b="0">
                <a:solidFill>
                  <a:srgbClr val="1F2430"/>
                </a:solidFill>
                <a:latin typeface="Segoe UI"/>
              </a:rPr>
              <a:t>Curtailment e constrained-off são equivalentes na regulação brasileira (AIR nº 2022-002/SRG–ANEEL).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98448"/>
            <a:ext cx="5513832" cy="310082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172200" y="1298448"/>
            <a:ext cx="5513832" cy="3100826"/>
          </a:xfrm>
          <a:prstGeom prst="rect">
            <a:avLst/>
          </a:prstGeom>
          <a:noFill/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4463282"/>
            <a:ext cx="55138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Figura 1 — Evolução do curtailment (jan/23–out/25) por classificação, contra o crescimento da capacidade EOL+UFV+MMGD (+~40 GW) e a variação da carga média (&lt;10 GW). Fonte: ONS, PAR/PEL 2025 — Sumário Executivo.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138928"/>
            <a:ext cx="1764792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5138928"/>
            <a:ext cx="176479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0216" y="5266944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3262A"/>
                </a:solidFill>
                <a:latin typeface="Segoe UI Semibold"/>
              </a:rPr>
              <a:t>REL
Indisponibilidade externa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5678424"/>
            <a:ext cx="15087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Restrição elétrica fora das instalações da usina. Ressarcível.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292" y="5138928"/>
            <a:ext cx="1764792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51292" y="5138928"/>
            <a:ext cx="1764792" cy="29260"/>
          </a:xfrm>
          <a:prstGeom prst="rect">
            <a:avLst/>
          </a:prstGeom>
          <a:solidFill>
            <a:srgbClr val="7B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79308" y="5266944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B2C8A"/>
                </a:solidFill>
                <a:latin typeface="Segoe UI Semibold"/>
              </a:rPr>
              <a:t>CNF
Confiabilidade e segurança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9308" y="5678424"/>
            <a:ext cx="15087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Limites de exportação NE e N/NE. Ressarcível em período definido por lei.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30384" y="5138928"/>
            <a:ext cx="1764792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930384" y="5138928"/>
            <a:ext cx="1764792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0" y="5266944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B57"/>
                </a:solidFill>
                <a:latin typeface="Segoe UI Semibold"/>
              </a:rPr>
              <a:t>ENE
Razão energética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678424"/>
            <a:ext cx="15087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Geração disponível supera a demanda. </a:t>
            </a:r>
            <a:r>
              <a:rPr sz="700" b="1">
                <a:solidFill>
                  <a:srgbClr val="17296B"/>
                </a:solidFill>
                <a:latin typeface="Segoe UI Semibold"/>
              </a:rPr>
              <a:t>Não é ressarcida — e supera as demais desde abr/2025.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MANIFESTAÇÃO NA OPERAÇÃO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A geração que o ONS não supervisiona rebaixa a carga líquida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554480"/>
            <a:ext cx="5833872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68680" y="2167128"/>
            <a:ext cx="58338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779776"/>
            <a:ext cx="58338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" y="3392424"/>
            <a:ext cx="58338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868680" y="1824045"/>
            <a:ext cx="5833872" cy="1445849"/>
          </a:xfrm>
          <a:custGeom>
            <a:avLst/>
            <a:gdLst/>
            <a:ahLst/>
            <a:cxnLst/>
            <a:rect l="l" t="t" r="r" b="b"/>
            <a:pathLst>
              <a:path w="5833872" h="1445849">
                <a:moveTo>
                  <a:pt x="0" y="563636"/>
                </a:moveTo>
                <a:lnTo>
                  <a:pt x="253646" y="637154"/>
                </a:lnTo>
                <a:lnTo>
                  <a:pt x="507293" y="710671"/>
                </a:lnTo>
                <a:lnTo>
                  <a:pt x="760939" y="759683"/>
                </a:lnTo>
                <a:lnTo>
                  <a:pt x="1014586" y="784189"/>
                </a:lnTo>
                <a:lnTo>
                  <a:pt x="1268233" y="759683"/>
                </a:lnTo>
                <a:lnTo>
                  <a:pt x="1521879" y="686165"/>
                </a:lnTo>
                <a:lnTo>
                  <a:pt x="1775526" y="563636"/>
                </a:lnTo>
                <a:lnTo>
                  <a:pt x="2029172" y="416600"/>
                </a:lnTo>
                <a:lnTo>
                  <a:pt x="2282819" y="294071"/>
                </a:lnTo>
                <a:lnTo>
                  <a:pt x="2536466" y="220553"/>
                </a:lnTo>
                <a:lnTo>
                  <a:pt x="2790112" y="171541"/>
                </a:lnTo>
                <a:lnTo>
                  <a:pt x="3043759" y="147035"/>
                </a:lnTo>
                <a:lnTo>
                  <a:pt x="3297405" y="147035"/>
                </a:lnTo>
                <a:lnTo>
                  <a:pt x="3551052" y="147035"/>
                </a:lnTo>
                <a:lnTo>
                  <a:pt x="3804699" y="122529"/>
                </a:lnTo>
                <a:lnTo>
                  <a:pt x="4058345" y="73517"/>
                </a:lnTo>
                <a:lnTo>
                  <a:pt x="4311992" y="24506"/>
                </a:lnTo>
                <a:lnTo>
                  <a:pt x="4565638" y="0"/>
                </a:lnTo>
                <a:lnTo>
                  <a:pt x="4819285" y="0"/>
                </a:lnTo>
                <a:lnTo>
                  <a:pt x="5072932" y="49011"/>
                </a:lnTo>
                <a:lnTo>
                  <a:pt x="5326578" y="171541"/>
                </a:lnTo>
                <a:lnTo>
                  <a:pt x="5580225" y="318577"/>
                </a:lnTo>
                <a:lnTo>
                  <a:pt x="5833872" y="465612"/>
                </a:lnTo>
                <a:lnTo>
                  <a:pt x="5833872" y="465612"/>
                </a:lnTo>
                <a:lnTo>
                  <a:pt x="5580225" y="318577"/>
                </a:lnTo>
                <a:lnTo>
                  <a:pt x="5326578" y="171541"/>
                </a:lnTo>
                <a:lnTo>
                  <a:pt x="5072932" y="49011"/>
                </a:lnTo>
                <a:lnTo>
                  <a:pt x="4819285" y="0"/>
                </a:lnTo>
                <a:lnTo>
                  <a:pt x="4565638" y="24506"/>
                </a:lnTo>
                <a:lnTo>
                  <a:pt x="4311992" y="147035"/>
                </a:lnTo>
                <a:lnTo>
                  <a:pt x="4058345" y="441106"/>
                </a:lnTo>
                <a:lnTo>
                  <a:pt x="3804699" y="784189"/>
                </a:lnTo>
                <a:lnTo>
                  <a:pt x="3551052" y="1053754"/>
                </a:lnTo>
                <a:lnTo>
                  <a:pt x="3297405" y="1249802"/>
                </a:lnTo>
                <a:lnTo>
                  <a:pt x="3043759" y="1372331"/>
                </a:lnTo>
                <a:lnTo>
                  <a:pt x="2790112" y="1445849"/>
                </a:lnTo>
                <a:lnTo>
                  <a:pt x="2536466" y="1445849"/>
                </a:lnTo>
                <a:lnTo>
                  <a:pt x="2282819" y="1274307"/>
                </a:lnTo>
                <a:lnTo>
                  <a:pt x="2029172" y="1053754"/>
                </a:lnTo>
                <a:lnTo>
                  <a:pt x="1775526" y="857707"/>
                </a:lnTo>
                <a:lnTo>
                  <a:pt x="1521879" y="784189"/>
                </a:lnTo>
                <a:lnTo>
                  <a:pt x="1268233" y="784189"/>
                </a:lnTo>
                <a:lnTo>
                  <a:pt x="1014586" y="784189"/>
                </a:lnTo>
                <a:lnTo>
                  <a:pt x="760939" y="759683"/>
                </a:lnTo>
                <a:lnTo>
                  <a:pt x="507293" y="710671"/>
                </a:lnTo>
                <a:lnTo>
                  <a:pt x="253646" y="637154"/>
                </a:lnTo>
                <a:lnTo>
                  <a:pt x="0" y="563636"/>
                </a:lnTo>
                <a:close/>
              </a:path>
            </a:pathLst>
          </a:cu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868680" y="1824045"/>
            <a:ext cx="5833872" cy="784189"/>
          </a:xfrm>
          <a:custGeom>
            <a:avLst/>
            <a:gdLst/>
            <a:ahLst/>
            <a:cxnLst/>
            <a:rect l="l" t="t" r="r" b="b"/>
            <a:pathLst>
              <a:path w="5833872" h="784189">
                <a:moveTo>
                  <a:pt x="0" y="563636"/>
                </a:moveTo>
                <a:lnTo>
                  <a:pt x="253646" y="637154"/>
                </a:lnTo>
                <a:lnTo>
                  <a:pt x="507293" y="710671"/>
                </a:lnTo>
                <a:lnTo>
                  <a:pt x="760939" y="759683"/>
                </a:lnTo>
                <a:lnTo>
                  <a:pt x="1014586" y="784189"/>
                </a:lnTo>
                <a:lnTo>
                  <a:pt x="1268233" y="759683"/>
                </a:lnTo>
                <a:lnTo>
                  <a:pt x="1521879" y="686165"/>
                </a:lnTo>
                <a:lnTo>
                  <a:pt x="1775526" y="563636"/>
                </a:lnTo>
                <a:lnTo>
                  <a:pt x="2029172" y="416600"/>
                </a:lnTo>
                <a:lnTo>
                  <a:pt x="2282819" y="294071"/>
                </a:lnTo>
                <a:lnTo>
                  <a:pt x="2536466" y="220553"/>
                </a:lnTo>
                <a:lnTo>
                  <a:pt x="2790112" y="171541"/>
                </a:lnTo>
                <a:lnTo>
                  <a:pt x="3043759" y="147035"/>
                </a:lnTo>
                <a:lnTo>
                  <a:pt x="3297405" y="147035"/>
                </a:lnTo>
                <a:lnTo>
                  <a:pt x="3551052" y="147035"/>
                </a:lnTo>
                <a:lnTo>
                  <a:pt x="3804699" y="122529"/>
                </a:lnTo>
                <a:lnTo>
                  <a:pt x="4058345" y="73517"/>
                </a:lnTo>
                <a:lnTo>
                  <a:pt x="4311992" y="24506"/>
                </a:lnTo>
                <a:lnTo>
                  <a:pt x="4565638" y="0"/>
                </a:lnTo>
                <a:lnTo>
                  <a:pt x="4819285" y="0"/>
                </a:lnTo>
                <a:lnTo>
                  <a:pt x="5072932" y="49011"/>
                </a:lnTo>
                <a:lnTo>
                  <a:pt x="5326578" y="171541"/>
                </a:lnTo>
                <a:lnTo>
                  <a:pt x="5580225" y="318577"/>
                </a:lnTo>
                <a:lnTo>
                  <a:pt x="5833872" y="465612"/>
                </a:lnTo>
              </a:path>
            </a:pathLst>
          </a:custGeom>
          <a:noFill/>
          <a:ln w="19050">
            <a:solidFill>
              <a:srgbClr val="5A6473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868680" y="1824045"/>
            <a:ext cx="5833872" cy="1445849"/>
          </a:xfrm>
          <a:custGeom>
            <a:avLst/>
            <a:gdLst/>
            <a:ahLst/>
            <a:cxnLst/>
            <a:rect l="l" t="t" r="r" b="b"/>
            <a:pathLst>
              <a:path w="5833872" h="1445849">
                <a:moveTo>
                  <a:pt x="0" y="563636"/>
                </a:moveTo>
                <a:lnTo>
                  <a:pt x="253646" y="637154"/>
                </a:lnTo>
                <a:lnTo>
                  <a:pt x="507293" y="710671"/>
                </a:lnTo>
                <a:lnTo>
                  <a:pt x="760939" y="759683"/>
                </a:lnTo>
                <a:lnTo>
                  <a:pt x="1014586" y="784189"/>
                </a:lnTo>
                <a:lnTo>
                  <a:pt x="1268233" y="784189"/>
                </a:lnTo>
                <a:lnTo>
                  <a:pt x="1521879" y="784189"/>
                </a:lnTo>
                <a:lnTo>
                  <a:pt x="1775526" y="857707"/>
                </a:lnTo>
                <a:lnTo>
                  <a:pt x="2029172" y="1053754"/>
                </a:lnTo>
                <a:lnTo>
                  <a:pt x="2282819" y="1274307"/>
                </a:lnTo>
                <a:lnTo>
                  <a:pt x="2536466" y="1445849"/>
                </a:lnTo>
                <a:lnTo>
                  <a:pt x="2790112" y="1445849"/>
                </a:lnTo>
                <a:lnTo>
                  <a:pt x="3043759" y="1372331"/>
                </a:lnTo>
                <a:lnTo>
                  <a:pt x="3297405" y="1249802"/>
                </a:lnTo>
                <a:lnTo>
                  <a:pt x="3551052" y="1053754"/>
                </a:lnTo>
                <a:lnTo>
                  <a:pt x="3804699" y="784189"/>
                </a:lnTo>
                <a:lnTo>
                  <a:pt x="4058345" y="441106"/>
                </a:lnTo>
                <a:lnTo>
                  <a:pt x="4311992" y="147035"/>
                </a:lnTo>
                <a:lnTo>
                  <a:pt x="4565638" y="24506"/>
                </a:lnTo>
                <a:lnTo>
                  <a:pt x="4819285" y="0"/>
                </a:lnTo>
                <a:lnTo>
                  <a:pt x="5072932" y="49011"/>
                </a:lnTo>
                <a:lnTo>
                  <a:pt x="5326578" y="171541"/>
                </a:lnTo>
                <a:lnTo>
                  <a:pt x="5580225" y="318577"/>
                </a:lnTo>
                <a:lnTo>
                  <a:pt x="5833872" y="465612"/>
                </a:lnTo>
              </a:path>
            </a:pathLst>
          </a:custGeom>
          <a:noFill/>
          <a:ln w="31750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517904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GW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0h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098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6684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1271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5857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16h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0444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20h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4050791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23h</a:t>
            </a:r>
          </a:p>
        </p:txBody>
      </p:sp>
      <p:sp>
        <p:nvSpPr>
          <p:cNvPr id="21" name="Oval 20"/>
          <p:cNvSpPr/>
          <p:nvPr/>
        </p:nvSpPr>
        <p:spPr>
          <a:xfrm>
            <a:off x="3486249" y="3224174"/>
            <a:ext cx="91440" cy="91440"/>
          </a:xfrm>
          <a:prstGeom prst="ellipse">
            <a:avLst/>
          </a:prstGeom>
          <a:solidFill>
            <a:srgbClr val="1729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9101" y="339791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carga líquida reduzida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9101" y="3571646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menos fontes controláveis em operação e inércia mínima a assegurar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658792" y="1946574"/>
            <a:ext cx="1674068" cy="1274308"/>
          </a:xfrm>
          <a:prstGeom prst="line">
            <a:avLst/>
          </a:prstGeom>
          <a:ln w="22225">
            <a:solidFill>
              <a:srgbClr val="B32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5356" y="336791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3262A"/>
                </a:solidFill>
                <a:latin typeface="Segoe UI Semibold"/>
              </a:rPr>
              <a:t>rampa vespertina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5356" y="354165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equilíbrio carga–geração sob prazo curto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5973" y="1627997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0A522"/>
                </a:solidFill>
                <a:latin typeface="Segoe UI Semibold"/>
              </a:rPr>
              <a:t>MMGD e Tipo III: geração que o ONS não supervisiona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280160"/>
            <a:ext cx="6309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A GERAÇÃO NÃO SUPERVISIONADA REBAIXA A CARGA QUE O OPERADOR ENXERGA — ESQUEMA EM CENÁRIO PROSPECTIVO 2029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283964"/>
            <a:ext cx="146304" cy="82296"/>
          </a:xfrm>
          <a:prstGeom prst="rect">
            <a:avLst/>
          </a:prstGeom>
          <a:solidFill>
            <a:srgbClr val="5A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" y="424281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carga global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61718" y="4283964"/>
            <a:ext cx="146304" cy="82296"/>
          </a:xfrm>
          <a:prstGeom prst="rect">
            <a:avLst/>
          </a:pr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72030" y="424281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MMGD + Tipo III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3862" y="4283964"/>
            <a:ext cx="146304" cy="82296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24174" y="424281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carga supervisionada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00016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ONS prevê a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carga global</a:t>
            </a:r>
            <a:r>
              <a:rPr sz="900" b="0">
                <a:solidFill>
                  <a:srgbClr val="1F2430"/>
                </a:solidFill>
                <a:latin typeface="Segoe UI"/>
              </a:rPr>
              <a:t> e dela abate a geração que não supervisiona — MMGD e usinas Tipo III —, chegando à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carga supervisionada</a:t>
            </a:r>
            <a:r>
              <a:rPr sz="900" b="0">
                <a:solidFill>
                  <a:srgbClr val="1F2430"/>
                </a:solidFill>
                <a:latin typeface="Segoe UI"/>
              </a:rPr>
              <a:t>, que é a que efetivamente opera.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Quanto mais profundo o vale diurno, menos fontes controláveis permanecem em operação: o equilíbrio carga–geração fica mais complexo e a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inércia mínima</a:t>
            </a:r>
            <a:r>
              <a:rPr sz="900" b="0">
                <a:solidFill>
                  <a:srgbClr val="1F2430"/>
                </a:solidFill>
                <a:latin typeface="Segoe UI"/>
              </a:rPr>
              <a:t> precisa ser assegurada com menos recursos.</a:t>
            </a:r>
          </a:p>
        </p:txBody>
      </p:sp>
      <p:pic>
        <p:nvPicPr>
          <p:cNvPr id="36" name="Picture 3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280160"/>
            <a:ext cx="4690872" cy="263801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995160" y="1280160"/>
            <a:ext cx="4690872" cy="2638016"/>
          </a:xfrm>
          <a:prstGeom prst="rect">
            <a:avLst/>
          </a:prstGeom>
          <a:noFill/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3982184"/>
            <a:ext cx="46908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Figura 3 — Carga supervisionada mínima verificada: 40.373 MW (05/nov/23, com 25,6 GW de MMGD), 39.024 MW (11/ago/24, 32,8 GW) e 31.804 MW (10/ago/25, 42,8 GW). Fonte: ONS, PAR/PEL 2025.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4553712"/>
            <a:ext cx="4690872" cy="11155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4553712"/>
            <a:ext cx="4690872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23176" y="46817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O que a solução precisa prever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4919472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Não é “quanta energia o país vai consumir”, e sim a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forma da curva, hora a hora, e sobretudo os seus extremos</a:t>
            </a:r>
            <a:r>
              <a:rPr sz="800" b="0">
                <a:solidFill>
                  <a:srgbClr val="1F2430"/>
                </a:solidFill>
                <a:latin typeface="Segoe UI"/>
              </a:rPr>
              <a:t>: a mínima diurna, onde a controlabilidade escasseia, e a ponta noturna, onde o erro custa mais.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961888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Efeito documentado no PAR/PEL 2025: em 10/08/2025 a geração distribuída respondeu por 44,8% da geração total do SIN no instante da carga supervisionada mínima; a prospecção para 2029 indica amplitude diária de 59,8 GW, com necessidade de rampear ~33,6 GW em três horas.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A SOLUÇÃO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36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17296B"/>
                </a:solidFill>
                <a:latin typeface="Segoe UI Semibold"/>
              </a:rPr>
              <a:t>Dois</a:t>
            </a:r>
            <a:r>
              <a:rPr sz="2500" b="1" dirty="0">
                <a:solidFill>
                  <a:srgbClr val="17296B"/>
                </a:solidFill>
                <a:latin typeface="Segoe UI Semibold"/>
              </a:rPr>
              <a:t> </a:t>
            </a:r>
            <a:r>
              <a:rPr sz="2500" b="1" dirty="0" err="1">
                <a:solidFill>
                  <a:srgbClr val="17296B"/>
                </a:solidFill>
                <a:latin typeface="Segoe UI Semibold"/>
              </a:rPr>
              <a:t>eixos</a:t>
            </a:r>
            <a:r>
              <a:rPr sz="2500" b="1" dirty="0">
                <a:solidFill>
                  <a:srgbClr val="17296B"/>
                </a:solidFill>
                <a:latin typeface="Segoe UI Semibold"/>
              </a:rPr>
              <a:t> </a:t>
            </a:r>
            <a:r>
              <a:rPr sz="2500" b="1" dirty="0" err="1">
                <a:solidFill>
                  <a:srgbClr val="17296B"/>
                </a:solidFill>
                <a:latin typeface="Segoe UI Semibold"/>
              </a:rPr>
              <a:t>prioritários</a:t>
            </a:r>
            <a:r>
              <a:rPr sz="2500" b="1" dirty="0">
                <a:solidFill>
                  <a:srgbClr val="17296B"/>
                </a:solidFill>
                <a:latin typeface="Segoe UI Semibold"/>
              </a:rPr>
              <a:t> </a:t>
            </a:r>
            <a:r>
              <a:rPr lang="pt-BR" sz="2500" b="1" dirty="0">
                <a:solidFill>
                  <a:srgbClr val="17296B"/>
                </a:solidFill>
                <a:latin typeface="Segoe UI Semibold"/>
              </a:rPr>
              <a:t> </a:t>
            </a:r>
            <a:endParaRPr sz="2500" b="1" dirty="0">
              <a:solidFill>
                <a:srgbClr val="17296B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4590288"/>
            <a:ext cx="11185855" cy="45720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4672583"/>
            <a:ext cx="108200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GRANDEZA HOJE FORA DA VISIBILIDADE DO TSO:  onde está a MMGD, quanto poderá gerar nas horas seguintes e em que ponto da malha de distribuição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85615"/>
            <a:ext cx="11185855" cy="530352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108200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O.R.A.C.U.L.O.  —  camada de inteligência preditiva que integra e operacionaliza os dois eixos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5455767" cy="22128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455767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" y="1426464"/>
            <a:ext cx="51997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74"/>
                </a:solidFill>
                <a:latin typeface="Segoe UI Semibold"/>
              </a:rPr>
              <a:t>EIXO 1  ·  Representação da carga e da MMGD nos estudos elétricos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664208"/>
            <a:ext cx="5199735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Objetivo:</a:t>
            </a:r>
            <a:r>
              <a:rPr sz="850" b="0">
                <a:solidFill>
                  <a:srgbClr val="1F2430"/>
                </a:solidFill>
                <a:latin typeface="Segoe UI"/>
              </a:rPr>
              <a:t> caracterizar perfis de consumo e a presença de geração distribuída nas redes.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Entrega:</a:t>
            </a:r>
            <a:r>
              <a:rPr sz="850" b="0">
                <a:solidFill>
                  <a:srgbClr val="1F2430"/>
                </a:solidFill>
                <a:latin typeface="Segoe UI"/>
              </a:rPr>
              <a:t> insumos consistentes para a parametrização, a validação e a calibração dos modelos dinâmicos equivalentes de carga e MMGD.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Destino:</a:t>
            </a:r>
            <a:r>
              <a:rPr sz="850" b="0">
                <a:solidFill>
                  <a:srgbClr val="1F2430"/>
                </a:solidFill>
                <a:latin typeface="Segoe UI"/>
              </a:rPr>
              <a:t> estudos de estabilidade eletromecânica e avaliação do comportamento dinâmico do SIN — em particular a representação do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Composite Load Model (CLM)</a:t>
            </a:r>
            <a:r>
              <a:rPr sz="850" b="0">
                <a:solidFill>
                  <a:srgbClr val="1F2430"/>
                </a:solidFill>
                <a:latin typeface="Segoe U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Encaixe:</a:t>
            </a:r>
            <a:r>
              <a:rPr sz="850" b="0">
                <a:solidFill>
                  <a:srgbClr val="1F2430"/>
                </a:solidFill>
                <a:latin typeface="Segoe UI"/>
              </a:rPr>
              <a:t> frente do ONS de parametrização, validação e calibração de modelos de carga e MMGD, iniciada em 2024 em parceria com instituto de P&amp;D.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Resultado esperado:</a:t>
            </a:r>
            <a:r>
              <a:rPr sz="850" b="0">
                <a:solidFill>
                  <a:srgbClr val="1F2430"/>
                </a:solidFill>
                <a:latin typeface="Segoe UI"/>
              </a:rPr>
              <a:t> menos incerteza e mais precisão nos estudos elétricos.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298448"/>
            <a:ext cx="5455767" cy="22128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3007" y="1298448"/>
            <a:ext cx="5455767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1023" y="1426464"/>
            <a:ext cx="51997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9B57"/>
                </a:solidFill>
                <a:latin typeface="Segoe UI Semibold"/>
              </a:rPr>
              <a:t>EIXO 2  ·  Fortalecimento da interface ONS–DSO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1664208"/>
            <a:ext cx="5199735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Objetivo:</a:t>
            </a:r>
            <a:r>
              <a:rPr sz="850" b="0">
                <a:solidFill>
                  <a:srgbClr val="1F2430"/>
                </a:solidFill>
                <a:latin typeface="Segoe UI"/>
              </a:rPr>
              <a:t> ampliar a observabilidade e a previsibilidade do comportamento da carga e da MMGD nas redes de distribuição.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Entrega:</a:t>
            </a:r>
            <a:r>
              <a:rPr sz="850" b="0">
                <a:solidFill>
                  <a:srgbClr val="1F2430"/>
                </a:solidFill>
                <a:latin typeface="Segoe UI"/>
              </a:rPr>
              <a:t> informação estruturada na fronteira T–D, com granularidade e antecedência úteis à decisão operativa.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Destino:</a:t>
            </a:r>
            <a:r>
              <a:rPr sz="850" b="0">
                <a:solidFill>
                  <a:srgbClr val="1F2430"/>
                </a:solidFill>
                <a:latin typeface="Segoe UI"/>
              </a:rPr>
              <a:t> atuação mais ágil, flexível e coordenada entre o ONS e as distribuidoras, responsáveis pelos recursos conectados às suas redes.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Encaixe:</a:t>
            </a:r>
            <a:r>
              <a:rPr sz="850" b="0">
                <a:solidFill>
                  <a:srgbClr val="1F2430"/>
                </a:solidFill>
                <a:latin typeface="Segoe UI"/>
              </a:rPr>
              <a:t> Projeto Interface ONS/DSO e Plano de Gestão de Excedentes de Energia na Rede de Distribuição, ambos em curso desde 2024.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Resultado esperado:</a:t>
            </a:r>
            <a:r>
              <a:rPr sz="850" b="0">
                <a:solidFill>
                  <a:srgbClr val="1F2430"/>
                </a:solidFill>
                <a:latin typeface="Segoe UI"/>
              </a:rPr>
              <a:t> gestão de excedentes acionada por previsão, e não por solicitação emergencial.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5847" y="4352544"/>
            <a:ext cx="0" cy="201168"/>
          </a:xfrm>
          <a:prstGeom prst="line">
            <a:avLst/>
          </a:prstGeom>
          <a:ln w="19050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230803" y="3547872"/>
            <a:ext cx="0" cy="201167"/>
          </a:xfrm>
          <a:prstGeom prst="line">
            <a:avLst/>
          </a:prstGeom>
          <a:ln w="19050">
            <a:solidFill>
              <a:srgbClr val="0E7C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960891" y="3547872"/>
            <a:ext cx="0" cy="201167"/>
          </a:xfrm>
          <a:prstGeom prst="line">
            <a:avLst/>
          </a:prstGeom>
          <a:ln w="19050">
            <a:solidFill>
              <a:srgbClr val="2E9B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157216"/>
            <a:ext cx="1118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74"/>
                </a:solidFill>
                <a:latin typeface="Segoe UI Semibold"/>
              </a:rPr>
              <a:t>ARTICULAÇÃO COM AS DUAS PERGUNTAS ORIENTADORAS DO CADERNO DE DESAFIOS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58384"/>
            <a:ext cx="5486400" cy="98755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358384"/>
            <a:ext cx="5486400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" y="54864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Desafio 1  ·  Curtailment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5724144"/>
            <a:ext cx="5230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Indicadores preditivos do risco de restrição por razão energética, localizados por área de concessão e por fronteira. Depende da MMGD observável e do payload do Eixo 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5358384"/>
            <a:ext cx="5486400" cy="98755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9632" y="5358384"/>
            <a:ext cx="5486400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54864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Desafio 2  ·  Demanda energética, clima e operação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724144"/>
            <a:ext cx="5230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Previsão da carga supervisionada tratando os fatores que movem a curva. Depende dos perfis do Eixo 1 e da MMGD estimada por distribuidora.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EIXO 1  ·  REPRESENTAÇÃO DA CARGA E DA MMGD NOS ESTUDOS ELÉTRICOS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177" y="64922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7296B"/>
                </a:solidFill>
                <a:latin typeface="Segoe UI Semibold"/>
              </a:rPr>
              <a:t>Da </a:t>
            </a:r>
            <a:r>
              <a:rPr sz="2400" b="1" dirty="0" err="1">
                <a:solidFill>
                  <a:srgbClr val="17296B"/>
                </a:solidFill>
                <a:latin typeface="Segoe UI Semibold"/>
              </a:rPr>
              <a:t>série</a:t>
            </a:r>
            <a:r>
              <a:rPr sz="2400" b="1" dirty="0">
                <a:solidFill>
                  <a:srgbClr val="17296B"/>
                </a:solidFill>
                <a:latin typeface="Segoe UI Semibold"/>
              </a:rPr>
              <a:t> </a:t>
            </a:r>
            <a:r>
              <a:rPr sz="2400" b="1" dirty="0" err="1">
                <a:solidFill>
                  <a:srgbClr val="17296B"/>
                </a:solidFill>
                <a:latin typeface="Segoe UI Semibold"/>
              </a:rPr>
              <a:t>histórica</a:t>
            </a:r>
            <a:r>
              <a:rPr sz="2400" b="1" dirty="0">
                <a:solidFill>
                  <a:srgbClr val="17296B"/>
                </a:solidFill>
                <a:latin typeface="Segoe UI Semibold"/>
              </a:rPr>
              <a:t> </a:t>
            </a:r>
            <a:r>
              <a:rPr sz="2400" b="1" dirty="0" err="1">
                <a:solidFill>
                  <a:srgbClr val="17296B"/>
                </a:solidFill>
                <a:latin typeface="Segoe UI Semibold"/>
              </a:rPr>
              <a:t>ao</a:t>
            </a:r>
            <a:r>
              <a:rPr sz="2400" b="1" dirty="0">
                <a:solidFill>
                  <a:srgbClr val="17296B"/>
                </a:solidFill>
                <a:latin typeface="Segoe UI Semibold"/>
              </a:rPr>
              <a:t> Composite Load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Pentagon 5"/>
          <p:cNvSpPr/>
          <p:nvPr/>
        </p:nvSpPr>
        <p:spPr>
          <a:xfrm>
            <a:off x="502920" y="1554480"/>
            <a:ext cx="2354214" cy="1060704"/>
          </a:xfrm>
          <a:prstGeom prst="homePlate">
            <a:avLst>
              <a:gd name="adj" fmla="val 28000"/>
            </a:avLst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 Semibold"/>
              </a:rPr>
              <a:t>Séries históricas
e medições elétricas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Segoe UI"/>
              </a:rPr>
              <a:t>Portal de Dados Abertos do ONS e medições na fronteira</a:t>
            </a:r>
          </a:p>
        </p:txBody>
      </p:sp>
      <p:sp>
        <p:nvSpPr>
          <p:cNvPr id="7" name="Chevron 6"/>
          <p:cNvSpPr/>
          <p:nvPr/>
        </p:nvSpPr>
        <p:spPr>
          <a:xfrm>
            <a:off x="2710830" y="1554480"/>
            <a:ext cx="2354214" cy="1060704"/>
          </a:xfrm>
          <a:prstGeom prst="chevron">
            <a:avLst>
              <a:gd name="adj" fmla="val 28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 Semibold"/>
              </a:rPr>
              <a:t>Caracterização de
perfis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Segoe UI"/>
              </a:rPr>
              <a:t>perfis de consumo e presença de geração distribuída</a:t>
            </a:r>
          </a:p>
        </p:txBody>
      </p:sp>
      <p:sp>
        <p:nvSpPr>
          <p:cNvPr id="8" name="Chevron 7"/>
          <p:cNvSpPr/>
          <p:nvPr/>
        </p:nvSpPr>
        <p:spPr>
          <a:xfrm>
            <a:off x="4918740" y="1554480"/>
            <a:ext cx="2354214" cy="1060704"/>
          </a:xfrm>
          <a:prstGeom prst="chevron">
            <a:avLst>
              <a:gd name="adj" fmla="val 28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 Semibold"/>
              </a:rPr>
              <a:t>Parametrização ·
Validação · Calibração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Segoe UI"/>
              </a:rPr>
              <a:t>contra dados verificados, com granularidade de mancha</a:t>
            </a:r>
          </a:p>
        </p:txBody>
      </p:sp>
      <p:sp>
        <p:nvSpPr>
          <p:cNvPr id="9" name="Chevron 8"/>
          <p:cNvSpPr/>
          <p:nvPr/>
        </p:nvSpPr>
        <p:spPr>
          <a:xfrm>
            <a:off x="7126650" y="1554480"/>
            <a:ext cx="2354214" cy="1060704"/>
          </a:xfrm>
          <a:prstGeom prst="chevron">
            <a:avLst>
              <a:gd name="adj" fmla="val 28000"/>
            </a:avLst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 Semibold"/>
              </a:rPr>
              <a:t>Modelos dinâmicos
equivalentes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Segoe UI"/>
              </a:rPr>
              <a:t>de carga e de MMGD empregados pelo ONS</a:t>
            </a:r>
          </a:p>
        </p:txBody>
      </p:sp>
      <p:sp>
        <p:nvSpPr>
          <p:cNvPr id="10" name="Chevron 9"/>
          <p:cNvSpPr/>
          <p:nvPr/>
        </p:nvSpPr>
        <p:spPr>
          <a:xfrm>
            <a:off x="9334560" y="1554480"/>
            <a:ext cx="2354214" cy="1060704"/>
          </a:xfrm>
          <a:prstGeom prst="chevron">
            <a:avLst>
              <a:gd name="adj" fmla="val 28000"/>
            </a:avLst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 Semibold"/>
              </a:rPr>
              <a:t>Estudos elétricos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Segoe UI"/>
              </a:rPr>
              <a:t>estabilidade eletromecânica e comportamento dinâmico do 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118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DA SÉRIE HISTÓRICA AO MODELO EMPREGADO NOS ESTUDOS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52928"/>
            <a:ext cx="11185855" cy="987551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45720" cy="987551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962656"/>
            <a:ext cx="46980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Composite Load Model (CLM)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182112"/>
            <a:ext cx="4921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F2430"/>
                </a:solidFill>
                <a:latin typeface="Segoe UI"/>
              </a:rPr>
              <a:t>Vislumbra-se que esta frente subsidie a parametrização e o aperfeiçoamento da representação do CLM,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reduzindo incertezas e aprimorando a precisão dos estudos elétricos</a:t>
            </a:r>
            <a:r>
              <a:rPr sz="850" b="0">
                <a:solidFill>
                  <a:srgbClr val="1F2430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980944"/>
            <a:ext cx="5369210" cy="804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0">
                <a:solidFill>
                  <a:srgbClr val="1F2430"/>
                </a:solidFill>
                <a:latin typeface="Segoe UI"/>
              </a:rPr>
              <a:t>Perfis representativos de carga e de MMGD por mancha, não por subsistema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0">
                <a:solidFill>
                  <a:srgbClr val="1F2430"/>
                </a:solidFill>
                <a:latin typeface="Segoe UI"/>
              </a:rPr>
              <a:t>Validação contra a geração verificada das bases do ONS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0">
                <a:solidFill>
                  <a:srgbClr val="1F2430"/>
                </a:solidFill>
                <a:latin typeface="Segoe UI"/>
              </a:rPr>
              <a:t>Calibração espacial por área de concessão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0">
                <a:solidFill>
                  <a:srgbClr val="1F2430"/>
                </a:solidFill>
                <a:latin typeface="Segoe UI"/>
              </a:rPr>
              <a:t>Avaliação de cenários com elevada penetração de geração distribuída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59936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eixo aprimora a representação da carga e da MMGD mediante a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caracterização de perfis de consumo e da presença de geração distribuída</a:t>
            </a:r>
            <a:r>
              <a:rPr sz="900" b="0">
                <a:solidFill>
                  <a:srgbClr val="1F2430"/>
                </a:solidFill>
                <a:latin typeface="Segoe UI"/>
              </a:rPr>
              <a:t> nas redes de distribuição.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Os resultados fornecem insumos consistentes para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parametrizar, validar e calibrar</a:t>
            </a:r>
            <a:r>
              <a:rPr sz="900" b="0">
                <a:solidFill>
                  <a:srgbClr val="1F2430"/>
                </a:solidFill>
                <a:latin typeface="Segoe UI"/>
              </a:rPr>
              <a:t> os modelos dinâmicos equivalentes empregados pelo 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059936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B3262A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Destino dos insumos: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estudos de estabilidade eletromecânica</a:t>
            </a:r>
            <a:r>
              <a:rPr sz="900" b="0">
                <a:solidFill>
                  <a:srgbClr val="1F2430"/>
                </a:solidFill>
                <a:latin typeface="Segoe UI"/>
              </a:rPr>
              <a:t> e avaliação do comportamento dinâmico do SIN.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B3262A"/>
                </a:solidFill>
                <a:latin typeface="Segoe UI"/>
              </a:rPr>
              <a:t>▪  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Limite declarado:</a:t>
            </a:r>
            <a:r>
              <a:rPr sz="900" b="0">
                <a:solidFill>
                  <a:srgbClr val="1F2430"/>
                </a:solidFill>
                <a:latin typeface="Segoe UI"/>
              </a:rPr>
              <a:t> a solução não contém modelo elétrico da rede. Não se promete fluxo de potência, análise de estabilidade ou controle de tensão — a saída é insumo qualificado para quem realiza esses estudos.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EIXO 2  ·  FORTALECIMENTO DA INTERFACE ONS–DSO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96B"/>
                </a:solidFill>
                <a:latin typeface="Segoe UI Semibold"/>
              </a:rPr>
              <a:t>Uma interface precisa de um payload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331720" cy="179222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331720" cy="2926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682495"/>
            <a:ext cx="2075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96B"/>
                </a:solidFill>
                <a:latin typeface="Segoe UI Semibold"/>
              </a:rPr>
              <a:t>ONS  ·  TSO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920239"/>
            <a:ext cx="207568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Coordena e controla a operação da geração e da transmissão.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Precisa saber, com antecedência, onde e quando haverá excedente de geração na distribuição.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7055" y="1554480"/>
            <a:ext cx="2331720" cy="179222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57055" y="1554480"/>
            <a:ext cx="2331720" cy="29260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85071" y="1682495"/>
            <a:ext cx="2075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410"/>
                </a:solidFill>
                <a:latin typeface="Segoe UI Semibold"/>
              </a:rPr>
              <a:t>Distribuidoras  ·  papel de DSO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5071" y="1920239"/>
            <a:ext cx="207568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Gerem os recursos conectados às suas redes.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Precisam de sinal operativo espacializado para agir sem depender de solicitação manual.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2383" y="1554480"/>
            <a:ext cx="6046927" cy="1792224"/>
          </a:xfrm>
          <a:prstGeom prst="rect">
            <a:avLst/>
          </a:prstGeom>
          <a:solidFill>
            <a:srgbClr val="E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72383" y="1554480"/>
            <a:ext cx="6046927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72383" y="1664207"/>
            <a:ext cx="604692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6B3E"/>
                </a:solidFill>
                <a:latin typeface="Segoe UI Semibold"/>
              </a:rPr>
              <a:t>INTERFACE ONS–DSO  —  O PAYLOAD QUE PROPOMOS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1" y="1901952"/>
            <a:ext cx="1342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E9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46703" y="1965960"/>
            <a:ext cx="11962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Qual grandeza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3" y="2167128"/>
            <a:ext cx="1196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carga supervisionada e MMGD estimada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7559" y="1901952"/>
            <a:ext cx="1342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E9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0711" y="1965960"/>
            <a:ext cx="11962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Com que granularidade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0711" y="2167128"/>
            <a:ext cx="1196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por mancha e por transformação de fronteira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1567" y="1901952"/>
            <a:ext cx="1342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E9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4719" y="1965960"/>
            <a:ext cx="11962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Com que antecedência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4719" y="2167128"/>
            <a:ext cx="1196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30 min, 3 h e D+1, a cada 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75575" y="1901952"/>
            <a:ext cx="1342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E9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48727" y="1965960"/>
            <a:ext cx="11962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Em que formato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8727" y="2167128"/>
            <a:ext cx="1196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probabilístico, com rastreabilidade ao dado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1" y="2633472"/>
            <a:ext cx="564459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Amparo necessário, conforme o próprio diagnóstico do ONS: </a:t>
            </a:r>
            <a:r>
              <a:rPr sz="800" b="1">
                <a:solidFill>
                  <a:srgbClr val="1C6B3E"/>
                </a:solidFill>
                <a:latin typeface="Segoe UI Semibold"/>
              </a:rPr>
              <a:t>regulamentação</a:t>
            </a:r>
            <a:r>
              <a:rPr sz="800" b="0">
                <a:solidFill>
                  <a:srgbClr val="1F2430"/>
                </a:solidFill>
                <a:latin typeface="Segoe UI"/>
              </a:rPr>
              <a:t>, </a:t>
            </a:r>
            <a:r>
              <a:rPr sz="800" b="1">
                <a:solidFill>
                  <a:srgbClr val="1C6B3E"/>
                </a:solidFill>
                <a:latin typeface="Segoe UI Semibold"/>
              </a:rPr>
              <a:t>ferramentas de análise avançadas</a:t>
            </a:r>
            <a:r>
              <a:rPr sz="800" b="0">
                <a:solidFill>
                  <a:srgbClr val="1F2430"/>
                </a:solidFill>
                <a:latin typeface="Segoe UI"/>
              </a:rPr>
              <a:t> e </a:t>
            </a:r>
            <a:r>
              <a:rPr sz="800" b="1">
                <a:solidFill>
                  <a:srgbClr val="1C6B3E"/>
                </a:solidFill>
                <a:latin typeface="Segoe UI Semibold"/>
              </a:rPr>
              <a:t>procedimentos operativos adequados</a:t>
            </a:r>
            <a:r>
              <a:rPr sz="800" b="0">
                <a:solidFill>
                  <a:srgbClr val="1F2430"/>
                </a:solidFill>
                <a:latin typeface="Segoe UI"/>
              </a:rPr>
              <a:t>. As duas frentes já abertas — Projeto Interface ONS/DSO e Plano de Gestão de Excedentes de Energia na Rede de Distribuição — são exatamente onde esse payload se encaixa.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71215" y="2450591"/>
            <a:ext cx="173736" cy="0"/>
          </a:xfrm>
          <a:prstGeom prst="line">
            <a:avLst/>
          </a:prstGeom>
          <a:ln w="19050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6743" y="2450591"/>
            <a:ext cx="173736" cy="0"/>
          </a:xfrm>
          <a:prstGeom prst="line">
            <a:avLst/>
          </a:prstGeom>
          <a:ln w="19050">
            <a:solidFill>
              <a:srgbClr val="C064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1298448"/>
            <a:ext cx="1118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E9B57"/>
                </a:solidFill>
                <a:latin typeface="Segoe UI Semibold"/>
              </a:rPr>
              <a:t>HOJE NÃO EXISTE ESSA INTERFACE: O CORTE NA ÁREA DE CONCESSÃO É SOLICITADO POR TELEFONE E PROCEDIMENTO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401568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O DSO não está constituído no Brasil; o ONS reconheceu formalmente a lacuna ao abrir o Projeto Interface ONS/DSO, em 2024. Uma interface precisa de um payload — nós propomos o payload.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950208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eixo fornece informações que ampliam a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observabilidade e a previsibilidade</a:t>
            </a:r>
            <a:r>
              <a:rPr sz="900" b="0">
                <a:solidFill>
                  <a:srgbClr val="1F2430"/>
                </a:solidFill>
                <a:latin typeface="Segoe UI"/>
              </a:rPr>
              <a:t> do comportamento da carga e da MMGD nas redes de distribuição, subsidiando atuação mais ágil, flexível e coordenada entre o ONS e as distribuidoras.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Hoje o corte na área de concessão é executado pela distribuidora mediante solicitação do ONS —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por telefone e procedimento, sem previsão espacializada</a:t>
            </a:r>
            <a:r>
              <a:rPr sz="900" b="0">
                <a:solidFill>
                  <a:srgbClr val="1F2430"/>
                </a:solidFill>
                <a:latin typeface="Segoe UI"/>
              </a:rPr>
              <a:t>. Casos documentados: SEs Nova Mutum 230/69 kV e Brasnorte 230/138 kV, com risco de sobrecarga em condição normal.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3950208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fluxo reverso deixa de ser exceção: a previsão passa de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203 para 217 transformações de fronteira</a:t>
            </a:r>
            <a:r>
              <a:rPr sz="900" b="0">
                <a:solidFill>
                  <a:srgbClr val="1F2430"/>
                </a:solidFill>
                <a:latin typeface="Segoe UI"/>
              </a:rPr>
              <a:t> passíveis de operar em fluxo reverso, em 18 estados.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A prospecção para 2029 indica domingos com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excedente de até 4.909 MW entre 10h e 12h</a:t>
            </a:r>
            <a:r>
              <a:rPr sz="900" b="0">
                <a:solidFill>
                  <a:srgbClr val="1F2430"/>
                </a:solidFill>
                <a:latin typeface="Segoe UI"/>
              </a:rPr>
              <a:t>, com todas as fontes centralizadas no mínimo técnico — condição em que o plano de excedentes na distribuição precisa ser acionado com antecedência, não em regime emergencial.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Integrar cinco fontes hoje analisadas de forma fragmentada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521354" cy="256032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5213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FONTES INTEGRADAS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682495"/>
            <a:ext cx="3301898" cy="40965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682495"/>
            <a:ext cx="311901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Séries históricas operativas
Portal de Dados Abertos do 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65299"/>
            <a:ext cx="3301898" cy="40965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165299"/>
            <a:ext cx="311901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Medições elétricas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2648102"/>
            <a:ext cx="3301898" cy="40965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648102"/>
            <a:ext cx="311901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Variáveis meteorológicas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130905"/>
            <a:ext cx="3301898" cy="40965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130905"/>
            <a:ext cx="311901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Imagens de satélite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613708"/>
            <a:ext cx="3301898" cy="40965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3613708"/>
            <a:ext cx="311901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BDGD — Base de Dados Geográfica
da Distribuidora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170" y="1298448"/>
            <a:ext cx="35213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TRATAMENTO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5170" y="1572768"/>
            <a:ext cx="3521354" cy="78028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35170" y="1572768"/>
            <a:ext cx="3521354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3186" y="1700784"/>
            <a:ext cx="326532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7C74"/>
                </a:solidFill>
                <a:latin typeface="Segoe UI Semibold"/>
              </a:rPr>
              <a:t>Caracterização de perfis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3186" y="1938527"/>
            <a:ext cx="3265322" cy="323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Séries históricas e medições descrevem perfis de consumo e de geração.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5170" y="2462784"/>
            <a:ext cx="3521354" cy="78028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5170" y="2462784"/>
            <a:ext cx="3521354" cy="29260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3186" y="2590800"/>
            <a:ext cx="326532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410"/>
                </a:solidFill>
                <a:latin typeface="Segoe UI Semibold"/>
              </a:rPr>
              <a:t>Mapeamento espacial por visão computacional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3186" y="2828544"/>
            <a:ext cx="3265322" cy="323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Imagens de satélite localizam a presença e a distribuição espacial dos sistemas de geração distribuída.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5170" y="3352800"/>
            <a:ext cx="3521354" cy="78028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35170" y="3352800"/>
            <a:ext cx="3521354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3186" y="3480816"/>
            <a:ext cx="326532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4393"/>
                </a:solidFill>
                <a:latin typeface="Segoe UI Semibold"/>
              </a:rPr>
              <a:t>Confronto com o cadastro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3186" y="3718560"/>
            <a:ext cx="3265322" cy="323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Os resultados são confrontados com os empreendimentos cadastrados, avaliando </a:t>
            </a:r>
            <a:r>
              <a:rPr sz="750" b="1">
                <a:solidFill>
                  <a:srgbClr val="17296B"/>
                </a:solidFill>
                <a:latin typeface="Segoe UI Semibold"/>
              </a:rPr>
              <a:t>consistência e complementaridade</a:t>
            </a:r>
            <a:r>
              <a:rPr sz="750" b="0">
                <a:solidFill>
                  <a:srgbClr val="1F2430"/>
                </a:solidFill>
                <a:latin typeface="Segoe UI"/>
              </a:rPr>
              <a:t> entre as fontes.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67420" y="1572768"/>
            <a:ext cx="3521354" cy="2560320"/>
          </a:xfrm>
          <a:prstGeom prst="rect">
            <a:avLst/>
          </a:prstGeom>
          <a:solidFill>
            <a:srgbClr val="E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7420" y="1298448"/>
            <a:ext cx="35213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6B3E"/>
                </a:solidFill>
                <a:latin typeface="Segoe UI Semibold"/>
              </a:rPr>
              <a:t>INSUMOS PRODUZIDOS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7148" y="1682495"/>
            <a:ext cx="3301898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77148" y="1682495"/>
            <a:ext cx="36576" cy="51663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05164" y="1682495"/>
            <a:ext cx="3119018" cy="516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Previsão da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carga líquida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7148" y="2290572"/>
            <a:ext cx="3301898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7148" y="2290572"/>
            <a:ext cx="36576" cy="51663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05164" y="2290572"/>
            <a:ext cx="3119018" cy="516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Perfis representativos de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carga e MMGD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7148" y="2898648"/>
            <a:ext cx="3301898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7148" y="2898648"/>
            <a:ext cx="36576" cy="51663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05164" y="2898648"/>
            <a:ext cx="3119018" cy="516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Avaliação de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cenários com elevada penetração de GD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7148" y="3506724"/>
            <a:ext cx="3301898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77148" y="3506724"/>
            <a:ext cx="36576" cy="51663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05164" y="3506724"/>
            <a:ext cx="3119018" cy="516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Previsibilidade de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condições propensas a curtailment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060850" y="2852928"/>
            <a:ext cx="237744" cy="0"/>
          </a:xfrm>
          <a:prstGeom prst="line">
            <a:avLst/>
          </a:prstGeom>
          <a:ln w="19050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93100" y="2852928"/>
            <a:ext cx="237744" cy="0"/>
          </a:xfrm>
          <a:prstGeom prst="line">
            <a:avLst/>
          </a:prstGeom>
          <a:ln w="19050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4297680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As séries históricas e as medições caracterizam os perfis de consumo e de geração; as imagens de satélite, processadas por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visão computacional</a:t>
            </a:r>
            <a:r>
              <a:rPr sz="850" b="0">
                <a:solidFill>
                  <a:srgbClr val="5A6473"/>
                </a:solidFill>
                <a:latin typeface="Segoe UI"/>
              </a:rPr>
              <a:t>, apoiam o mapeamento da presença e da distribuição espacial dos sistemas de geração distribuída.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4297680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O confronto com os empreendimentos cadastrados permite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avaliar a consistência e a complementaridade das diferentes fontes</a:t>
            </a:r>
            <a:r>
              <a:rPr sz="850" b="0">
                <a:solidFill>
                  <a:srgbClr val="5A6473"/>
                </a:solidFill>
                <a:latin typeface="Segoe UI"/>
              </a:rPr>
              <a:t> — é essa checagem cruzada, detalhada no slide 10, que torna o cadastro confiável para alimentar o motor preditivo.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084064"/>
            <a:ext cx="1118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262A"/>
                </a:solidFill>
                <a:latin typeface="Segoe UI Semibold"/>
              </a:rPr>
              <a:t>LIMITAÇÕES DE CADA FONTE, DECLARADAS DESDE JÁ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285232"/>
            <a:ext cx="3639312" cy="1060704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2920" y="5285232"/>
            <a:ext cx="363931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" y="541324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3262A"/>
                </a:solidFill>
                <a:latin typeface="Segoe UI Semibold"/>
              </a:rPr>
              <a:t>BDGD (ANEEL)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5650992"/>
            <a:ext cx="3383280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Periodicidade anual, lacunas e nomenclaturas divergentes entre distribuidoras; defasagem de cadastro em relação à geração já instalada.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0248" y="5285232"/>
            <a:ext cx="3639312" cy="1060704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70248" y="5285232"/>
            <a:ext cx="363931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98264" y="541324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3262A"/>
                </a:solidFill>
                <a:latin typeface="Segoe UI Semibold"/>
              </a:rPr>
              <a:t>Imagens de satélite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8264" y="5650992"/>
            <a:ext cx="3383280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Disponibilidade, custo e data de captura: a evidência física é periódica (mensal ou trimestral), não de tempo real.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37576" y="5285232"/>
            <a:ext cx="3639312" cy="1060704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37576" y="5285232"/>
            <a:ext cx="363931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65592" y="541324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3262A"/>
                </a:solidFill>
                <a:latin typeface="Segoe UI Semibold"/>
              </a:rPr>
              <a:t>Meteorologia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65592" y="5650992"/>
            <a:ext cx="3383280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ERA5 é reanálise, não previsão: serve a treino e backtest. Em operação, as covariáveis futuras vêm de ECMWF, GFS, WRF e INMET.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AS DUAS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O que o operador recebe, e com que honestidade de escopo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5455767" cy="3246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55767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426464"/>
            <a:ext cx="51997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4393"/>
                </a:solidFill>
                <a:latin typeface="Segoe UI Semibold"/>
              </a:rPr>
              <a:t>Saída (i)  ·  Carga supervisionada e MMGD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664208"/>
            <a:ext cx="5199735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1F2430"/>
                </a:solidFill>
                <a:latin typeface="Segoe UI"/>
              </a:rPr>
              <a:t>Prever a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carga supervisionada</a:t>
            </a:r>
            <a:r>
              <a:rPr sz="850" b="0">
                <a:solidFill>
                  <a:srgbClr val="1F2430"/>
                </a:solidFill>
                <a:latin typeface="Segoe UI"/>
              </a:rPr>
              <a:t> e estimar a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geração da MMGD por distribuidora</a:t>
            </a:r>
            <a:r>
              <a:rPr sz="850" b="0">
                <a:solidFill>
                  <a:srgbClr val="1F2430"/>
                </a:solidFill>
                <a:latin typeface="Segoe UI"/>
              </a:rPr>
              <a:t>, de forma compatível com a disponibilidade e a qualidade dos dados.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340863"/>
            <a:ext cx="5053431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704088" y="2837687"/>
            <a:ext cx="5053431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" y="3334512"/>
            <a:ext cx="5053431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704088" y="2409053"/>
            <a:ext cx="5053431" cy="1306771"/>
          </a:xfrm>
          <a:custGeom>
            <a:avLst/>
            <a:gdLst/>
            <a:ahLst/>
            <a:cxnLst/>
            <a:rect l="l" t="t" r="r" b="b"/>
            <a:pathLst>
              <a:path w="5053431" h="1306771">
                <a:moveTo>
                  <a:pt x="0" y="454221"/>
                </a:moveTo>
                <a:lnTo>
                  <a:pt x="219714" y="513467"/>
                </a:lnTo>
                <a:lnTo>
                  <a:pt x="439428" y="572713"/>
                </a:lnTo>
                <a:lnTo>
                  <a:pt x="659143" y="612211"/>
                </a:lnTo>
                <a:lnTo>
                  <a:pt x="878857" y="631960"/>
                </a:lnTo>
                <a:lnTo>
                  <a:pt x="1098572" y="631960"/>
                </a:lnTo>
                <a:lnTo>
                  <a:pt x="1318286" y="631960"/>
                </a:lnTo>
                <a:lnTo>
                  <a:pt x="1538000" y="691206"/>
                </a:lnTo>
                <a:lnTo>
                  <a:pt x="1757715" y="849196"/>
                </a:lnTo>
                <a:lnTo>
                  <a:pt x="1977429" y="1026935"/>
                </a:lnTo>
                <a:lnTo>
                  <a:pt x="2197144" y="1165176"/>
                </a:lnTo>
                <a:lnTo>
                  <a:pt x="2416858" y="1165176"/>
                </a:lnTo>
                <a:lnTo>
                  <a:pt x="2636573" y="1105930"/>
                </a:lnTo>
                <a:lnTo>
                  <a:pt x="2856287" y="1007186"/>
                </a:lnTo>
                <a:lnTo>
                  <a:pt x="3076001" y="849196"/>
                </a:lnTo>
                <a:lnTo>
                  <a:pt x="3295716" y="631960"/>
                </a:lnTo>
                <a:lnTo>
                  <a:pt x="3515430" y="355477"/>
                </a:lnTo>
                <a:lnTo>
                  <a:pt x="3735145" y="118492"/>
                </a:lnTo>
                <a:lnTo>
                  <a:pt x="3954859" y="19748"/>
                </a:lnTo>
                <a:lnTo>
                  <a:pt x="4174573" y="0"/>
                </a:lnTo>
                <a:lnTo>
                  <a:pt x="4394288" y="39497"/>
                </a:lnTo>
                <a:lnTo>
                  <a:pt x="4614002" y="138241"/>
                </a:lnTo>
                <a:lnTo>
                  <a:pt x="4833717" y="256733"/>
                </a:lnTo>
                <a:lnTo>
                  <a:pt x="5053431" y="375226"/>
                </a:lnTo>
                <a:lnTo>
                  <a:pt x="5053431" y="606249"/>
                </a:lnTo>
                <a:lnTo>
                  <a:pt x="4833717" y="501171"/>
                </a:lnTo>
                <a:lnTo>
                  <a:pt x="4614002" y="396093"/>
                </a:lnTo>
                <a:lnTo>
                  <a:pt x="4394288" y="308527"/>
                </a:lnTo>
                <a:lnTo>
                  <a:pt x="4174573" y="273501"/>
                </a:lnTo>
                <a:lnTo>
                  <a:pt x="3954859" y="291014"/>
                </a:lnTo>
                <a:lnTo>
                  <a:pt x="3735145" y="378579"/>
                </a:lnTo>
                <a:lnTo>
                  <a:pt x="3515430" y="588736"/>
                </a:lnTo>
                <a:lnTo>
                  <a:pt x="3295716" y="833919"/>
                </a:lnTo>
                <a:lnTo>
                  <a:pt x="3076001" y="1026562"/>
                </a:lnTo>
                <a:lnTo>
                  <a:pt x="2856287" y="1166667"/>
                </a:lnTo>
                <a:lnTo>
                  <a:pt x="2636573" y="1254232"/>
                </a:lnTo>
                <a:lnTo>
                  <a:pt x="2416858" y="1306771"/>
                </a:lnTo>
                <a:lnTo>
                  <a:pt x="2197144" y="1306771"/>
                </a:lnTo>
                <a:lnTo>
                  <a:pt x="1977429" y="1184180"/>
                </a:lnTo>
                <a:lnTo>
                  <a:pt x="1757715" y="1026562"/>
                </a:lnTo>
                <a:lnTo>
                  <a:pt x="1538000" y="886458"/>
                </a:lnTo>
                <a:lnTo>
                  <a:pt x="1318286" y="833919"/>
                </a:lnTo>
                <a:lnTo>
                  <a:pt x="1098572" y="833919"/>
                </a:lnTo>
                <a:lnTo>
                  <a:pt x="878857" y="833919"/>
                </a:lnTo>
                <a:lnTo>
                  <a:pt x="659143" y="816406"/>
                </a:lnTo>
                <a:lnTo>
                  <a:pt x="439428" y="781380"/>
                </a:lnTo>
                <a:lnTo>
                  <a:pt x="219714" y="728840"/>
                </a:lnTo>
                <a:lnTo>
                  <a:pt x="0" y="676301"/>
                </a:lnTo>
                <a:close/>
              </a:path>
            </a:pathLst>
          </a:cu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704088" y="2545803"/>
            <a:ext cx="5053431" cy="1099223"/>
          </a:xfrm>
          <a:custGeom>
            <a:avLst/>
            <a:gdLst/>
            <a:ahLst/>
            <a:cxnLst/>
            <a:rect l="l" t="t" r="r" b="b"/>
            <a:pathLst>
              <a:path w="5053431" h="1099223">
                <a:moveTo>
                  <a:pt x="0" y="428511"/>
                </a:moveTo>
                <a:lnTo>
                  <a:pt x="219714" y="484404"/>
                </a:lnTo>
                <a:lnTo>
                  <a:pt x="439428" y="540296"/>
                </a:lnTo>
                <a:lnTo>
                  <a:pt x="659143" y="577558"/>
                </a:lnTo>
                <a:lnTo>
                  <a:pt x="878857" y="596189"/>
                </a:lnTo>
                <a:lnTo>
                  <a:pt x="1098572" y="596189"/>
                </a:lnTo>
                <a:lnTo>
                  <a:pt x="1318286" y="596189"/>
                </a:lnTo>
                <a:lnTo>
                  <a:pt x="1538000" y="652082"/>
                </a:lnTo>
                <a:lnTo>
                  <a:pt x="1757715" y="801129"/>
                </a:lnTo>
                <a:lnTo>
                  <a:pt x="1977429" y="968807"/>
                </a:lnTo>
                <a:lnTo>
                  <a:pt x="2197144" y="1099223"/>
                </a:lnTo>
                <a:lnTo>
                  <a:pt x="2416858" y="1099223"/>
                </a:lnTo>
                <a:lnTo>
                  <a:pt x="2636573" y="1043331"/>
                </a:lnTo>
                <a:lnTo>
                  <a:pt x="2856287" y="950176"/>
                </a:lnTo>
                <a:lnTo>
                  <a:pt x="3076001" y="801129"/>
                </a:lnTo>
                <a:lnTo>
                  <a:pt x="3295716" y="596189"/>
                </a:lnTo>
                <a:lnTo>
                  <a:pt x="3515430" y="335357"/>
                </a:lnTo>
                <a:lnTo>
                  <a:pt x="3735145" y="111786"/>
                </a:lnTo>
                <a:lnTo>
                  <a:pt x="3954859" y="18631"/>
                </a:lnTo>
                <a:lnTo>
                  <a:pt x="4174573" y="0"/>
                </a:lnTo>
                <a:lnTo>
                  <a:pt x="4394288" y="37262"/>
                </a:lnTo>
                <a:lnTo>
                  <a:pt x="4614002" y="130417"/>
                </a:lnTo>
                <a:lnTo>
                  <a:pt x="4833717" y="242202"/>
                </a:lnTo>
                <a:lnTo>
                  <a:pt x="5053431" y="353987"/>
                </a:lnTo>
              </a:path>
            </a:pathLst>
          </a:custGeom>
          <a:noFill/>
          <a:ln w="22225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7"/>
            <a:ext cx="490712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2B4393"/>
                </a:solidFill>
                <a:latin typeface="Segoe UI Semibold"/>
              </a:rPr>
              <a:t>P10 / P50 / P90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904487"/>
            <a:ext cx="505343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Decomposição explícita: carga global prevista − MMGD estimada = carga supervisionada. Horizontes de 30 min, 3 h e D+1, com atualização a cada 30 minutos.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1298448"/>
            <a:ext cx="5455767" cy="3246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007" y="1298448"/>
            <a:ext cx="5455767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1023" y="1426464"/>
            <a:ext cx="51997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9B57"/>
                </a:solidFill>
                <a:latin typeface="Segoe UI Semibold"/>
              </a:rPr>
              <a:t>Saída (ii)  ·  Risco de curtailment por razão energética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1664208"/>
            <a:ext cx="5199735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1F2430"/>
                </a:solidFill>
                <a:latin typeface="Segoe UI"/>
              </a:rPr>
              <a:t>Produzir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indicadores preditivos do risco de curtailment por razão energética</a:t>
            </a:r>
            <a:r>
              <a:rPr sz="850" b="0">
                <a:solidFill>
                  <a:srgbClr val="1F2430"/>
                </a:solidFill>
                <a:latin typeface="Segoe UI"/>
              </a:rPr>
              <a:t>, localizados por área de concessão e por transformação de fronteira.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4175" y="2523744"/>
            <a:ext cx="210559" cy="1088136"/>
          </a:xfrm>
          <a:prstGeom prst="rect">
            <a:avLst/>
          </a:prstGeom>
          <a:solidFill>
            <a:srgbClr val="EA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44735" y="2523744"/>
            <a:ext cx="210559" cy="1088136"/>
          </a:xfrm>
          <a:prstGeom prst="rect">
            <a:avLst/>
          </a:prstGeom>
          <a:solidFill>
            <a:srgbClr val="EC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5294" y="2523744"/>
            <a:ext cx="210559" cy="1088136"/>
          </a:xfrm>
          <a:prstGeom prst="rect">
            <a:avLst/>
          </a:prstGeom>
          <a:solidFill>
            <a:srgbClr val="EC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65854" y="2523744"/>
            <a:ext cx="210559" cy="1088136"/>
          </a:xfrm>
          <a:prstGeom prst="rect">
            <a:avLst/>
          </a:prstGeom>
          <a:solidFill>
            <a:srgbClr val="EE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76414" y="2523744"/>
            <a:ext cx="210559" cy="1088136"/>
          </a:xfrm>
          <a:prstGeom prst="rect">
            <a:avLst/>
          </a:prstGeom>
          <a:solidFill>
            <a:srgbClr val="EE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86973" y="2523744"/>
            <a:ext cx="210559" cy="1088136"/>
          </a:xfrm>
          <a:prstGeom prst="rect">
            <a:avLst/>
          </a:prstGeom>
          <a:solidFill>
            <a:srgbClr val="EC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97533" y="2523744"/>
            <a:ext cx="210559" cy="1088136"/>
          </a:xfrm>
          <a:prstGeom prst="rect">
            <a:avLst/>
          </a:prstGeom>
          <a:solidFill>
            <a:srgbClr val="DE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08093" y="2523744"/>
            <a:ext cx="210559" cy="1088136"/>
          </a:xfrm>
          <a:prstGeom prst="rect">
            <a:avLst/>
          </a:prstGeom>
          <a:solidFill>
            <a:srgbClr val="C0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18652" y="2523744"/>
            <a:ext cx="210559" cy="1088136"/>
          </a:xfrm>
          <a:prstGeom prst="rect">
            <a:avLst/>
          </a:prstGeom>
          <a:solidFill>
            <a:srgbClr val="8EC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29212" y="2523744"/>
            <a:ext cx="210559" cy="1088136"/>
          </a:xfrm>
          <a:prstGeom prst="rect">
            <a:avLst/>
          </a:prstGeom>
          <a:solidFill>
            <a:srgbClr val="63B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39772" y="2523744"/>
            <a:ext cx="210559" cy="1088136"/>
          </a:xfrm>
          <a:prstGeom prst="rect">
            <a:avLst/>
          </a:prstGeom>
          <a:solidFill>
            <a:srgbClr val="49B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50331" y="2523744"/>
            <a:ext cx="210559" cy="1088136"/>
          </a:xfrm>
          <a:prstGeom prst="rect">
            <a:avLst/>
          </a:prstGeom>
          <a:solidFill>
            <a:srgbClr val="3FA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60891" y="2523744"/>
            <a:ext cx="210559" cy="1088136"/>
          </a:xfrm>
          <a:prstGeom prst="rect">
            <a:avLst/>
          </a:prstGeom>
          <a:solidFill>
            <a:srgbClr val="43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71451" y="2523744"/>
            <a:ext cx="210559" cy="1088136"/>
          </a:xfrm>
          <a:prstGeom prst="rect">
            <a:avLst/>
          </a:prstGeom>
          <a:solidFill>
            <a:srgbClr val="50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82010" y="2523744"/>
            <a:ext cx="210559" cy="1088136"/>
          </a:xfrm>
          <a:prstGeom prst="rect">
            <a:avLst/>
          </a:prstGeom>
          <a:solidFill>
            <a:srgbClr val="6FC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92570" y="2523744"/>
            <a:ext cx="210559" cy="1088136"/>
          </a:xfrm>
          <a:prstGeom prst="rect">
            <a:avLst/>
          </a:prstGeom>
          <a:solidFill>
            <a:srgbClr val="9DD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03129" y="2523744"/>
            <a:ext cx="210559" cy="1088136"/>
          </a:xfrm>
          <a:prstGeom prst="rect">
            <a:avLst/>
          </a:prstGeom>
          <a:solidFill>
            <a:srgbClr val="C7E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013689" y="2523744"/>
            <a:ext cx="210559" cy="1088136"/>
          </a:xfrm>
          <a:prstGeom prst="rect">
            <a:avLst/>
          </a:prstGeom>
          <a:solidFill>
            <a:srgbClr val="E0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224249" y="2523744"/>
            <a:ext cx="210559" cy="1088136"/>
          </a:xfrm>
          <a:prstGeom prst="rect">
            <a:avLst/>
          </a:prstGeom>
          <a:solidFill>
            <a:srgbClr val="EA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434808" y="2523744"/>
            <a:ext cx="210559" cy="1088136"/>
          </a:xfrm>
          <a:prstGeom prst="rect">
            <a:avLst/>
          </a:prstGeom>
          <a:solidFill>
            <a:srgbClr val="EC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645368" y="2523744"/>
            <a:ext cx="210559" cy="1088136"/>
          </a:xfrm>
          <a:prstGeom prst="rect">
            <a:avLst/>
          </a:prstGeom>
          <a:solidFill>
            <a:srgbClr val="EC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855928" y="2523744"/>
            <a:ext cx="210559" cy="1088136"/>
          </a:xfrm>
          <a:prstGeom prst="rect">
            <a:avLst/>
          </a:prstGeom>
          <a:solidFill>
            <a:srgbClr val="EC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066487" y="2523744"/>
            <a:ext cx="210559" cy="1088136"/>
          </a:xfrm>
          <a:prstGeom prst="rect">
            <a:avLst/>
          </a:prstGeom>
          <a:solidFill>
            <a:srgbClr val="EA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277047" y="2523744"/>
            <a:ext cx="210559" cy="1088136"/>
          </a:xfrm>
          <a:prstGeom prst="rect">
            <a:avLst/>
          </a:prstGeom>
          <a:solidFill>
            <a:srgbClr val="EA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34175" y="2523744"/>
            <a:ext cx="5053431" cy="1088136"/>
          </a:xfrm>
          <a:prstGeom prst="rect">
            <a:avLst/>
          </a:prstGeom>
          <a:noFill/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34175" y="2340863"/>
            <a:ext cx="5053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C6B3E"/>
                </a:solidFill>
                <a:latin typeface="Segoe UI Semibold"/>
              </a:rPr>
              <a:t>PROBABILIDADE DE RESTRIÇÃO POR RAZÃO ENERGÉTICA (ENE)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4175" y="3648455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8A93A1"/>
                </a:solidFill>
                <a:latin typeface="Segoe UI"/>
              </a:rPr>
              <a:t>0h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571" y="3648455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8A93A1"/>
                </a:solidFill>
                <a:latin typeface="Segoe UI"/>
              </a:rPr>
              <a:t>12h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727" y="3648455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8A93A1"/>
                </a:solidFill>
                <a:latin typeface="Segoe UI"/>
              </a:rPr>
              <a:t>24h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4175" y="3904487"/>
            <a:ext cx="505343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Classificação probabilística separada por razão (ENE, a que mais cresce, e CNF), porque pedem respostas operativas distintas — e com lead time útil ao acionamento.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700016"/>
            <a:ext cx="11185855" cy="36576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76402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Reduzir a lacuna de observabilidade na fronteira entre transmissão e distribuição e fornecer subsídios qualificados à tomada de decisão do 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212080"/>
            <a:ext cx="1118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262A"/>
                </a:solidFill>
                <a:latin typeface="Segoe UI Semibold"/>
              </a:rPr>
              <a:t>O QUE NÃO PROMETEMOS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413248"/>
            <a:ext cx="3639312" cy="932688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2920" y="5413248"/>
            <a:ext cx="363931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936" y="5541264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262A"/>
                </a:solidFill>
                <a:latin typeface="Segoe UI Semibold"/>
              </a:rPr>
              <a:t>A previsão não elimina o corte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577900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O valor está na antecipação e na alocação de flexibilidade, em linha com a conclusão do ONS de que a solução exige medidas integradas.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5413248"/>
            <a:ext cx="3639312" cy="932688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70248" y="5413248"/>
            <a:ext cx="363931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98264" y="5541264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262A"/>
                </a:solidFill>
                <a:latin typeface="Segoe UI Semibold"/>
              </a:rPr>
              <a:t>Não substitui os modelos do 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8264" y="577900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É camada complementar de granularidade espacial na fronteira T–D, não substituto do PREVCARGA ou do PREVCARGA PMO.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37576" y="5413248"/>
            <a:ext cx="3639312" cy="932688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037576" y="5413248"/>
            <a:ext cx="363931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65592" y="5541264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262A"/>
                </a:solidFill>
                <a:latin typeface="Segoe UI Semibold"/>
              </a:rPr>
              <a:t>O rótulo é a decisão, não o potencial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65592" y="577900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O histórico de constrained-off reflete a decisão operativa observada; modela-se a decisão, não um contrafactual físico.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CONSISTÊNCIA E COMPLEMENTARIDADE DAS 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96B"/>
                </a:solidFill>
                <a:latin typeface="Segoe UI Semibold"/>
              </a:rPr>
              <a:t>O cadastro só é confiável se três evidências independentes concordarem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394960" cy="76809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45720" cy="768095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3236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7C74"/>
                </a:solidFill>
                <a:latin typeface="Segoe UI Semibold"/>
              </a:rPr>
              <a:t>Camada 1 · Realidade física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10512"/>
            <a:ext cx="5065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Satélite + YOLOv8-seg — o painel existe fisicamente no telhado?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11680"/>
            <a:ext cx="5065776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Fine-tuning local com degradação artificial de imagem. Limitação: a captura pode ter meses — é evidência periódica, não de tempo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645920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664207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A6473"/>
                </a:solidFill>
                <a:latin typeface="Segoe UI Semibold"/>
              </a:rPr>
              <a:t>mensal / trimestral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14015"/>
            <a:ext cx="5394960" cy="76809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414015"/>
            <a:ext cx="45720" cy="768095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496311"/>
            <a:ext cx="3236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4393"/>
                </a:solidFill>
                <a:latin typeface="Segoe UI Semibold"/>
              </a:rPr>
              <a:t>Camada 2 · Topologia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70048"/>
            <a:ext cx="5065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BDGD (ANEEL) — a que transformador e alimentador a unidade está conectada?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871215"/>
            <a:ext cx="5065776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Localiza a unidade consumidora na malha. Limitação: atualização tipicamente anual e nomenclatura heterogênea entre distribuidoras.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505456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2523744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A6473"/>
                </a:solidFill>
                <a:latin typeface="Segoe UI Semibold"/>
              </a:rPr>
              <a:t>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73551"/>
            <a:ext cx="5394960" cy="76809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273551"/>
            <a:ext cx="45720" cy="768095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355847"/>
            <a:ext cx="3236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410"/>
                </a:solidFill>
                <a:latin typeface="Segoe UI Semibold"/>
              </a:rPr>
              <a:t>Camada 3 · Cadastro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529583"/>
            <a:ext cx="5065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Empreendimentos de GD (ANEEL) — o empreendimento foi homologado, e quando?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730752"/>
            <a:ext cx="5065776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Atualização diária — é o que permite atribuir uma data de homologação a cada unidade e datar a defasagem das outras bases.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364991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3383279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A6473"/>
                </a:solidFill>
                <a:latin typeface="Segoe UI Semibold"/>
              </a:rPr>
              <a:t>diária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29844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TRÊS CAMADAS DE EVIDÊNCIA INDEPENDENTES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1554480"/>
            <a:ext cx="21899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Consta na ANEEL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6044" y="1554480"/>
            <a:ext cx="21899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Não consta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327148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Detectado
no satélite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33488" y="2002536"/>
            <a:ext cx="2135124" cy="978407"/>
          </a:xfrm>
          <a:prstGeom prst="rect">
            <a:avLst/>
          </a:prstGeom>
          <a:solidFill>
            <a:srgbClr val="EC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33488" y="2002536"/>
            <a:ext cx="2135124" cy="25603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34072" y="2084832"/>
            <a:ext cx="19339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9B57"/>
                </a:solidFill>
                <a:latin typeface="Segoe UI Semibold"/>
              </a:rPr>
              <a:t>MMGD confirmada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2249424"/>
            <a:ext cx="1933956" cy="704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Ausente na BDGD → </a:t>
            </a:r>
            <a:r>
              <a:rPr sz="700" b="1">
                <a:solidFill>
                  <a:srgbClr val="17296B"/>
                </a:solidFill>
                <a:latin typeface="Segoe UI Semibold"/>
              </a:rPr>
              <a:t>lag de sistema</a:t>
            </a:r>
            <a:r>
              <a:rPr sz="700" b="0">
                <a:solidFill>
                  <a:srgbClr val="1F2430"/>
                </a:solidFill>
                <a:latin typeface="Segoe UI"/>
              </a:rPr>
              <a:t>: defasagem administrativa. Entra no fator de correção.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3476" y="2002536"/>
            <a:ext cx="2135124" cy="978407"/>
          </a:xfrm>
          <a:prstGeom prst="rect">
            <a:avLst/>
          </a:prstGeom>
          <a:solidFill>
            <a:srgbClr val="FA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23476" y="2002536"/>
            <a:ext cx="2135124" cy="25603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24060" y="2084832"/>
            <a:ext cx="19339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262A"/>
                </a:solidFill>
                <a:latin typeface="Segoe UI Semibold"/>
              </a:rPr>
              <a:t>Não homologada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4060" y="2249424"/>
            <a:ext cx="1933956" cy="704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Presente e gerando sem registro → </a:t>
            </a:r>
            <a:r>
              <a:rPr sz="700" b="1">
                <a:solidFill>
                  <a:srgbClr val="17296B"/>
                </a:solidFill>
                <a:latin typeface="Segoe UI Semibold"/>
              </a:rPr>
              <a:t>exceção escalada</a:t>
            </a:r>
            <a:r>
              <a:rPr sz="700" b="0">
                <a:solidFill>
                  <a:srgbClr val="1F2430"/>
                </a:solidFill>
                <a:latin typeface="Segoe UI"/>
              </a:rPr>
              <a:t>, fora do fator de correção.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36042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Não
detectado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3035808"/>
            <a:ext cx="2135124" cy="978407"/>
          </a:xfrm>
          <a:prstGeom prst="rect">
            <a:avLst/>
          </a:prstGeom>
          <a:solidFill>
            <a:srgbClr val="FA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33488" y="3035808"/>
            <a:ext cx="2135124" cy="25603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34072" y="3118104"/>
            <a:ext cx="19339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06410"/>
                </a:solidFill>
                <a:latin typeface="Segoe UI Semibold"/>
              </a:rPr>
              <a:t>Cadastro sem evidência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34072" y="3282696"/>
            <a:ext cx="1933956" cy="704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Imagem defasada ou obra não concluída → revisar captura.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23476" y="3035808"/>
            <a:ext cx="2135124" cy="978407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523476" y="3035808"/>
            <a:ext cx="2135124" cy="25603"/>
          </a:xfrm>
          <a:prstGeom prst="rect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24060" y="3118104"/>
            <a:ext cx="19339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A93A1"/>
                </a:solidFill>
                <a:latin typeface="Segoe UI Semibold"/>
              </a:rPr>
              <a:t>Sem evidência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24060" y="3282696"/>
            <a:ext cx="1933956" cy="704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Nada a corrigir no cadastro.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1298448"/>
            <a:ext cx="55138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LÓGICA DE DESEMPATE DO CADASTRO DE MMGD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224528"/>
            <a:ext cx="111858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F2430"/>
                </a:solidFill>
                <a:latin typeface="Segoe UI"/>
              </a:rPr>
              <a:t>A BDGD é topológica, mas de periodicidade anual; o cadastro de GD da ANEEL é diário, porém não localiza a unidade na malha; e nenhuma das duas prova, por si só, que o painel cadastrado está instalado e gerando hoje.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O valor não está em nenhuma camada isolada, e sim no cruzamento:</a:t>
            </a:r>
            <a:r>
              <a:rPr sz="900" b="0">
                <a:solidFill>
                  <a:srgbClr val="1F2430"/>
                </a:solidFill>
                <a:latin typeface="Segoe UI"/>
              </a:rPr>
              <a:t> sem o desempate diário, o modelo trataria defasagem administrativa e instalação irregular como a mesma coisa, corrigindo a MMGD estimada sobre base errada.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120640"/>
            <a:ext cx="3639312" cy="122529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2920" y="5120640"/>
            <a:ext cx="3639312" cy="29260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" y="5248655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410"/>
                </a:solidFill>
                <a:latin typeface="Segoe UI Semibold"/>
              </a:rPr>
              <a:t>Defasagem de cadastro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5486400"/>
            <a:ext cx="33832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A MMGD já está gerando quando o registro ainda percorre o caminho distribuidora → ANEEL: a estimativa parte de uma capacidade instalada subdimensionada. É a dor declarada pelo próprio operador.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0248" y="5120640"/>
            <a:ext cx="3639312" cy="122529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70248" y="5120640"/>
            <a:ext cx="3639312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98264" y="5248655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Granularidade espacial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8264" y="5486400"/>
            <a:ext cx="33832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O ONS agrupa por CEP das usinas, com grades de 25 km e 10 km — adequado ao parque centralizado. O ganho está em resolver carga e MMGD em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manchas sub-municipais</a:t>
            </a:r>
            <a:r>
              <a:rPr sz="800" b="0">
                <a:solidFill>
                  <a:srgbClr val="1F2430"/>
                </a:solidFill>
                <a:latin typeface="Segoe UI"/>
              </a:rPr>
              <a:t>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37576" y="5120640"/>
            <a:ext cx="3639312" cy="122529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37576" y="5120640"/>
            <a:ext cx="3639312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65592" y="5248655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Saída para o preditor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65592" y="5486400"/>
            <a:ext cx="33832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O cruzamento produz o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fator de correção da capacidade instalada cadastrada</a:t>
            </a:r>
            <a:r>
              <a:rPr sz="800" b="0">
                <a:solidFill>
                  <a:srgbClr val="1F2430"/>
                </a:solidFill>
                <a:latin typeface="Segoe UI"/>
              </a:rPr>
              <a:t>, que é o que o motor preditivo consome — com cobertura reportada por distribuidora.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O painel do operador: previsão, excedente e alerta rastreável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7863840" cy="470916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7863840" cy="365760"/>
          </a:xfrm>
          <a:prstGeom prst="rect">
            <a:avLst/>
          </a:prstGeom>
          <a:solidFill>
            <a:srgbClr val="16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D1C5"/>
                </a:solidFill>
                <a:latin typeface="Segoe UI Semibold"/>
              </a:rPr>
              <a:t>O.R.A.C.U.L.O.  ·  Painel de Despacho Preditivo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08176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subsistema NE  ·  D+1  ·  atualizado há 12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828799"/>
            <a:ext cx="3685031" cy="2103120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920239"/>
            <a:ext cx="34289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839B"/>
                </a:solidFill>
                <a:latin typeface="Segoe UI Semibold"/>
              </a:rPr>
              <a:t>MAPA HÍBRIDO  ·  DENSIDADE DE MMGD POR ÁREA DE CONCESSÃO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121408"/>
            <a:ext cx="3428999" cy="1682495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2837" y="2556523"/>
            <a:ext cx="166805" cy="166805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16973" y="2542482"/>
            <a:ext cx="136006" cy="136006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0036" y="2542845"/>
            <a:ext cx="139892" cy="139892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45459" y="2320917"/>
            <a:ext cx="110039" cy="110039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5250" y="2708734"/>
            <a:ext cx="145704" cy="145704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0723" y="2794152"/>
            <a:ext cx="170513" cy="170513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60581" y="2623207"/>
            <a:ext cx="96697" cy="96697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4413" y="2578259"/>
            <a:ext cx="87741" cy="87741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111" y="2417216"/>
            <a:ext cx="85046" cy="85046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423383" y="2995581"/>
            <a:ext cx="159327" cy="159327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75385" y="3124497"/>
            <a:ext cx="127995" cy="12799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579877" y="3030903"/>
            <a:ext cx="107731" cy="107731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774870" y="3310418"/>
            <a:ext cx="159125" cy="15912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11958" y="2952587"/>
            <a:ext cx="103296" cy="103296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311719" y="2789124"/>
            <a:ext cx="152365" cy="15236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402399" y="3246628"/>
            <a:ext cx="117638" cy="117638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787179" y="3264686"/>
            <a:ext cx="82345" cy="8234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73043" y="3278918"/>
            <a:ext cx="125271" cy="125271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17757" y="2503399"/>
            <a:ext cx="88974" cy="88974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777738" y="2710453"/>
            <a:ext cx="106964" cy="106964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88955" y="2425902"/>
            <a:ext cx="170451" cy="170451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63464" y="2337055"/>
            <a:ext cx="104825" cy="104825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05745" y="2278943"/>
            <a:ext cx="155175" cy="155175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472181" y="2578051"/>
            <a:ext cx="123208" cy="123208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495212" y="2690371"/>
            <a:ext cx="94271" cy="94271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80224" y="2328242"/>
            <a:ext cx="120769" cy="120769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471413" y="2389991"/>
            <a:ext cx="171077" cy="171077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923544" y="2432303"/>
            <a:ext cx="3136391" cy="1097281"/>
          </a:xfrm>
          <a:custGeom>
            <a:avLst/>
            <a:gdLst/>
            <a:ahLst/>
            <a:cxnLst/>
            <a:rect l="l" t="t" r="r" b="b"/>
            <a:pathLst>
              <a:path w="3136391" h="1097281">
                <a:moveTo>
                  <a:pt x="0" y="1097281"/>
                </a:moveTo>
                <a:lnTo>
                  <a:pt x="1037843" y="164593"/>
                </a:lnTo>
                <a:lnTo>
                  <a:pt x="1997963" y="402336"/>
                </a:lnTo>
                <a:lnTo>
                  <a:pt x="3136391" y="0"/>
                </a:lnTo>
              </a:path>
            </a:pathLst>
          </a:custGeom>
          <a:noFill/>
          <a:ln w="1905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77824" y="3483864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915667" y="2551176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014215" y="2386584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843783" y="2756915"/>
            <a:ext cx="155448" cy="155448"/>
          </a:xfrm>
          <a:prstGeom prst="ellipse">
            <a:avLst/>
          </a:prstGeom>
          <a:solidFill>
            <a:srgbClr val="F0B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49523" y="2907791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0B030"/>
                </a:solidFill>
                <a:latin typeface="Segoe UI Semibold"/>
              </a:rPr>
              <a:t>SE de fronteira</a:t>
            </a:r>
          </a:p>
        </p:txBody>
      </p:sp>
      <p:sp>
        <p:nvSpPr>
          <p:cNvPr id="46" name="Oval 45"/>
          <p:cNvSpPr/>
          <p:nvPr/>
        </p:nvSpPr>
        <p:spPr>
          <a:xfrm>
            <a:off x="800100" y="3872484"/>
            <a:ext cx="82296" cy="82296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" y="38496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MMGD</a:t>
            </a:r>
          </a:p>
        </p:txBody>
      </p:sp>
      <p:sp>
        <p:nvSpPr>
          <p:cNvPr id="48" name="Oval 47"/>
          <p:cNvSpPr/>
          <p:nvPr/>
        </p:nvSpPr>
        <p:spPr>
          <a:xfrm>
            <a:off x="1293876" y="3872484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17320" y="38496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rede básica</a:t>
            </a:r>
          </a:p>
        </p:txBody>
      </p:sp>
      <p:sp>
        <p:nvSpPr>
          <p:cNvPr id="50" name="Oval 49"/>
          <p:cNvSpPr/>
          <p:nvPr/>
        </p:nvSpPr>
        <p:spPr>
          <a:xfrm>
            <a:off x="2075688" y="3872484"/>
            <a:ext cx="82296" cy="82296"/>
          </a:xfrm>
          <a:prstGeom prst="ellipse">
            <a:avLst/>
          </a:prstGeom>
          <a:solidFill>
            <a:srgbClr val="F0B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9132" y="38496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alerta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17136" y="1828799"/>
            <a:ext cx="3685031" cy="2103120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45151" y="1920239"/>
            <a:ext cx="34289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839B"/>
                </a:solidFill>
                <a:latin typeface="Segoe UI Semibold"/>
              </a:rPr>
              <a:t>CARGA SUPERVISIONADA PREVISTA  ·  P10 / P50 / P90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45151" y="2121408"/>
            <a:ext cx="3428999" cy="1536191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4645151" y="2633472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645151" y="3145535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986934" y="2121408"/>
            <a:ext cx="894521" cy="1536191"/>
          </a:xfrm>
          <a:prstGeom prst="rect">
            <a:avLst/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Freeform 57"/>
          <p:cNvSpPr/>
          <p:nvPr/>
        </p:nvSpPr>
        <p:spPr>
          <a:xfrm>
            <a:off x="4645151" y="2209835"/>
            <a:ext cx="3429000" cy="1316228"/>
          </a:xfrm>
          <a:custGeom>
            <a:avLst/>
            <a:gdLst/>
            <a:ahLst/>
            <a:cxnLst/>
            <a:rect l="l" t="t" r="r" b="b"/>
            <a:pathLst>
              <a:path w="3429000" h="1316228">
                <a:moveTo>
                  <a:pt x="0" y="465946"/>
                </a:moveTo>
                <a:lnTo>
                  <a:pt x="149087" y="526721"/>
                </a:lnTo>
                <a:lnTo>
                  <a:pt x="298174" y="587497"/>
                </a:lnTo>
                <a:lnTo>
                  <a:pt x="447261" y="628014"/>
                </a:lnTo>
                <a:lnTo>
                  <a:pt x="596348" y="648273"/>
                </a:lnTo>
                <a:lnTo>
                  <a:pt x="745435" y="648273"/>
                </a:lnTo>
                <a:lnTo>
                  <a:pt x="894522" y="648273"/>
                </a:lnTo>
                <a:lnTo>
                  <a:pt x="1043609" y="709048"/>
                </a:lnTo>
                <a:lnTo>
                  <a:pt x="1192696" y="871116"/>
                </a:lnTo>
                <a:lnTo>
                  <a:pt x="1341783" y="1053443"/>
                </a:lnTo>
                <a:lnTo>
                  <a:pt x="1490870" y="1195253"/>
                </a:lnTo>
                <a:lnTo>
                  <a:pt x="1639957" y="1195253"/>
                </a:lnTo>
                <a:lnTo>
                  <a:pt x="1789044" y="1134477"/>
                </a:lnTo>
                <a:lnTo>
                  <a:pt x="1938131" y="1033185"/>
                </a:lnTo>
                <a:lnTo>
                  <a:pt x="2087218" y="871116"/>
                </a:lnTo>
                <a:lnTo>
                  <a:pt x="2236305" y="648273"/>
                </a:lnTo>
                <a:lnTo>
                  <a:pt x="2385392" y="364653"/>
                </a:lnTo>
                <a:lnTo>
                  <a:pt x="2534479" y="121551"/>
                </a:lnTo>
                <a:lnTo>
                  <a:pt x="2683566" y="20258"/>
                </a:lnTo>
                <a:lnTo>
                  <a:pt x="2832653" y="0"/>
                </a:lnTo>
                <a:lnTo>
                  <a:pt x="2981740" y="40517"/>
                </a:lnTo>
                <a:lnTo>
                  <a:pt x="3130827" y="141809"/>
                </a:lnTo>
                <a:lnTo>
                  <a:pt x="3279914" y="263360"/>
                </a:lnTo>
                <a:lnTo>
                  <a:pt x="3429000" y="384912"/>
                </a:lnTo>
                <a:lnTo>
                  <a:pt x="3429000" y="590377"/>
                </a:lnTo>
                <a:lnTo>
                  <a:pt x="3279914" y="481500"/>
                </a:lnTo>
                <a:lnTo>
                  <a:pt x="3130827" y="372622"/>
                </a:lnTo>
                <a:lnTo>
                  <a:pt x="2981740" y="281891"/>
                </a:lnTo>
                <a:lnTo>
                  <a:pt x="2832653" y="245598"/>
                </a:lnTo>
                <a:lnTo>
                  <a:pt x="2683566" y="263745"/>
                </a:lnTo>
                <a:lnTo>
                  <a:pt x="2534479" y="354476"/>
                </a:lnTo>
                <a:lnTo>
                  <a:pt x="2385392" y="572231"/>
                </a:lnTo>
                <a:lnTo>
                  <a:pt x="2236305" y="826279"/>
                </a:lnTo>
                <a:lnTo>
                  <a:pt x="2087218" y="1025888"/>
                </a:lnTo>
                <a:lnTo>
                  <a:pt x="1938131" y="1171058"/>
                </a:lnTo>
                <a:lnTo>
                  <a:pt x="1789044" y="1261789"/>
                </a:lnTo>
                <a:lnTo>
                  <a:pt x="1639957" y="1316228"/>
                </a:lnTo>
                <a:lnTo>
                  <a:pt x="1490870" y="1316228"/>
                </a:lnTo>
                <a:lnTo>
                  <a:pt x="1341783" y="1189204"/>
                </a:lnTo>
                <a:lnTo>
                  <a:pt x="1192696" y="1025888"/>
                </a:lnTo>
                <a:lnTo>
                  <a:pt x="1043609" y="880718"/>
                </a:lnTo>
                <a:lnTo>
                  <a:pt x="894522" y="826279"/>
                </a:lnTo>
                <a:lnTo>
                  <a:pt x="745435" y="826279"/>
                </a:lnTo>
                <a:lnTo>
                  <a:pt x="596348" y="826279"/>
                </a:lnTo>
                <a:lnTo>
                  <a:pt x="447261" y="808133"/>
                </a:lnTo>
                <a:lnTo>
                  <a:pt x="298174" y="771840"/>
                </a:lnTo>
                <a:lnTo>
                  <a:pt x="149087" y="717401"/>
                </a:lnTo>
                <a:lnTo>
                  <a:pt x="0" y="662962"/>
                </a:lnTo>
                <a:close/>
              </a:path>
            </a:pathLst>
          </a:cu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eeform 58"/>
          <p:cNvSpPr/>
          <p:nvPr/>
        </p:nvSpPr>
        <p:spPr>
          <a:xfrm>
            <a:off x="4645151" y="2332634"/>
            <a:ext cx="3429000" cy="1132941"/>
          </a:xfrm>
          <a:custGeom>
            <a:avLst/>
            <a:gdLst/>
            <a:ahLst/>
            <a:cxnLst/>
            <a:rect l="l" t="t" r="r" b="b"/>
            <a:pathLst>
              <a:path w="3429000" h="1132941">
                <a:moveTo>
                  <a:pt x="0" y="441655"/>
                </a:moveTo>
                <a:lnTo>
                  <a:pt x="149087" y="499262"/>
                </a:lnTo>
                <a:lnTo>
                  <a:pt x="298174" y="556869"/>
                </a:lnTo>
                <a:lnTo>
                  <a:pt x="447261" y="595274"/>
                </a:lnTo>
                <a:lnTo>
                  <a:pt x="596348" y="614477"/>
                </a:lnTo>
                <a:lnTo>
                  <a:pt x="745435" y="614477"/>
                </a:lnTo>
                <a:lnTo>
                  <a:pt x="894522" y="614477"/>
                </a:lnTo>
                <a:lnTo>
                  <a:pt x="1043609" y="672084"/>
                </a:lnTo>
                <a:lnTo>
                  <a:pt x="1192696" y="825703"/>
                </a:lnTo>
                <a:lnTo>
                  <a:pt x="1341783" y="998525"/>
                </a:lnTo>
                <a:lnTo>
                  <a:pt x="1490870" y="1132941"/>
                </a:lnTo>
                <a:lnTo>
                  <a:pt x="1639957" y="1132941"/>
                </a:lnTo>
                <a:lnTo>
                  <a:pt x="1789044" y="1075334"/>
                </a:lnTo>
                <a:lnTo>
                  <a:pt x="1938131" y="979322"/>
                </a:lnTo>
                <a:lnTo>
                  <a:pt x="2087218" y="825703"/>
                </a:lnTo>
                <a:lnTo>
                  <a:pt x="2236305" y="614477"/>
                </a:lnTo>
                <a:lnTo>
                  <a:pt x="2385392" y="345643"/>
                </a:lnTo>
                <a:lnTo>
                  <a:pt x="2534479" y="115214"/>
                </a:lnTo>
                <a:lnTo>
                  <a:pt x="2683566" y="19202"/>
                </a:lnTo>
                <a:lnTo>
                  <a:pt x="2832653" y="0"/>
                </a:lnTo>
                <a:lnTo>
                  <a:pt x="2981740" y="38405"/>
                </a:lnTo>
                <a:lnTo>
                  <a:pt x="3130827" y="134417"/>
                </a:lnTo>
                <a:lnTo>
                  <a:pt x="3279914" y="249631"/>
                </a:lnTo>
                <a:lnTo>
                  <a:pt x="3429000" y="364845"/>
                </a:lnTo>
              </a:path>
            </a:pathLst>
          </a:custGeom>
          <a:noFill/>
          <a:ln w="2222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86934" y="2157984"/>
            <a:ext cx="89452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0B030"/>
                </a:solidFill>
                <a:latin typeface="Segoe UI Semibold"/>
              </a:rPr>
              <a:t>janela de risco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2271" y="3694175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0h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56793" y="3694175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6h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1315" y="3694175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12h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45837" y="3694175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18h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1" y="3694175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23h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45151" y="3858768"/>
            <a:ext cx="34289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6839B"/>
                </a:solidFill>
                <a:latin typeface="Segoe UI"/>
              </a:rPr>
              <a:t>rampa projetada 18h–19h: </a:t>
            </a:r>
            <a:r>
              <a:rPr sz="700" b="1">
                <a:solidFill>
                  <a:srgbClr val="C8D3E6"/>
                </a:solidFill>
                <a:latin typeface="Segoe UI Semibold"/>
              </a:rPr>
              <a:t>+33,6 GW em 3 h</a:t>
            </a:r>
            <a:r>
              <a:rPr sz="700" b="0">
                <a:solidFill>
                  <a:srgbClr val="76839B"/>
                </a:solidFill>
                <a:latin typeface="Segoe UI"/>
              </a:rPr>
              <a:t>  ·  margem até o mínimo técnico: 4,9 GW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" y="4096511"/>
            <a:ext cx="3685031" cy="1746504"/>
          </a:xfrm>
          <a:prstGeom prst="rect">
            <a:avLst/>
          </a:prstGeom>
          <a:solidFill>
            <a:srgbClr val="1C1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67512" y="4096511"/>
            <a:ext cx="45720" cy="1746504"/>
          </a:xfrm>
          <a:prstGeom prst="rect">
            <a:avLst/>
          </a:prstGeom>
          <a:solidFill>
            <a:srgbClr val="F0B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4206240"/>
            <a:ext cx="33192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0B030"/>
                </a:solidFill>
                <a:latin typeface="Segoe UI Semibold"/>
              </a:rPr>
              <a:t>⚠   ALERTA  —  RISCO DE CURTAILMENT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407407"/>
            <a:ext cx="328269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Probabilidade de </a:t>
            </a:r>
            <a:r>
              <a:rPr sz="1000" b="1">
                <a:solidFill>
                  <a:srgbClr val="F0B030"/>
                </a:solidFill>
                <a:latin typeface="Segoe UI Semibold"/>
              </a:rPr>
              <a:t>85%</a:t>
            </a:r>
            <a:r>
              <a:rPr sz="1000" b="0">
                <a:solidFill>
                  <a:srgbClr val="FFFFFF"/>
                </a:solidFill>
                <a:latin typeface="Segoe UI"/>
              </a:rPr>
              <a:t> de necessidade de curtailment de </a:t>
            </a:r>
            <a:r>
              <a:rPr sz="1000" b="1">
                <a:solidFill>
                  <a:srgbClr val="F0B030"/>
                </a:solidFill>
                <a:latin typeface="Segoe UI Semibold"/>
              </a:rPr>
              <a:t>50 MW</a:t>
            </a:r>
            <a:r>
              <a:rPr sz="1000" b="0">
                <a:solidFill>
                  <a:srgbClr val="FFFFFF"/>
                </a:solidFill>
                <a:latin typeface="Segoe UI"/>
              </a:rPr>
              <a:t> no Parque Eólico X, amanhã às 14h.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937759"/>
            <a:ext cx="3282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Motivo:  65% Condição de Vento Extremo (ERA5 / previsão numérica)  ·  35% Histórico de Restrição de Confiabilidade da Linha Y (CNF)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68680" y="5568696"/>
            <a:ext cx="3282696" cy="0"/>
          </a:xfrm>
          <a:prstGeom prst="line">
            <a:avLst/>
          </a:prstGeom>
          <a:ln w="9525">
            <a:solidFill>
              <a:srgbClr val="3A33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68680" y="5623560"/>
            <a:ext cx="32826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Fonte:  dataset constrained_off_eolica_tm  ·  janela D+1  ·  atualizado há 12 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17136" y="4096511"/>
            <a:ext cx="3685031" cy="1746504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45151" y="4206240"/>
            <a:ext cx="34289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839B"/>
                </a:solidFill>
                <a:latin typeface="Segoe UI Semibold"/>
              </a:rPr>
              <a:t>PAINEL DE EXCEDENTES  ·  POR TRANSFORMAÇÃO DE FRONTEIRA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45151" y="4425695"/>
            <a:ext cx="206361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SE Nova Mutum 230/69 kV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8155" y="4425695"/>
            <a:ext cx="73700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10h–12h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9207" y="4425695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0B030"/>
                </a:solidFill>
                <a:latin typeface="Segoe UI Semibold"/>
              </a:rPr>
              <a:t>+184 MW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645151" y="4654295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45151" y="4700015"/>
            <a:ext cx="206361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SE Brasnorte 230/138 kV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28155" y="4700015"/>
            <a:ext cx="73700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10h–13h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79207" y="4700015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0B030"/>
                </a:solidFill>
                <a:latin typeface="Segoe UI Semibold"/>
              </a:rPr>
              <a:t>+96 MW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645151" y="4928615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645151" y="4974335"/>
            <a:ext cx="206361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Área de concessão MT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8155" y="4974335"/>
            <a:ext cx="73700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09h–14h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79207" y="4974335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C88A"/>
                </a:solidFill>
                <a:latin typeface="Segoe UI Semibold"/>
              </a:rPr>
              <a:t>+657 MW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45151" y="5568696"/>
            <a:ext cx="34289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Explicabilidade glass box: peso das variáveis, dataset de origem e consulta aplicada em cada alerta.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605332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Mockup do painel operativo, com estética de sala de controle. Valores ilustram o formato de saída e não correspondem a um evento verificado.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49640" y="1298448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549640" y="1298448"/>
            <a:ext cx="3136392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677656" y="14264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Mapa híbrido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77656" y="166420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Rede macro — usinas, limites de intercâmbio e alertas — sobre as manchas de densidade de MMGD e de carga por área de concessão.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2496312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549640" y="2496312"/>
            <a:ext cx="3136392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677656" y="262432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Despacho preditivo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77656" y="28620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Carga supervisionada esperada com banda P10/P50/P90, rampa projetada e margem até o mínimo técnico das fontes controláveis.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49640" y="3694176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549640" y="3694176"/>
            <a:ext cx="3136392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677656" y="3822191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Excedentes · ONS–DSO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059936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Previsão de excedente e de fluxo reverso por área de concessão e por transformação de fronteira: o payload do Eixo 2.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49640" y="4892040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549640" y="4892040"/>
            <a:ext cx="3136392" cy="29260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677656" y="5020055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410"/>
                </a:solidFill>
                <a:latin typeface="Segoe UI Semibold"/>
              </a:rPr>
              <a:t>Explicabilidade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77656" y="525780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Peso das variáveis por alerta, dataset de origem e consulta aplicada — o padrão glass box que o próprio ONS adota.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4114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D4CC"/>
                </a:solidFill>
                <a:latin typeface="Segoe UI Semibold"/>
              </a:rPr>
              <a:t>POR QUE O NOME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59536"/>
            <a:ext cx="1026871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Um oráculo não representa uma adivinhação ao acaso, mas a capacidade de interpretar sinais. Na fronteira entre transmissão e distribuição esses sinais já existem — BDGD, dados cadastrais da ANEEL, imagens de satélite, séries históricas operativas e variáveis meteorológicas —, mas ainda são analisados de maneira fragmentada.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956816"/>
            <a:ext cx="310896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D4CC"/>
                </a:solidFill>
                <a:latin typeface="Segoe UI Semibold"/>
              </a:rPr>
              <a:t>COMPETÊNCIAS REUNIDAS NA EQUIPE LINKFY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68880"/>
            <a:ext cx="3083356" cy="329184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30833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Análise de sistemas elétricos de potência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1492" y="2468880"/>
            <a:ext cx="1634947" cy="329184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1492" y="2468880"/>
            <a:ext cx="163494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Tratamento de 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34456" y="2468880"/>
            <a:ext cx="1634947" cy="329184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34456" y="2468880"/>
            <a:ext cx="163494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Visão computacional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7419" y="2468880"/>
            <a:ext cx="1634947" cy="329184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7419" y="2468880"/>
            <a:ext cx="163494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Modelagem preditiva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072384"/>
            <a:ext cx="1922617" cy="91440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0120" y="3072384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" y="3273552"/>
            <a:ext cx="15934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Gabriel Gonçalves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3602736"/>
            <a:ext cx="159343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gabriel.goncalves@ons.org.br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7329" y="3072384"/>
            <a:ext cx="1922617" cy="91440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47329" y="3072384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11921" y="3273552"/>
            <a:ext cx="15934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1921" y="3602736"/>
            <a:ext cx="159343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4538" y="3072384"/>
            <a:ext cx="1922617" cy="91440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34538" y="3072384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99130" y="3273552"/>
            <a:ext cx="15934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9130" y="3602736"/>
            <a:ext cx="159343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1748" y="3072384"/>
            <a:ext cx="1922617" cy="91440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21748" y="3072384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86340" y="3273552"/>
            <a:ext cx="15934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6340" y="3602736"/>
            <a:ext cx="159343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08957" y="3072384"/>
            <a:ext cx="1922617" cy="91440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08957" y="3072384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73549" y="3273552"/>
            <a:ext cx="15934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3549" y="3602736"/>
            <a:ext cx="159343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4224528"/>
            <a:ext cx="10268712" cy="10972"/>
          </a:xfrm>
          <a:prstGeom prst="rect">
            <a:avLst/>
          </a:prstGeom>
          <a:solidFill>
            <a:srgbClr val="3345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D4CC"/>
                </a:solidFill>
                <a:latin typeface="Segoe UI Semibold"/>
              </a:rPr>
              <a:t>FONTES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700016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8B6D6"/>
                </a:solidFill>
                <a:latin typeface="Segoe UI"/>
              </a:rPr>
              <a:t>Caderno de Desafios e Dados do Hackathon IA COPPE/UFRJ 2026; ONS — PAR/PEL 2025, Sumário Executivo e Revista (Ciclo 2026–2030); ONS — Portal de Dados Abertos e MCP oficial; ONS — FAQ e material institucional sobre curtailment; transcrições do ONS (aula de dados, vídeo de curtailment e reunião do PAR/PEL 2025); feedbacks da especialista do ONS na equipe. Figuras 1 e 3 reproduzidas do Sumário Executivo do PAR/PEL 2025 (ONS), com atribuição; demais diagramas de elaboração própria.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425696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D4CC"/>
                </a:solidFill>
                <a:latin typeface="Segoe UI Semibold"/>
              </a:rPr>
              <a:t>REFERÊNCIAS ABERTAS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700016"/>
            <a:ext cx="46451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C6D3EE"/>
                </a:solidFill>
                <a:latin typeface="Segoe UI"/>
              </a:rPr>
              <a:t>ons.org.br/Paginas/energia-no-futuro/suprimento-eletrico/parpel2025/sumario-executivo/index.aspx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C6D3EE"/>
                </a:solidFill>
                <a:latin typeface="Segoe UI"/>
              </a:rPr>
              <a:t>dados.ons.org.br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C6D3EE"/>
                </a:solidFill>
                <a:latin typeface="Segoe UI"/>
              </a:rPr>
              <a:t>ons.org.br/Paginas/faq_curtailment.aspx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6217920"/>
            <a:ext cx="10268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686B4"/>
                </a:solidFill>
                <a:latin typeface="Segoe UI"/>
              </a:rPr>
              <a:t>O.R.A.C.U.L.O.  ·  Integra esses sinais e os transforma em inteligência preditiva para a operação do SIN  ·  Equipe Linkfy  ·  Hackathon IA COPPE/UFRJ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3981</Words>
  <Application>Microsoft Office PowerPoint</Application>
  <PresentationFormat>Widescreen</PresentationFormat>
  <Paragraphs>324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Ligia Rolim da Silva</cp:lastModifiedBy>
  <cp:revision>1</cp:revision>
  <dcterms:created xsi:type="dcterms:W3CDTF">2013-01-27T09:14:16Z</dcterms:created>
  <dcterms:modified xsi:type="dcterms:W3CDTF">2026-09-13T22:29:50Z</dcterms:modified>
  <cp:category/>
</cp:coreProperties>
</file>