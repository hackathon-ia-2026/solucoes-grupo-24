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69" r:id="rId10"/>
    <p:sldId id="270" r:id="rId11"/>
    <p:sldId id="271" r:id="rId12"/>
    <p:sldId id="272" r:id="rId13"/>
    <p:sldId id="273" r:id="rId9"/>
    <p:sldId id="274" r:id="rId8"/>
    <p:sldId id="275" r:id="rId7"/>
    <p:sldId id="276" r:id="rId6"/>
    <p:sldId id="277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6FEAC-854F-40A6-AFFA-432E683711B7}" v="3" dt="2026-09-13T22:55:00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732" autoAdjust="0"/>
  </p:normalViewPr>
  <p:slideViewPr>
    <p:cSldViewPr snapToGrid="0">
      <p:cViewPr varScale="1">
        <p:scale>
          <a:sx n="63" d="100"/>
          <a:sy n="63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gia Rolim da Silva" userId="fbfb8c71-666a-4142-abbf-504e3765d1c9" providerId="ADAL" clId="{FA76E5CA-1635-4CD7-8042-536D286A8E09}"/>
    <pc:docChg chg="custSel addSld delSld modSld">
      <pc:chgData name="Ligia Rolim da Silva" userId="fbfb8c71-666a-4142-abbf-504e3765d1c9" providerId="ADAL" clId="{FA76E5CA-1635-4CD7-8042-536D286A8E09}" dt="2026-09-13T22:55:51.194" v="39" actId="1076"/>
      <pc:docMkLst>
        <pc:docMk/>
      </pc:docMkLst>
      <pc:sldChg chg="modSp del mod">
        <pc:chgData name="Ligia Rolim da Silva" userId="fbfb8c71-666a-4142-abbf-504e3765d1c9" providerId="ADAL" clId="{FA76E5CA-1635-4CD7-8042-536D286A8E09}" dt="2026-09-13T22:54:17.978" v="21" actId="47"/>
        <pc:sldMkLst>
          <pc:docMk/>
          <pc:sldMk cId="338314519" sldId="256"/>
        </pc:sldMkLst>
        <pc:spChg chg="mod">
          <ac:chgData name="Ligia Rolim da Silva" userId="fbfb8c71-666a-4142-abbf-504e3765d1c9" providerId="ADAL" clId="{FA76E5CA-1635-4CD7-8042-536D286A8E09}" dt="2026-09-13T22:54:15.305" v="20" actId="27636"/>
          <ac:spMkLst>
            <pc:docMk/>
            <pc:sldMk cId="338314519" sldId="256"/>
            <ac:spMk id="7" creationId="{104B5957-B56F-4BDB-A6DD-9E0E9D761912}"/>
          </ac:spMkLst>
        </pc:spChg>
      </pc:sldChg>
      <pc:sldChg chg="del">
        <pc:chgData name="Ligia Rolim da Silva" userId="fbfb8c71-666a-4142-abbf-504e3765d1c9" providerId="ADAL" clId="{FA76E5CA-1635-4CD7-8042-536D286A8E09}" dt="2026-09-13T22:54:27.370" v="23" actId="47"/>
        <pc:sldMkLst>
          <pc:docMk/>
          <pc:sldMk cId="1252882878" sldId="257"/>
        </pc:sldMkLst>
      </pc:sldChg>
      <pc:sldChg chg="del">
        <pc:chgData name="Ligia Rolim da Silva" userId="fbfb8c71-666a-4142-abbf-504e3765d1c9" providerId="ADAL" clId="{FA76E5CA-1635-4CD7-8042-536D286A8E09}" dt="2026-09-13T22:55:02.020" v="25" actId="47"/>
        <pc:sldMkLst>
          <pc:docMk/>
          <pc:sldMk cId="650032880" sldId="258"/>
        </pc:sldMkLst>
      </pc:sldChg>
      <pc:sldChg chg="modSp mod">
        <pc:chgData name="Ligia Rolim da Silva" userId="fbfb8c71-666a-4142-abbf-504e3765d1c9" providerId="ADAL" clId="{FA76E5CA-1635-4CD7-8042-536D286A8E09}" dt="2026-09-13T22:54:15.180" v="3" actId="27636"/>
        <pc:sldMkLst>
          <pc:docMk/>
          <pc:sldMk cId="953358249" sldId="259"/>
        </pc:sldMkLst>
        <pc:spChg chg="mod">
          <ac:chgData name="Ligia Rolim da Silva" userId="fbfb8c71-666a-4142-abbf-504e3765d1c9" providerId="ADAL" clId="{FA76E5CA-1635-4CD7-8042-536D286A8E09}" dt="2026-09-13T22:54:15.180" v="3" actId="27636"/>
          <ac:spMkLst>
            <pc:docMk/>
            <pc:sldMk cId="953358249" sldId="259"/>
            <ac:spMk id="16" creationId="{E077A481-FC40-4B72-8FC5-85EFD50CE141}"/>
          </ac:spMkLst>
        </pc:spChg>
        <pc:spChg chg="mod">
          <ac:chgData name="Ligia Rolim da Silva" userId="fbfb8c71-666a-4142-abbf-504e3765d1c9" providerId="ADAL" clId="{FA76E5CA-1635-4CD7-8042-536D286A8E09}" dt="2026-09-13T22:54:15.175" v="1" actId="27636"/>
          <ac:spMkLst>
            <pc:docMk/>
            <pc:sldMk cId="953358249" sldId="259"/>
            <ac:spMk id="17" creationId="{F1F6D2E4-0834-4605-9D81-D4BC27A6825C}"/>
          </ac:spMkLst>
        </pc:spChg>
        <pc:spChg chg="mod">
          <ac:chgData name="Ligia Rolim da Silva" userId="fbfb8c71-666a-4142-abbf-504e3765d1c9" providerId="ADAL" clId="{FA76E5CA-1635-4CD7-8042-536D286A8E09}" dt="2026-09-13T22:54:15.178" v="2" actId="27636"/>
          <ac:spMkLst>
            <pc:docMk/>
            <pc:sldMk cId="953358249" sldId="259"/>
            <ac:spMk id="27" creationId="{2FDDCEC0-7FC1-438F-A7C0-19141797DF7B}"/>
          </ac:spMkLst>
        </pc:spChg>
      </pc:sldChg>
      <pc:sldChg chg="addSp modSp mod">
        <pc:chgData name="Ligia Rolim da Silva" userId="fbfb8c71-666a-4142-abbf-504e3765d1c9" providerId="ADAL" clId="{FA76E5CA-1635-4CD7-8042-536D286A8E09}" dt="2026-09-13T22:55:51.194" v="39" actId="1076"/>
        <pc:sldMkLst>
          <pc:docMk/>
          <pc:sldMk cId="26689343" sldId="260"/>
        </pc:sldMkLst>
        <pc:spChg chg="mod">
          <ac:chgData name="Ligia Rolim da Silva" userId="fbfb8c71-666a-4142-abbf-504e3765d1c9" providerId="ADAL" clId="{FA76E5CA-1635-4CD7-8042-536D286A8E09}" dt="2026-09-13T22:54:15.191" v="4" actId="27636"/>
          <ac:spMkLst>
            <pc:docMk/>
            <pc:sldMk cId="26689343" sldId="260"/>
            <ac:spMk id="17" creationId="{176DD0F3-7215-4103-899F-0FF5FE4CF2BD}"/>
          </ac:spMkLst>
        </pc:spChg>
        <pc:picChg chg="add mod">
          <ac:chgData name="Ligia Rolim da Silva" userId="fbfb8c71-666a-4142-abbf-504e3765d1c9" providerId="ADAL" clId="{FA76E5CA-1635-4CD7-8042-536D286A8E09}" dt="2026-09-13T22:55:51.194" v="39" actId="1076"/>
          <ac:picMkLst>
            <pc:docMk/>
            <pc:sldMk cId="26689343" sldId="260"/>
            <ac:picMk id="28" creationId="{F3C1BBE6-1B8B-FE91-79CF-C90A6C53304F}"/>
          </ac:picMkLst>
        </pc:picChg>
        <pc:picChg chg="add mod">
          <ac:chgData name="Ligia Rolim da Silva" userId="fbfb8c71-666a-4142-abbf-504e3765d1c9" providerId="ADAL" clId="{FA76E5CA-1635-4CD7-8042-536D286A8E09}" dt="2026-09-13T22:55:47.099" v="36" actId="1076"/>
          <ac:picMkLst>
            <pc:docMk/>
            <pc:sldMk cId="26689343" sldId="260"/>
            <ac:picMk id="30" creationId="{63557A15-B05A-9AE7-C500-480FC9A8D229}"/>
          </ac:picMkLst>
        </pc:picChg>
      </pc:sldChg>
      <pc:sldChg chg="modSp mod">
        <pc:chgData name="Ligia Rolim da Silva" userId="fbfb8c71-666a-4142-abbf-504e3765d1c9" providerId="ADAL" clId="{FA76E5CA-1635-4CD7-8042-536D286A8E09}" dt="2026-09-13T22:54:15.210" v="6" actId="27636"/>
        <pc:sldMkLst>
          <pc:docMk/>
          <pc:sldMk cId="230654313" sldId="261"/>
        </pc:sldMkLst>
        <pc:spChg chg="mod">
          <ac:chgData name="Ligia Rolim da Silva" userId="fbfb8c71-666a-4142-abbf-504e3765d1c9" providerId="ADAL" clId="{FA76E5CA-1635-4CD7-8042-536D286A8E09}" dt="2026-09-13T22:54:15.204" v="5" actId="27636"/>
          <ac:spMkLst>
            <pc:docMk/>
            <pc:sldMk cId="230654313" sldId="261"/>
            <ac:spMk id="19" creationId="{BC8F30EE-F4B8-4EBB-B7CE-3F32059B31AE}"/>
          </ac:spMkLst>
        </pc:spChg>
        <pc:spChg chg="mod">
          <ac:chgData name="Ligia Rolim da Silva" userId="fbfb8c71-666a-4142-abbf-504e3765d1c9" providerId="ADAL" clId="{FA76E5CA-1635-4CD7-8042-536D286A8E09}" dt="2026-09-13T22:54:15.210" v="6" actId="27636"/>
          <ac:spMkLst>
            <pc:docMk/>
            <pc:sldMk cId="230654313" sldId="261"/>
            <ac:spMk id="38" creationId="{B2F38C92-EBF8-4991-B13F-3F76AF03456B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35" v="10" actId="27636"/>
        <pc:sldMkLst>
          <pc:docMk/>
          <pc:sldMk cId="496114723" sldId="262"/>
        </pc:sldMkLst>
        <pc:spChg chg="mod">
          <ac:chgData name="Ligia Rolim da Silva" userId="fbfb8c71-666a-4142-abbf-504e3765d1c9" providerId="ADAL" clId="{FA76E5CA-1635-4CD7-8042-536D286A8E09}" dt="2026-09-13T22:54:15.231" v="9" actId="27636"/>
          <ac:spMkLst>
            <pc:docMk/>
            <pc:sldMk cId="496114723" sldId="262"/>
            <ac:spMk id="13" creationId="{C20DF4A6-52F1-4B29-8977-E53E2895DF76}"/>
          </ac:spMkLst>
        </pc:spChg>
        <pc:spChg chg="mod">
          <ac:chgData name="Ligia Rolim da Silva" userId="fbfb8c71-666a-4142-abbf-504e3765d1c9" providerId="ADAL" clId="{FA76E5CA-1635-4CD7-8042-536D286A8E09}" dt="2026-09-13T22:54:15.235" v="10" actId="27636"/>
          <ac:spMkLst>
            <pc:docMk/>
            <pc:sldMk cId="496114723" sldId="262"/>
            <ac:spMk id="34" creationId="{330784E9-DF00-487F-9997-4D36C38C2D34}"/>
          </ac:spMkLst>
        </pc:spChg>
        <pc:spChg chg="mod">
          <ac:chgData name="Ligia Rolim da Silva" userId="fbfb8c71-666a-4142-abbf-504e3765d1c9" providerId="ADAL" clId="{FA76E5CA-1635-4CD7-8042-536D286A8E09}" dt="2026-09-13T22:54:15.225" v="8" actId="27636"/>
          <ac:spMkLst>
            <pc:docMk/>
            <pc:sldMk cId="496114723" sldId="262"/>
            <ac:spMk id="38" creationId="{B3F12612-EEE1-43B2-987F-9DD315E2783B}"/>
          </ac:spMkLst>
        </pc:spChg>
        <pc:spChg chg="mod">
          <ac:chgData name="Ligia Rolim da Silva" userId="fbfb8c71-666a-4142-abbf-504e3765d1c9" providerId="ADAL" clId="{FA76E5CA-1635-4CD7-8042-536D286A8E09}" dt="2026-09-13T22:54:15.220" v="7" actId="27636"/>
          <ac:spMkLst>
            <pc:docMk/>
            <pc:sldMk cId="496114723" sldId="262"/>
            <ac:spMk id="42" creationId="{C8569297-72BD-4799-A19B-3EF08091B238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49" v="12" actId="27636"/>
        <pc:sldMkLst>
          <pc:docMk/>
          <pc:sldMk cId="97620267" sldId="263"/>
        </pc:sldMkLst>
        <pc:spChg chg="mod">
          <ac:chgData name="Ligia Rolim da Silva" userId="fbfb8c71-666a-4142-abbf-504e3765d1c9" providerId="ADAL" clId="{FA76E5CA-1635-4CD7-8042-536D286A8E09}" dt="2026-09-13T22:54:15.249" v="12" actId="27636"/>
          <ac:spMkLst>
            <pc:docMk/>
            <pc:sldMk cId="97620267" sldId="263"/>
            <ac:spMk id="40" creationId="{B4D0B400-82D1-4D05-AEF2-2C6CB51ACBBA}"/>
          </ac:spMkLst>
        </pc:spChg>
        <pc:spChg chg="mod">
          <ac:chgData name="Ligia Rolim da Silva" userId="fbfb8c71-666a-4142-abbf-504e3765d1c9" providerId="ADAL" clId="{FA76E5CA-1635-4CD7-8042-536D286A8E09}" dt="2026-09-13T22:54:15.242" v="11" actId="27636"/>
          <ac:spMkLst>
            <pc:docMk/>
            <pc:sldMk cId="97620267" sldId="263"/>
            <ac:spMk id="54" creationId="{19402882-1A11-458D-945F-A856AD6CE1A3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57" v="15" actId="27636"/>
        <pc:sldMkLst>
          <pc:docMk/>
          <pc:sldMk cId="278837521" sldId="264"/>
        </pc:sldMkLst>
        <pc:spChg chg="mod">
          <ac:chgData name="Ligia Rolim da Silva" userId="fbfb8c71-666a-4142-abbf-504e3765d1c9" providerId="ADAL" clId="{FA76E5CA-1635-4CD7-8042-536D286A8E09}" dt="2026-09-13T22:54:15.253" v="13" actId="27636"/>
          <ac:spMkLst>
            <pc:docMk/>
            <pc:sldMk cId="278837521" sldId="264"/>
            <ac:spMk id="12" creationId="{9B22085E-B19F-4389-B29E-FB59E2DC88C8}"/>
          </ac:spMkLst>
        </pc:spChg>
        <pc:spChg chg="mod">
          <ac:chgData name="Ligia Rolim da Silva" userId="fbfb8c71-666a-4142-abbf-504e3765d1c9" providerId="ADAL" clId="{FA76E5CA-1635-4CD7-8042-536D286A8E09}" dt="2026-09-13T22:54:15.257" v="15" actId="27636"/>
          <ac:spMkLst>
            <pc:docMk/>
            <pc:sldMk cId="278837521" sldId="264"/>
            <ac:spMk id="16" creationId="{FF5F12D6-15F0-4915-BBBA-203DD30FB866}"/>
          </ac:spMkLst>
        </pc:spChg>
        <pc:spChg chg="mod">
          <ac:chgData name="Ligia Rolim da Silva" userId="fbfb8c71-666a-4142-abbf-504e3765d1c9" providerId="ADAL" clId="{FA76E5CA-1635-4CD7-8042-536D286A8E09}" dt="2026-09-13T22:54:15.254" v="14" actId="27636"/>
          <ac:spMkLst>
            <pc:docMk/>
            <pc:sldMk cId="278837521" sldId="264"/>
            <ac:spMk id="19" creationId="{97211235-FE54-4E04-A2F6-19AB57D58FE7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68" v="16" actId="27636"/>
        <pc:sldMkLst>
          <pc:docMk/>
          <pc:sldMk cId="1385590671" sldId="265"/>
        </pc:sldMkLst>
        <pc:spChg chg="mod">
          <ac:chgData name="Ligia Rolim da Silva" userId="fbfb8c71-666a-4142-abbf-504e3765d1c9" providerId="ADAL" clId="{FA76E5CA-1635-4CD7-8042-536D286A8E09}" dt="2026-09-13T22:54:15.268" v="16" actId="27636"/>
          <ac:spMkLst>
            <pc:docMk/>
            <pc:sldMk cId="1385590671" sldId="265"/>
            <ac:spMk id="5" creationId="{CE2C8D96-2B10-4516-A78E-54A81EE58015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84" v="18" actId="27636"/>
        <pc:sldMkLst>
          <pc:docMk/>
          <pc:sldMk cId="816622820" sldId="266"/>
        </pc:sldMkLst>
        <pc:spChg chg="mod">
          <ac:chgData name="Ligia Rolim da Silva" userId="fbfb8c71-666a-4142-abbf-504e3765d1c9" providerId="ADAL" clId="{FA76E5CA-1635-4CD7-8042-536D286A8E09}" dt="2026-09-13T22:54:15.282" v="17" actId="27636"/>
          <ac:spMkLst>
            <pc:docMk/>
            <pc:sldMk cId="816622820" sldId="266"/>
            <ac:spMk id="5" creationId="{CCA29A42-061C-4392-95E3-6F5A860B57F8}"/>
          </ac:spMkLst>
        </pc:spChg>
        <pc:spChg chg="mod">
          <ac:chgData name="Ligia Rolim da Silva" userId="fbfb8c71-666a-4142-abbf-504e3765d1c9" providerId="ADAL" clId="{FA76E5CA-1635-4CD7-8042-536D286A8E09}" dt="2026-09-13T22:54:15.284" v="18" actId="27636"/>
          <ac:spMkLst>
            <pc:docMk/>
            <pc:sldMk cId="816622820" sldId="266"/>
            <ac:spMk id="24" creationId="{A50CAD5F-AD6B-4D88-AA8B-2A0346769C00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91" v="19" actId="27636"/>
        <pc:sldMkLst>
          <pc:docMk/>
          <pc:sldMk cId="1515270000" sldId="267"/>
        </pc:sldMkLst>
        <pc:spChg chg="mod">
          <ac:chgData name="Ligia Rolim da Silva" userId="fbfb8c71-666a-4142-abbf-504e3765d1c9" providerId="ADAL" clId="{FA76E5CA-1635-4CD7-8042-536D286A8E09}" dt="2026-09-13T22:54:15.291" v="19" actId="27636"/>
          <ac:spMkLst>
            <pc:docMk/>
            <pc:sldMk cId="1515270000" sldId="267"/>
            <ac:spMk id="2" creationId="{39921D0E-2D07-4C7D-8494-D7D788CC83C4}"/>
          </ac:spMkLst>
        </pc:spChg>
      </pc:sldChg>
      <pc:sldChg chg="add setBg">
        <pc:chgData name="Ligia Rolim da Silva" userId="fbfb8c71-666a-4142-abbf-504e3765d1c9" providerId="ADAL" clId="{FA76E5CA-1635-4CD7-8042-536D286A8E09}" dt="2026-09-13T22:54:15.073" v="0"/>
        <pc:sldMkLst>
          <pc:docMk/>
          <pc:sldMk cId="1510257333" sldId="268"/>
        </pc:sldMkLst>
      </pc:sldChg>
      <pc:sldChg chg="add setBg">
        <pc:chgData name="Ligia Rolim da Silva" userId="fbfb8c71-666a-4142-abbf-504e3765d1c9" providerId="ADAL" clId="{FA76E5CA-1635-4CD7-8042-536D286A8E09}" dt="2026-09-13T22:54:25.269" v="22"/>
        <pc:sldMkLst>
          <pc:docMk/>
          <pc:sldMk cId="29081268" sldId="269"/>
        </pc:sldMkLst>
      </pc:sldChg>
      <pc:sldChg chg="add setBg">
        <pc:chgData name="Ligia Rolim da Silva" userId="fbfb8c71-666a-4142-abbf-504e3765d1c9" providerId="ADAL" clId="{FA76E5CA-1635-4CD7-8042-536D286A8E09}" dt="2026-09-13T22:55:00.419" v="24"/>
        <pc:sldMkLst>
          <pc:docMk/>
          <pc:sldMk cId="543649783" sldId="27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eólica</c:v>
                </c:pt>
              </c:strCache>
            </c:strRef>
          </c:tx>
          <c:spPr>
            <a:solidFill>
              <a:srgbClr val="123C67"/>
            </a:solidFill>
          </c:spPr>
          <c:cat>
            <c:strRef>
              <c:f>Sheet1!$A$2:$A$13</c:f>
              <c:strCache>
                <c:ptCount val="12"/>
                <c:pt idx="0">
                  <c:v>set/25</c:v>
                </c:pt>
                <c:pt idx="1">
                  <c:v>out/25</c:v>
                </c:pt>
                <c:pt idx="2">
                  <c:v>nov/25</c:v>
                </c:pt>
                <c:pt idx="3">
                  <c:v>dez/25</c:v>
                </c:pt>
                <c:pt idx="4">
                  <c:v>jan/26</c:v>
                </c:pt>
                <c:pt idx="5">
                  <c:v>fev/26</c:v>
                </c:pt>
                <c:pt idx="6">
                  <c:v>mar/26</c:v>
                </c:pt>
                <c:pt idx="7">
                  <c:v>abr/26</c:v>
                </c:pt>
                <c:pt idx="8">
                  <c:v>mai/26</c:v>
                </c:pt>
                <c:pt idx="9">
                  <c:v>jun/26</c:v>
                </c:pt>
                <c:pt idx="10">
                  <c:v>jul/26</c:v>
                </c:pt>
                <c:pt idx="11">
                  <c:v>ago/26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3.721</c:v>
                </c:pt>
                <c:pt idx="1">
                  <c:v>4.838</c:v>
                </c:pt>
                <c:pt idx="2">
                  <c:v>2.542</c:v>
                </c:pt>
                <c:pt idx="3">
                  <c:v>1.613</c:v>
                </c:pt>
                <c:pt idx="4">
                  <c:v>2.458</c:v>
                </c:pt>
                <c:pt idx="5">
                  <c:v>0.504</c:v>
                </c:pt>
                <c:pt idx="6">
                  <c:v>0.85</c:v>
                </c:pt>
                <c:pt idx="7">
                  <c:v>1.421</c:v>
                </c:pt>
                <c:pt idx="8">
                  <c:v>2.088</c:v>
                </c:pt>
                <c:pt idx="9">
                  <c:v>1.774</c:v>
                </c:pt>
                <c:pt idx="10">
                  <c:v>3.091</c:v>
                </c:pt>
                <c:pt idx="11">
                  <c:v>4.022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fotovoltaica</c:v>
                </c:pt>
              </c:strCache>
            </c:strRef>
          </c:tx>
          <c:spPr>
            <a:solidFill>
              <a:srgbClr val="D8690E"/>
            </a:solidFill>
          </c:spPr>
          <c:cat>
            <c:strRef>
              <c:f>Sheet1!$A$2:$A$13</c:f>
              <c:strCache>
                <c:ptCount val="12"/>
                <c:pt idx="0">
                  <c:v>set/25</c:v>
                </c:pt>
                <c:pt idx="1">
                  <c:v>out/25</c:v>
                </c:pt>
                <c:pt idx="2">
                  <c:v>nov/25</c:v>
                </c:pt>
                <c:pt idx="3">
                  <c:v>dez/25</c:v>
                </c:pt>
                <c:pt idx="4">
                  <c:v>jan/26</c:v>
                </c:pt>
                <c:pt idx="5">
                  <c:v>fev/26</c:v>
                </c:pt>
                <c:pt idx="6">
                  <c:v>mar/26</c:v>
                </c:pt>
                <c:pt idx="7">
                  <c:v>abr/26</c:v>
                </c:pt>
                <c:pt idx="8">
                  <c:v>mai/26</c:v>
                </c:pt>
                <c:pt idx="9">
                  <c:v>jun/26</c:v>
                </c:pt>
                <c:pt idx="10">
                  <c:v>jul/26</c:v>
                </c:pt>
                <c:pt idx="11">
                  <c:v>ago/26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1.363</c:v>
                </c:pt>
                <c:pt idx="1">
                  <c:v>1.346</c:v>
                </c:pt>
                <c:pt idx="2">
                  <c:v>0.99</c:v>
                </c:pt>
                <c:pt idx="3">
                  <c:v>0.662</c:v>
                </c:pt>
                <c:pt idx="4">
                  <c:v>0.747</c:v>
                </c:pt>
                <c:pt idx="5">
                  <c:v>0.345</c:v>
                </c:pt>
                <c:pt idx="6">
                  <c:v>0.865</c:v>
                </c:pt>
                <c:pt idx="7">
                  <c:v>1.044</c:v>
                </c:pt>
                <c:pt idx="8">
                  <c:v>1.152</c:v>
                </c:pt>
                <c:pt idx="9">
                  <c:v>0.999</c:v>
                </c:pt>
                <c:pt idx="10">
                  <c:v>1.268</c:v>
                </c:pt>
                <c:pt idx="11">
                  <c:v>1.595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7E5"/>
            </a:solidFill>
          </a:ln>
        </c:spPr>
        <c:txPr>
          <a:bodyPr/>
          <a:lstStyle/>
          <a:p>
            <a:pPr>
              <a:defRPr sz="900">
                <a:solidFill>
                  <a:srgbClr val="52667C"/>
                </a:solidFill>
                <a:latin typeface="DejaVu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AF2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667C"/>
                </a:solidFill>
                <a:latin typeface="DejaVu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DejaVu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carga com MMGD</c:v>
                </c:pt>
              </c:strCache>
            </c:strRef>
          </c:tx>
          <c:spPr>
            <a:ln w="22225">
              <a:solidFill>
                <a:srgbClr val="9FB3C8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00h</c:v>
                </c:pt>
                <c:pt idx="1">
                  <c:v>01h</c:v>
                </c:pt>
                <c:pt idx="2">
                  <c:v>02h</c:v>
                </c:pt>
                <c:pt idx="3">
                  <c:v>03h</c:v>
                </c:pt>
                <c:pt idx="4">
                  <c:v>04h</c:v>
                </c:pt>
                <c:pt idx="5">
                  <c:v>05h</c:v>
                </c:pt>
                <c:pt idx="6">
                  <c:v>06h</c:v>
                </c:pt>
                <c:pt idx="7">
                  <c:v>07h</c:v>
                </c:pt>
                <c:pt idx="8">
                  <c:v>08h</c:v>
                </c:pt>
                <c:pt idx="9">
                  <c:v>09h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14012.6</c:v>
                </c:pt>
                <c:pt idx="1">
                  <c:v>13615.6</c:v>
                </c:pt>
                <c:pt idx="2">
                  <c:v>13309.2</c:v>
                </c:pt>
                <c:pt idx="3">
                  <c:v>13078.8</c:v>
                </c:pt>
                <c:pt idx="4">
                  <c:v>12941.6</c:v>
                </c:pt>
                <c:pt idx="5">
                  <c:v>12648.1</c:v>
                </c:pt>
                <c:pt idx="6">
                  <c:v>12488.2</c:v>
                </c:pt>
                <c:pt idx="7">
                  <c:v>13366.4</c:v>
                </c:pt>
                <c:pt idx="8">
                  <c:v>13503.3</c:v>
                </c:pt>
                <c:pt idx="9">
                  <c:v>13650.8</c:v>
                </c:pt>
                <c:pt idx="10">
                  <c:v>13861.1</c:v>
                </c:pt>
                <c:pt idx="11">
                  <c:v>13889.1</c:v>
                </c:pt>
                <c:pt idx="12">
                  <c:v>13564.3</c:v>
                </c:pt>
                <c:pt idx="13">
                  <c:v>13671.5</c:v>
                </c:pt>
                <c:pt idx="14">
                  <c:v>13926.9</c:v>
                </c:pt>
                <c:pt idx="15">
                  <c:v>14142.4</c:v>
                </c:pt>
                <c:pt idx="16">
                  <c:v>14619.3</c:v>
                </c:pt>
                <c:pt idx="17">
                  <c:v>14568.3</c:v>
                </c:pt>
                <c:pt idx="18">
                  <c:v>14887.4</c:v>
                </c:pt>
                <c:pt idx="19">
                  <c:v>14766.9</c:v>
                </c:pt>
                <c:pt idx="20">
                  <c:v>14642.6</c:v>
                </c:pt>
                <c:pt idx="21">
                  <c:v>14920.8</c:v>
                </c:pt>
                <c:pt idx="22">
                  <c:v>14875.1</c:v>
                </c:pt>
                <c:pt idx="23">
                  <c:v>14495.2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carga supervisionada</c:v>
                </c:pt>
              </c:strCache>
            </c:strRef>
          </c:tx>
          <c:spPr>
            <a:ln w="28575">
              <a:solidFill>
                <a:srgbClr val="123C67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00h</c:v>
                </c:pt>
                <c:pt idx="1">
                  <c:v>01h</c:v>
                </c:pt>
                <c:pt idx="2">
                  <c:v>02h</c:v>
                </c:pt>
                <c:pt idx="3">
                  <c:v>03h</c:v>
                </c:pt>
                <c:pt idx="4">
                  <c:v>04h</c:v>
                </c:pt>
                <c:pt idx="5">
                  <c:v>05h</c:v>
                </c:pt>
                <c:pt idx="6">
                  <c:v>06h</c:v>
                </c:pt>
                <c:pt idx="7">
                  <c:v>07h</c:v>
                </c:pt>
                <c:pt idx="8">
                  <c:v>08h</c:v>
                </c:pt>
                <c:pt idx="9">
                  <c:v>09h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14012.6</c:v>
                </c:pt>
                <c:pt idx="1">
                  <c:v>13615.6</c:v>
                </c:pt>
                <c:pt idx="2">
                  <c:v>13309.2</c:v>
                </c:pt>
                <c:pt idx="3">
                  <c:v>13078.8</c:v>
                </c:pt>
                <c:pt idx="4">
                  <c:v>12941.6</c:v>
                </c:pt>
                <c:pt idx="5">
                  <c:v>12648.1</c:v>
                </c:pt>
                <c:pt idx="6">
                  <c:v>12296.6</c:v>
                </c:pt>
                <c:pt idx="7">
                  <c:v>12261.8</c:v>
                </c:pt>
                <c:pt idx="8">
                  <c:v>12468.7</c:v>
                </c:pt>
                <c:pt idx="9">
                  <c:v>12497.9</c:v>
                </c:pt>
                <c:pt idx="10">
                  <c:v>12628.8</c:v>
                </c:pt>
                <c:pt idx="11">
                  <c:v>12627.6</c:v>
                </c:pt>
                <c:pt idx="12">
                  <c:v>12312.5</c:v>
                </c:pt>
                <c:pt idx="13">
                  <c:v>12462.7</c:v>
                </c:pt>
                <c:pt idx="14">
                  <c:v>12813.6</c:v>
                </c:pt>
                <c:pt idx="15">
                  <c:v>13180.4</c:v>
                </c:pt>
                <c:pt idx="16">
                  <c:v>13701.1</c:v>
                </c:pt>
                <c:pt idx="17">
                  <c:v>14202.3</c:v>
                </c:pt>
                <c:pt idx="18">
                  <c:v>14887.4</c:v>
                </c:pt>
                <c:pt idx="19">
                  <c:v>14766.9</c:v>
                </c:pt>
                <c:pt idx="20">
                  <c:v>14642.6</c:v>
                </c:pt>
                <c:pt idx="21">
                  <c:v>14920.8</c:v>
                </c:pt>
                <c:pt idx="22">
                  <c:v>14875.1</c:v>
                </c:pt>
                <c:pt idx="23">
                  <c:v>14495.2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carga líquida (− eólica e solar centralizadas)</c:v>
                </c:pt>
              </c:strCache>
            </c:strRef>
          </c:tx>
          <c:spPr>
            <a:ln w="31750">
              <a:solidFill>
                <a:srgbClr val="0E8B7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00h</c:v>
                </c:pt>
                <c:pt idx="1">
                  <c:v>01h</c:v>
                </c:pt>
                <c:pt idx="2">
                  <c:v>02h</c:v>
                </c:pt>
                <c:pt idx="3">
                  <c:v>03h</c:v>
                </c:pt>
                <c:pt idx="4">
                  <c:v>04h</c:v>
                </c:pt>
                <c:pt idx="5">
                  <c:v>05h</c:v>
                </c:pt>
                <c:pt idx="6">
                  <c:v>06h</c:v>
                </c:pt>
                <c:pt idx="7">
                  <c:v>07h</c:v>
                </c:pt>
                <c:pt idx="8">
                  <c:v>08h</c:v>
                </c:pt>
                <c:pt idx="9">
                  <c:v>09h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-1506.8</c:v>
                </c:pt>
                <c:pt idx="1">
                  <c:v>-1798.2</c:v>
                </c:pt>
                <c:pt idx="2">
                  <c:v>-1941.7</c:v>
                </c:pt>
                <c:pt idx="3">
                  <c:v>-1983.9</c:v>
                </c:pt>
                <c:pt idx="4">
                  <c:v>-1955.3</c:v>
                </c:pt>
                <c:pt idx="5">
                  <c:v>-2273.1</c:v>
                </c:pt>
                <c:pt idx="6">
                  <c:v>-3919.8</c:v>
                </c:pt>
                <c:pt idx="7">
                  <c:v>-5358.2</c:v>
                </c:pt>
                <c:pt idx="8">
                  <c:v>-5324.9</c:v>
                </c:pt>
                <c:pt idx="9">
                  <c:v>-4551.1</c:v>
                </c:pt>
                <c:pt idx="10">
                  <c:v>-3743.2</c:v>
                </c:pt>
                <c:pt idx="11">
                  <c:v>-3288.3</c:v>
                </c:pt>
                <c:pt idx="12">
                  <c:v>-2801.2</c:v>
                </c:pt>
                <c:pt idx="13">
                  <c:v>-2805.4</c:v>
                </c:pt>
                <c:pt idx="14">
                  <c:v>-2721.3</c:v>
                </c:pt>
                <c:pt idx="15">
                  <c:v>-2093.0</c:v>
                </c:pt>
                <c:pt idx="16">
                  <c:v>24.9</c:v>
                </c:pt>
                <c:pt idx="17">
                  <c:v>2314.8</c:v>
                </c:pt>
                <c:pt idx="18">
                  <c:v>2211.8</c:v>
                </c:pt>
                <c:pt idx="19">
                  <c:v>1005.2</c:v>
                </c:pt>
                <c:pt idx="20">
                  <c:v>251.4</c:v>
                </c:pt>
                <c:pt idx="21">
                  <c:v>29.8</c:v>
                </c:pt>
                <c:pt idx="22">
                  <c:v>-396.7</c:v>
                </c:pt>
                <c:pt idx="23">
                  <c:v>-980.6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corte apurado</c:v>
                </c:pt>
              </c:strCache>
            </c:strRef>
          </c:tx>
          <c:spPr>
            <a:ln w="38100">
              <a:solidFill>
                <a:srgbClr val="E85C5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00h</c:v>
                </c:pt>
                <c:pt idx="1">
                  <c:v>01h</c:v>
                </c:pt>
                <c:pt idx="2">
                  <c:v>02h</c:v>
                </c:pt>
                <c:pt idx="3">
                  <c:v>03h</c:v>
                </c:pt>
                <c:pt idx="4">
                  <c:v>04h</c:v>
                </c:pt>
                <c:pt idx="5">
                  <c:v>05h</c:v>
                </c:pt>
                <c:pt idx="6">
                  <c:v>06h</c:v>
                </c:pt>
                <c:pt idx="7">
                  <c:v>07h</c:v>
                </c:pt>
                <c:pt idx="8">
                  <c:v>08h</c:v>
                </c:pt>
                <c:pt idx="9">
                  <c:v>09h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1320.4</c:v>
                </c:pt>
                <c:pt idx="1">
                  <c:v>1205.4</c:v>
                </c:pt>
                <c:pt idx="2">
                  <c:v>1138.9</c:v>
                </c:pt>
                <c:pt idx="3">
                  <c:v>1058.9</c:v>
                </c:pt>
                <c:pt idx="4">
                  <c:v>989.2</c:v>
                </c:pt>
                <c:pt idx="5">
                  <c:v>1126.7</c:v>
                </c:pt>
                <c:pt idx="6">
                  <c:v>2587.1</c:v>
                </c:pt>
                <c:pt idx="7">
                  <c:v>6010.4</c:v>
                </c:pt>
                <c:pt idx="8">
                  <c:v>8704.2</c:v>
                </c:pt>
                <c:pt idx="9">
                  <c:v>10259.1</c:v>
                </c:pt>
                <c:pt idx="10">
                  <c:v>10464.8</c:v>
                </c:pt>
                <c:pt idx="11">
                  <c:v>9781.4</c:v>
                </c:pt>
                <c:pt idx="12">
                  <c:v>9288.9</c:v>
                </c:pt>
                <c:pt idx="13">
                  <c:v>7834.7</c:v>
                </c:pt>
                <c:pt idx="14">
                  <c:v>6052.1</c:v>
                </c:pt>
                <c:pt idx="15">
                  <c:v>4494.4</c:v>
                </c:pt>
                <c:pt idx="16">
                  <c:v>2777.2</c:v>
                </c:pt>
                <c:pt idx="17">
                  <c:v>1273.0</c:v>
                </c:pt>
                <c:pt idx="18">
                  <c:v>943.1</c:v>
                </c:pt>
                <c:pt idx="19">
                  <c:v>1276.0</c:v>
                </c:pt>
                <c:pt idx="20">
                  <c:v>1632.9</c:v>
                </c:pt>
                <c:pt idx="21">
                  <c:v>1719.2</c:v>
                </c:pt>
                <c:pt idx="22">
                  <c:v>1628.6</c:v>
                </c:pt>
                <c:pt idx="23">
                  <c:v>1480.5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D7E5"/>
            </a:solidFill>
          </a:ln>
        </c:spPr>
        <c:txPr>
          <a:bodyPr/>
          <a:lstStyle/>
          <a:p>
            <a:pPr>
              <a:defRPr sz="800">
                <a:solidFill>
                  <a:srgbClr val="52667C"/>
                </a:solidFill>
                <a:latin typeface="DejaVu 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AF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667C"/>
                </a:solidFill>
                <a:latin typeface="DejaVu Sa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DejaVu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 h</c:v>
                </c:pt>
              </c:strCache>
            </c:strRef>
          </c:tx>
          <c:spPr>
            <a:ln w="25400">
              <a:solidFill>
                <a:srgbClr val="0E8B7E"/>
              </a:solidFill>
            </a:ln>
          </c:spPr>
          <c:marker>
            <c:spPr>
              <a:solidFill>
                <a:srgbClr val="0E8B7E"/>
              </a:solidFill>
              <a:ln>
                <a:solidFill>
                  <a:srgbClr val="0E8B7E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50.0</c:v>
                </c:pt>
                <c:pt idx="1">
                  <c:v>100.0</c:v>
                </c:pt>
                <c:pt idx="2">
                  <c:v>200.0</c:v>
                </c:pt>
                <c:pt idx="3">
                  <c:v>400.0</c:v>
                </c:pt>
                <c:pt idx="4">
                  <c:v>600.0</c:v>
                </c:pt>
                <c:pt idx="5">
                  <c:v>1000.0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14.5</c:v>
                </c:pt>
                <c:pt idx="1">
                  <c:v>29.0</c:v>
                </c:pt>
                <c:pt idx="2">
                  <c:v>57.8</c:v>
                </c:pt>
                <c:pt idx="3">
                  <c:v>114.4</c:v>
                </c:pt>
                <c:pt idx="4">
                  <c:v>169.1</c:v>
                </c:pt>
                <c:pt idx="5">
                  <c:v>272.1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4 h</c:v>
                </c:pt>
              </c:strCache>
            </c:strRef>
          </c:tx>
          <c:spPr>
            <a:ln w="25400">
              <a:solidFill>
                <a:srgbClr val="D8690E"/>
              </a:solidFill>
            </a:ln>
          </c:spPr>
          <c:marker>
            <c:spPr>
              <a:solidFill>
                <a:srgbClr val="D8690E"/>
              </a:solidFill>
              <a:ln>
                <a:solidFill>
                  <a:srgbClr val="D8690E"/>
                </a:solidFill>
              </a:ln>
            </c:spPr>
          </c:marker>
          <c:xVal>
            <c:numRef>
              <c:f>Sheet1!$A$10:$A$15</c:f>
              <c:numCache>
                <c:formatCode>General</c:formatCode>
                <c:ptCount val="6"/>
                <c:pt idx="0">
                  <c:v>100.0</c:v>
                </c:pt>
                <c:pt idx="1">
                  <c:v>200.0</c:v>
                </c:pt>
                <c:pt idx="2">
                  <c:v>400.0</c:v>
                </c:pt>
                <c:pt idx="3">
                  <c:v>800.0</c:v>
                </c:pt>
                <c:pt idx="4">
                  <c:v>1200.0</c:v>
                </c:pt>
                <c:pt idx="5">
                  <c:v>2000.0</c:v>
                </c:pt>
              </c:numCache>
            </c:numRef>
          </c:xVal>
          <c:yVal>
            <c:numRef>
              <c:f>Sheet1!$B$10:$B$15</c:f>
              <c:numCache>
                <c:formatCode>General</c:formatCode>
                <c:ptCount val="6"/>
                <c:pt idx="0">
                  <c:v>28.6</c:v>
                </c:pt>
                <c:pt idx="1">
                  <c:v>56.9</c:v>
                </c:pt>
                <c:pt idx="2">
                  <c:v>112.4</c:v>
                </c:pt>
                <c:pt idx="3">
                  <c:v>218.9</c:v>
                </c:pt>
                <c:pt idx="4">
                  <c:v>318.4</c:v>
                </c:pt>
                <c:pt idx="5">
                  <c:v>501.3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Sheet1!$B$17</c:f>
              <c:strCache>
                <c:ptCount val="1"/>
                <c:pt idx="0">
                  <c:v>6 h</c:v>
                </c:pt>
              </c:strCache>
            </c:strRef>
          </c:tx>
          <c:spPr>
            <a:ln w="25400">
              <a:solidFill>
                <a:srgbClr val="123C67"/>
              </a:solidFill>
            </a:ln>
          </c:spPr>
          <c:marker>
            <c:spPr>
              <a:solidFill>
                <a:srgbClr val="123C67"/>
              </a:solidFill>
              <a:ln>
                <a:solidFill>
                  <a:srgbClr val="123C67"/>
                </a:solidFill>
              </a:ln>
            </c:spPr>
          </c:marker>
          <c:xVal>
            <c:numRef>
              <c:f>Sheet1!$A$18:$A$23</c:f>
              <c:numCache>
                <c:formatCode>General</c:formatCode>
                <c:ptCount val="6"/>
                <c:pt idx="0">
                  <c:v>150.0</c:v>
                </c:pt>
                <c:pt idx="1">
                  <c:v>300.0</c:v>
                </c:pt>
                <c:pt idx="2">
                  <c:v>600.0</c:v>
                </c:pt>
                <c:pt idx="3">
                  <c:v>1200.0</c:v>
                </c:pt>
                <c:pt idx="4">
                  <c:v>1800.0</c:v>
                </c:pt>
                <c:pt idx="5">
                  <c:v>3000.0</c:v>
                </c:pt>
              </c:numCache>
            </c:numRef>
          </c:xVal>
          <c:yVal>
            <c:numRef>
              <c:f>Sheet1!$B$18:$B$23</c:f>
              <c:numCache>
                <c:formatCode>General</c:formatCode>
                <c:ptCount val="6"/>
                <c:pt idx="0">
                  <c:v>41.2</c:v>
                </c:pt>
                <c:pt idx="1">
                  <c:v>81.7</c:v>
                </c:pt>
                <c:pt idx="2">
                  <c:v>160.4</c:v>
                </c:pt>
                <c:pt idx="3">
                  <c:v>308.6</c:v>
                </c:pt>
                <c:pt idx="4">
                  <c:v>443.8</c:v>
                </c:pt>
                <c:pt idx="5">
                  <c:v>675.0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C9D7E5"/>
            </a:solidFill>
          </a:ln>
        </c:spPr>
        <c:txPr>
          <a:bodyPr/>
          <a:lstStyle/>
          <a:p>
            <a:pPr>
              <a:defRPr sz="900">
                <a:solidFill>
                  <a:srgbClr val="52667C"/>
                </a:solidFill>
                <a:latin typeface="DejaVu San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E3EAF2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667C"/>
                </a:solidFill>
                <a:latin typeface="DejaVu Sans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DejaVu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Seção nova: apoio à decisão de investimento em armazenamento. O corte acontece nas eólicas e fotovoltaicas centralizadas; a MMGD entra como causa sistêmica do excedente.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painel de excedentes antecipa, prioriza e coordena. Esta seção acrescenta o quarto passo: onde investir para que o corte deixe de ocorrer.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Mais de 40 TWh por ano deixam de ser gerados. Dois terços por razão energética: há geração, falta onde colocá-la.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carga líquida do Nordeste fica negativa: a energia precisa sair pelos intercâmbios. Quando não cabe, vira corte. A MMGD reduz a carga no SIN inteiro e agrava esse excedente.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primeira versão misturava as duas teses: pontuava a MMGD vizinha ao sítio de geração. A MMGD perto de uma usina não a torna mais cortada.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atribuição à MMGD é feita no SIN porque a razão energética é um balanço do sistema: a energia circula pelos intercâmbios.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topo, corte grande e recorrente. A coluna da direita mostra quanto de cada corte é excedente sistêmico criado pela MMGD.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escolhido por ilustrar a tese da curva do pato: fotovoltaica, corte ao meio-dia, a maior fração de excedente da MMGD entre os cinco primeiros.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diferença entre os cenários é o ponto: mostra que a tese de investimento muda a resposta, e deixa a escolha explícita.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o corte vira um mapa de onde investir em flexibilidade, com a causa de cada parte dele explicada.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9A140C6-82B2-44F3-8619-E87850C51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762750" cy="6858000"/>
          </a:xfrm>
          <a:prstGeom prst="rect">
            <a:avLst/>
          </a:prstGeom>
          <a:gradFill>
            <a:gsLst>
              <a:gs pos="0">
                <a:srgbClr val="041427">
                  <a:alpha val="100000"/>
                </a:srgbClr>
              </a:gs>
              <a:gs pos="70000">
                <a:srgbClr val="041427">
                  <a:alpha val="94000"/>
                </a:srgbClr>
              </a:gs>
              <a:gs pos="100000">
                <a:srgbClr val="041427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E680C6A-ADDF-4C85-98F6-23985592E2E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28956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NOVA SEÇÃO DO PROTÓTIPO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CEF8A1-6556-4F4B-AB72-E4FD1F85DA1C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Alocação de BESS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3BE4C1-0098-45C4-901C-DEE3A06F746D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5619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Onde o armazenamento recupera mais energia cortada das usinas centralizadas</a:t>
            </a:r>
            <a:endParaRPr sz="1875" b="1" i="0" dirty="0">
              <a:solidFill>
                <a:srgbClr val="D9F6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D70B0BA0-AAB5-4672-A67E-0F1F586B86DC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4000500" cy="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E64611-3292-495D-8728-B1D0A619B5DE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92" lnSpcReduction="10000"/>
          </a:bodyPr>
          <a:lstStyle/>
          <a:p>
            <a:pPr algn="l">
              <a:lnSpc>
                <a:spcPct val="106000"/>
              </a:lnSpc>
              <a:buNone/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 quanto desse corte é excedente que a MMGD cria na curva do pato</a:t>
            </a:r>
            <a:endParaRPr sz="225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3C4A2A-E31E-4BC4-AEC8-05AAACCE4C05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  ·  Eixo 2 · Excedentes e flexibilidade  ·  apoiado no Eixo 1</a:t>
            </a:r>
            <a:endParaRPr sz="1125" b="0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1025733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ONDE SE ENCAIXA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Eixo 2, com a MMGD do Eixo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A seção transforma o registro do corte das usinas centralizadas em uma decisão de investimento em armazenamento.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57400"/>
            <a:ext cx="5989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30936" y="2057400"/>
            <a:ext cx="5989320" cy="548640"/>
          </a:xfrm>
          <a:prstGeom prst="roundRect">
            <a:avLst>
              <a:gd name="adj" fmla="val 30000"/>
            </a:avLst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205740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DejaVu Sans"/>
              </a:rPr>
              <a:t>EIXO 2 · INTERFACE ONS–DSO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217627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50" b="1">
                <a:solidFill>
                  <a:srgbClr val="123C67"/>
                </a:solidFill>
                <a:latin typeface="DejaVu Sans"/>
              </a:rPr>
              <a:t>EIXO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88920"/>
            <a:ext cx="5440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35808"/>
            <a:ext cx="5440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061B33"/>
                </a:solidFill>
                <a:latin typeface="DejaVu Sans"/>
              </a:rPr>
              <a:t>Indicar onde o armazenamento recupera mais energia cortada das eólicas e fotovoltaicas centralizadas.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767328"/>
            <a:ext cx="5440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86784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667C"/>
                </a:solidFill>
                <a:latin typeface="DejaVu Sans"/>
              </a:rPr>
              <a:t>Ranking de subestações de conexão, com BESS dimensionado e energia recuperável por ano em cada uma.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4590288"/>
            <a:ext cx="5440680" cy="36576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75" b="1">
                <a:solidFill>
                  <a:srgbClr val="FFFFFF"/>
                </a:solidFill>
                <a:latin typeface="DejaVu Sans"/>
              </a:rPr>
              <a:t>COORDENAÇÃO · FLEXIBILIDADE · EXCEDENTES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057400"/>
            <a:ext cx="4663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903720" y="2057400"/>
            <a:ext cx="4663440" cy="548640"/>
          </a:xfrm>
          <a:prstGeom prst="roundRect">
            <a:avLst>
              <a:gd name="adj" fmla="val 30000"/>
            </a:avLst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0" y="2057400"/>
            <a:ext cx="32918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DejaVu Sans"/>
              </a:rPr>
              <a:t>EIXO 1 · CARGA E MMGD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311" y="21762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50" b="1">
                <a:solidFill>
                  <a:srgbClr val="D8690E"/>
                </a:solidFill>
                <a:latin typeface="DejaVu Sans"/>
              </a:rPr>
              <a:t>APOIO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88920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35808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061B33"/>
                </a:solidFill>
                <a:latin typeface="DejaVu Sans"/>
              </a:rPr>
              <a:t>Medir quanto do corte é excedente criado pela MMGD.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67328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867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667C"/>
                </a:solidFill>
                <a:latin typeface="DejaVu Sans"/>
              </a:rPr>
              <a:t>A MMGD estimada por hora explica a parte sistêmica do corte (ENE+SIS).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4590288"/>
            <a:ext cx="4114800" cy="36576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75" b="1">
                <a:solidFill>
                  <a:srgbClr val="FFFFFF"/>
                </a:solidFill>
                <a:latin typeface="DejaVu Sans"/>
              </a:rPr>
              <a:t>MMGD → CURVA DO PATO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542239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NO PAINEL DE EXCEDENTES</a:t>
            </a:r>
          </a:p>
          <a:p>
            <a:pPr algn="l"/>
            <a:r>
              <a:rPr sz="975" b="0" i="0">
                <a:solidFill>
                  <a:srgbClr val="52667C"/>
                </a:solidFill>
                <a:latin typeface="DejaVu Sans"/>
              </a:rPr>
              <a:t>do slide 07 do pitch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5394960"/>
            <a:ext cx="1874519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19272" y="5394960"/>
            <a:ext cx="17282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52667C"/>
                </a:solidFill>
                <a:latin typeface="DejaVu Sans"/>
              </a:rPr>
              <a:t>1  </a:t>
            </a:r>
            <a:r>
              <a:rPr sz="1000" b="0" i="0">
                <a:solidFill>
                  <a:srgbClr val="52667C"/>
                </a:solidFill>
                <a:latin typeface="DejaVu Sans"/>
              </a:rPr>
              <a:t>Antecipar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20640" y="5678424"/>
            <a:ext cx="228600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49240" y="5394960"/>
            <a:ext cx="1874519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22392" y="5394960"/>
            <a:ext cx="17282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52667C"/>
                </a:solidFill>
                <a:latin typeface="DejaVu Sans"/>
              </a:rPr>
              <a:t>2  </a:t>
            </a:r>
            <a:r>
              <a:rPr sz="1000" b="0" i="0">
                <a:solidFill>
                  <a:srgbClr val="52667C"/>
                </a:solidFill>
                <a:latin typeface="DejaVu Sans"/>
              </a:rPr>
              <a:t>Priorizar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23759" y="5678424"/>
            <a:ext cx="228600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52359" y="5394960"/>
            <a:ext cx="1874519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25511" y="5394960"/>
            <a:ext cx="17282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52667C"/>
                </a:solidFill>
                <a:latin typeface="DejaVu Sans"/>
              </a:rPr>
              <a:t>3  </a:t>
            </a:r>
            <a:r>
              <a:rPr sz="1000" b="0" i="0">
                <a:solidFill>
                  <a:srgbClr val="52667C"/>
                </a:solidFill>
                <a:latin typeface="DejaVu Sans"/>
              </a:rPr>
              <a:t>Coordenar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5678424"/>
            <a:ext cx="228600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55480" y="5394960"/>
            <a:ext cx="1874519" cy="566928"/>
          </a:xfrm>
          <a:prstGeom prst="roundRect">
            <a:avLst>
              <a:gd name="adj" fmla="val 18000"/>
            </a:avLst>
          </a:prstGeom>
          <a:solidFill>
            <a:srgbClr val="E6F5F2"/>
          </a:solidFill>
          <a:ln w="19050">
            <a:solidFill>
              <a:srgbClr val="0E8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28632" y="5394960"/>
            <a:ext cx="17282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8B7E"/>
                </a:solidFill>
                <a:latin typeface="DejaVu Sans"/>
              </a:rPr>
              <a:t>4  </a:t>
            </a:r>
            <a:r>
              <a:rPr sz="1000" b="1" i="0">
                <a:solidFill>
                  <a:srgbClr val="061B33"/>
                </a:solidFill>
                <a:latin typeface="DejaVu Sans"/>
              </a:rPr>
              <a:t>Investir · nova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Aderência: Projeto Interface ONS/DSO e gestão de excedentes — PAR/PEL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O PROBLEMA EM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41,3 TWh cortados em 12 meses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Constrained-off apurado pelo ONS, fotovoltaico e eólico, de 09/2025 a 08/2026.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1463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85C5C"/>
                </a:solidFill>
                <a:latin typeface="DejaVu Sans"/>
              </a:rPr>
              <a:t>41,3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23113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TWh/ano cortados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57860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FV + eólica · 101 sítios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3154679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227832"/>
            <a:ext cx="1463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D8690E"/>
                </a:solidFill>
                <a:latin typeface="DejaVu Sans"/>
              </a:rPr>
              <a:t>64%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28269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por razão energética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63016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excedente, não falha de rede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42062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1463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23C67"/>
                </a:solidFill>
                <a:latin typeface="DejaVu Sans"/>
              </a:rPr>
              <a:t>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334255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em 10 subestações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681727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o corte é concentrado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525780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330952"/>
            <a:ext cx="1463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8B7E"/>
                </a:solidFill>
                <a:latin typeface="DejaVu Sans"/>
              </a:rPr>
              <a:t>83%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38581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de origem sistêmica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73328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LOC: 17%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2103120"/>
            <a:ext cx="731520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80560" y="221284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2667C"/>
                </a:solidFill>
                <a:latin typeface="DejaVu Sans"/>
              </a:rPr>
              <a:t>CORTE MENSAL · TWh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2487168"/>
          <a:ext cx="704088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Fonte: ONS — restricao_coff_fotovoltaica e restricao_coff_eolica_usi, campo val_geracaonaorealizadaapurada.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ONDE ESTÁ O CORTE, E ONDE ESTÁ A MMGD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A MMGD não é cortada: ela cria o excedente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O corte é nas eólicas e fotovoltaicas centralizadas. A MMGD reduz a carga líquida ao meio-dia e aprofunda a barriga da curva do pato.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704088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2667C"/>
                </a:solidFill>
                <a:latin typeface="DejaVu Sans"/>
              </a:rPr>
              <a:t>CURVA DO PATO · NORDESTE · MW MÉDIO POR HORA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487168"/>
          <a:ext cx="67665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21031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065008" y="2377439"/>
            <a:ext cx="365760" cy="365760"/>
          </a:xfrm>
          <a:prstGeom prst="ellipse">
            <a:avLst/>
          </a:prstGeom>
          <a:solidFill>
            <a:srgbClr val="E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21284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O corte é na geração centralizada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532887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5" b="0" i="0">
                <a:solidFill>
                  <a:srgbClr val="52667C"/>
                </a:solidFill>
                <a:latin typeface="DejaVu Sans"/>
              </a:rPr>
              <a:t>o corte médio no Nordeste chega a 10,5 GW às 10h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136391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8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065008" y="3410711"/>
            <a:ext cx="365760" cy="365760"/>
          </a:xfrm>
          <a:prstGeom prst="ellipse">
            <a:avLst/>
          </a:prstGeom>
          <a:solidFill>
            <a:srgbClr val="0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24612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Carga líquida negativa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56615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5" b="0" i="0">
                <a:solidFill>
                  <a:srgbClr val="52667C"/>
                </a:solidFill>
                <a:latin typeface="DejaVu Sans"/>
              </a:rPr>
              <a:t>eólica e solar centralizadas superam a carga do NE: mínimo de -5,4 GW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169663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065008" y="4443983"/>
            <a:ext cx="365760" cy="365760"/>
          </a:xfrm>
          <a:prstGeom prst="ellipse">
            <a:avLst/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427939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A MMGD aprofunda o vale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4599431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5" b="0" i="0">
                <a:solidFill>
                  <a:srgbClr val="52667C"/>
                </a:solidFill>
                <a:latin typeface="DejaVu Sans"/>
              </a:rPr>
              <a:t>atende carga ao meio-dia e tira espaço da geração centralizada no SIN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5202936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23C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065008" y="5477255"/>
            <a:ext cx="365760" cy="365760"/>
          </a:xfrm>
          <a:prstGeom prst="ellipse">
            <a:avLst/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5312664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A MMGD vizinha não escolhe o sítio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5632703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25" b="0" i="0">
                <a:solidFill>
                  <a:srgbClr val="52667C"/>
                </a:solidFill>
                <a:latin typeface="DejaVu Sans"/>
              </a:rPr>
              <a:t>proximidade de MMGD não faz uma usina ser mais cortada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Perfil médio horário na janela do corte. Carga supervisionada e geração: balanço de energia do ONS. MMGD: estimativa do O.R.A.C.U.L.O. (piso).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DUAS TESES DE INVESTIMENTO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Geração cortada ou carga com MMGD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O armazenamento pode ir para onde o corte acontece ou para onde a MMGD mais pesa. São decisões diferentes, e a ferramenta mostra as duas.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55778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C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30936" y="2103120"/>
            <a:ext cx="5577840" cy="548640"/>
          </a:xfrm>
          <a:prstGeom prst="roundRect">
            <a:avLst>
              <a:gd name="adj" fmla="val 30000"/>
            </a:avLst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DejaVu Sans"/>
              </a:rPr>
              <a:t>TESE 1 · BESS JUNTO À GERAÇÃO CORTADA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C67"/>
                </a:solidFill>
                <a:latin typeface="DejaVu Sans"/>
              </a:rPr>
              <a:t>ONDE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SE de conexão das eólicas e fotovoltaicas cortadas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C67"/>
                </a:solidFill>
                <a:latin typeface="DejaVu Sans"/>
              </a:rPr>
              <a:t>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95344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recupera o corte da usina e devolve na rampa do fim da tarde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C67"/>
                </a:solidFill>
                <a:latin typeface="DejaVu Sans"/>
              </a:rPr>
              <a:t>MMGD ENTRA COMO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00016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fração do corte do sítio que o excedente criado pela MMGD explica (ENE+SIS na curva do pato)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4865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C67"/>
                </a:solidFill>
                <a:latin typeface="DejaVu Sans"/>
              </a:rPr>
              <a:t>NA FERRAMENTA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o ranking, com BESS dimensionado e energia recuperável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03120"/>
            <a:ext cx="516636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5166360" cy="548640"/>
          </a:xfrm>
          <a:prstGeom prst="roundRect">
            <a:avLst>
              <a:gd name="adj" fmla="val 30000"/>
            </a:avLst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29400" y="210312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DejaVu Sans"/>
              </a:rPr>
              <a:t>TESE 2 · BESS JUNTO À CARGA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889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61B33"/>
                </a:solidFill>
                <a:latin typeface="DejaVu Sans"/>
              </a:rPr>
              <a:t>Achata a curva do pato na origem e suaviza a rampa; não recupera o corte de uma usina específica.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3101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8690E"/>
                </a:solidFill>
                <a:latin typeface="DejaVu Sans"/>
              </a:rPr>
              <a:t>MAIOR MMGD SOBRE A CARGA · SE DE FRONTEIRA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629400" y="3584448"/>
          <a:ext cx="4709160" cy="20848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D8690E"/>
                          </a:solidFill>
                          <a:latin typeface="DejaVu Sans"/>
                        </a:rPr>
                        <a:t>SE de fronteira</a:t>
                      </a:r>
                    </a:p>
                  </a:txBody>
                  <a:tcPr marL="45720" marR="45720" anchor="ctr"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D8690E"/>
                          </a:solidFill>
                          <a:latin typeface="DejaVu Sans"/>
                        </a:rPr>
                        <a:t>MMGD MW</a:t>
                      </a:r>
                    </a:p>
                  </a:txBody>
                  <a:tcPr marL="45720" marR="45720" anchor="ctr"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D8690E"/>
                          </a:solidFill>
                          <a:latin typeface="DejaVu Sans"/>
                        </a:rPr>
                        <a:t>carga MW</a:t>
                      </a:r>
                    </a:p>
                  </a:txBody>
                  <a:tcPr marL="45720" marR="45720" anchor="ctr"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D8690E"/>
                          </a:solidFill>
                          <a:latin typeface="DejaVu Sans"/>
                        </a:rPr>
                        <a:t>MMGD ÷ carga</a:t>
                      </a:r>
                    </a:p>
                  </a:txBody>
                  <a:tcPr marL="45720" marR="45720" anchor="ctr">
                    <a:solidFill>
                      <a:srgbClr val="FFF0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F.Iguacunorte (PR)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444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68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6,49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Realeza Sul (PR)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226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5,27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Umuarama Sul (PR)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375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80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4,68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Paranavai Nor (PR)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254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4,58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Guaira (PR)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598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131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4,57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629400" y="5760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2667C"/>
                </a:solidFill>
                <a:latin typeface="DejaVu Sans"/>
              </a:rPr>
              <a:t>Oeste do Paraná: longe de onde o corte acontece — a MMGD não está onde o corte está.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Tese 2: MW de MMGD instalada ÷ MW médio de carga por SE de fronteira (seção Fronteira T–D).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Do registro do corte à decisão de investimento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Cinco etapas, todas sobre dado aberto e reproduzíveis a cada mês.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23C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" y="2231136"/>
            <a:ext cx="347472" cy="347472"/>
          </a:xfrm>
          <a:prstGeom prst="ellipse">
            <a:avLst/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Corte por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ONS · 12 meses · 30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52928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8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2999232" y="2231136"/>
            <a:ext cx="347472" cy="347472"/>
          </a:xfrm>
          <a:prstGeom prst="ellipse">
            <a:avLst/>
          </a:prstGeom>
          <a:solidFill>
            <a:srgbClr val="0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Ponto → 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código ONS · SIGA/ANEEL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554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221224" y="2231136"/>
            <a:ext cx="347472" cy="347472"/>
          </a:xfrm>
          <a:prstGeom prst="ellipse">
            <a:avLst/>
          </a:prstGeom>
          <a:solidFill>
            <a:srgbClr val="35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BESS simulado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carga no corte · 1 ciclo/dia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50024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96912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43216" y="2231136"/>
            <a:ext cx="347472" cy="347472"/>
          </a:xfrm>
          <a:prstGeom prst="ellipse">
            <a:avLst/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Excedente da MMGD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ENE+SIS × MMGD do SIN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72016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18904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665208" y="2231136"/>
            <a:ext cx="347472" cy="347472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Pontuação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pesos ajustáveis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" y="3703320"/>
            <a:ext cx="5852160" cy="2514600"/>
          </a:xfrm>
          <a:prstGeom prst="roundRect">
            <a:avLst>
              <a:gd name="adj" fmla="val 7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3813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0E8B7E"/>
                </a:solidFill>
                <a:latin typeface="DejaVu Sans"/>
              </a:rPr>
              <a:t>BESS E EXCEDENTE DA MMGD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087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B33"/>
                </a:solidFill>
                <a:latin typeface="DejaVu Sans"/>
              </a:rPr>
              <a:t>absorvido = mín( E ; Σ mín(corte, P) × 0,5 h 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4531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1B33"/>
                </a:solidFill>
                <a:latin typeface="DejaVu Sans"/>
              </a:rPr>
              <a:t>induzido(t) = mín( corte ENE+SIS do SIN ; MMGD do SIN 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92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061B33"/>
                </a:solidFill>
                <a:latin typeface="DejaVu Sans"/>
              </a:rPr>
              <a:t>Um ciclo por dia, eficiência de 88%; o tamanho sobe enquanto o MWh ADICIONAL cicla ≥ 200 vezes/ano.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061B33"/>
                </a:solidFill>
                <a:latin typeface="DejaVu Sans"/>
              </a:rPr>
              <a:t>Sem a MMGD, a carga líquida seria maior nessa quantidade: é um LIMITE SUPERIOR, rateado entre os sítios. Corte local e de confiabilidade não entram.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703320"/>
            <a:ext cx="489204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903720" y="381304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2667C"/>
                </a:solidFill>
                <a:latin typeface="DejaVu Sans"/>
              </a:rPr>
              <a:t>PONTUAÇÃO · PESOS PADRÃO, AJUSTÁVEIS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16052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Energia recuperável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38912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2667C"/>
                </a:solidFill>
                <a:latin typeface="DejaVu Sans"/>
              </a:rPr>
              <a:t>GWh/ano do BESS dimensionado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251959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235440" y="4251959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0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1018520" y="4178807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66344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Excedente da MMGD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89204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2667C"/>
                </a:solidFill>
                <a:latin typeface="DejaVu Sans"/>
              </a:rPr>
              <a:t>fração do corte ENE+SIS atribuível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4754879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9235440" y="4754879"/>
            <a:ext cx="772160" cy="201168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1018520" y="4681727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20%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16636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Recorrência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39496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2667C"/>
                </a:solidFill>
                <a:latin typeface="DejaVu Sans"/>
              </a:rPr>
              <a:t>dias com corte na janela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5440" y="5257800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9235440" y="5257800"/>
            <a:ext cx="772160" cy="201168"/>
          </a:xfrm>
          <a:prstGeom prst="roundRect">
            <a:avLst>
              <a:gd name="adj" fmla="val 50000"/>
            </a:avLst>
          </a:prstGeom>
          <a:solidFill>
            <a:srgbClr val="7B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018520" y="518464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566928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Restrição local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897880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2667C"/>
                </a:solidFill>
                <a:latin typeface="DejaVu Sans"/>
              </a:rPr>
              <a:t>corte de origem LOC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5760720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9235440" y="5760720"/>
            <a:ext cx="579120" cy="20116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1018520" y="568756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15%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Excedente da MMGD e restrição local são quase complementares: expressam as duas naturezas do corte. Premissas em config.BESS.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PROTÓTIPO FUNCIONAL · DADOS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O corte tem endereço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97,4% da energia cortada localizada; o top 10 está no Nordeste e no norte de Minas, onde as usinas centralizadas se concentram.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84831"/>
            <a:ext cx="4197096" cy="3997726"/>
          </a:xfrm>
          <a:prstGeom prst="roundRect">
            <a:avLst>
              <a:gd name="adj" fmla="val 3000"/>
            </a:avLst>
          </a:prstGeom>
          <a:solidFill>
            <a:srgbClr val="0B1020"/>
          </a:solidFill>
          <a:ln w="15875">
            <a:solidFill>
              <a:srgbClr val="22C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p_bess_map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03120"/>
            <a:ext cx="4160520" cy="3961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" y="6128278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Tela do protótipo · Investimento › Alocação de BESS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74920" y="2084831"/>
          <a:ext cx="6446520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"/>
                <a:gridCol w="1783080"/>
                <a:gridCol w="411480"/>
                <a:gridCol w="960120"/>
                <a:gridCol w="1234440"/>
                <a:gridCol w="100584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#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Subestação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UF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Corte GWh/a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BESS sugerido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Entrega GWh/a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DejaVu Sans"/>
                        </a:rPr>
                        <a:t>Exc. MMGD</a:t>
                      </a:r>
                    </a:p>
                  </a:txBody>
                  <a:tcPr marL="45720" marR="45720" marT="18288" marB="18288" anchor="ctr">
                    <a:solidFill>
                      <a:srgbClr val="123C6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João Câmara III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3.277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6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792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Monte Verde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RN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1.835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6 h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710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21%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Janaúba 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MG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1.405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4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Açu III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RN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2.830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6 h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798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23%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João Câmara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1.346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6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666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Jaíba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MG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805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300 MW · 4 h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296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36%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Bom Nome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716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300 MW · 4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8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Ourolândia II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BA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1.734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4 h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489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37%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Açu II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300 MW · 6 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28%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5C5C"/>
                          </a:solidFill>
                          <a:latin typeface="DejaVu Sans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1B33"/>
                          </a:solidFill>
                          <a:latin typeface="DejaVu Sans"/>
                        </a:rPr>
                        <a:t>Santa Luzia II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PB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1.042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500 MW · 4 h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490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61B33"/>
                          </a:solidFill>
                          <a:latin typeface="DejaVu Sans"/>
                        </a:rPr>
                        <a:t>43%</a:t>
                      </a:r>
                    </a:p>
                  </a:txBody>
                  <a:tcPr marL="45720" marR="45720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74920" y="6172200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Exc. MMGD = fração do corte do sítio atribuível ao excedente que a MMGD cria (limite superior).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Recuperável com o BESS dimensionado em cada um dos 10 sítios: 5,5 TWh/ano.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EXEMPLO · 3º DO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Janaúba 3 (MG): 500 MW / 4 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Fotovoltaica, corte no meio-dia: 1.405 GWh/ano cortados, 27% da geração, em 91% dos dias.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60350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2667C"/>
                </a:solidFill>
                <a:latin typeface="DejaVu Sans"/>
              </a:rPr>
              <a:t>CURVA DE DIMENSIONAMENTO · GWh/ano entregues × MWh instalados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514600"/>
          <a:ext cx="57607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2103120"/>
            <a:ext cx="470916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59168" y="21762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C67"/>
                </a:solidFill>
                <a:latin typeface="DejaVu Sans"/>
              </a:rPr>
              <a:t>BESS SUGERIDO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432303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1B33"/>
                </a:solidFill>
                <a:latin typeface="DejaVu Sans"/>
              </a:rPr>
              <a:t>500 MW · 4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286000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285 ciclos/ano · MWh marginal 326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017520"/>
            <a:ext cx="470916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59168" y="30906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8B7E"/>
                </a:solidFill>
                <a:latin typeface="DejaVu Sans"/>
              </a:rPr>
              <a:t>ENERGIA RECUPERADA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346703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1B33"/>
                </a:solidFill>
                <a:latin typeface="DejaVu Sans"/>
              </a:rPr>
              <a:t>501 GWh/ano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00400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41% do corte do sítio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931920"/>
            <a:ext cx="470916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59168" y="40050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8690E"/>
                </a:solidFill>
                <a:latin typeface="DejaVu Sans"/>
              </a:rPr>
              <a:t>EXCEDENTE DA MMGD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261104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1B33"/>
                </a:solidFill>
                <a:latin typeface="DejaVu Sans"/>
              </a:rPr>
              <a:t>até 39%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114800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552 GWh/ano do corte · ENE+SIS 74%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892040"/>
            <a:ext cx="4709160" cy="1280160"/>
          </a:xfrm>
          <a:prstGeom prst="roundRect">
            <a:avLst>
              <a:gd name="adj" fmla="val 8000"/>
            </a:avLst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59168" y="498348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LEITURA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5248656"/>
            <a:ext cx="4343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1B33"/>
                </a:solidFill>
                <a:latin typeface="DejaVu Sans"/>
              </a:rPr>
              <a:t>74% do corte é excedente sistêmico (ENE+SIS), só 11% é restrição local. Até 39% é atribuível à MMGD: o BESS aqui absorve o que a curva do pato empurra para fora do sistema.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Simulação sobre o corte apurado de 12 meses do sítio (2 usinas fotovoltaicas, pico de 1.919 MW cortados).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CONFIANÇA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O que é robusto, e o que depende da tese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A escolha dos pesos é política; a robustez do resultado é mostrada, e os limites são declarados.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56692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0E8B7E"/>
                </a:solidFill>
                <a:latin typeface="DejaVu Sans"/>
              </a:rPr>
              <a:t>ESTABILIDADE DO TOP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2667C"/>
                </a:solidFill>
                <a:latin typeface="DejaVu Sans"/>
              </a:rPr>
              <a:t>quantos dos 10 primeiros permanecem sob outros pesos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só energia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88036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880360" y="2880360"/>
            <a:ext cx="1664207" cy="18288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49240" y="278892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7 de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461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curva do pato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337560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80360" y="333756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E8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9240" y="324612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2 de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7033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restrição 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794759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880360" y="3794759"/>
            <a:ext cx="1664207" cy="18288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9240" y="370332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7 de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1605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pesos iguais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251959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880360" y="4251959"/>
            <a:ext cx="2139696" cy="18288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49240" y="416052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9 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61772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1B33"/>
                </a:solidFill>
                <a:latin typeface="DejaVu Sans"/>
              </a:rPr>
              <a:t>sem MMGD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4709159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880360" y="4709159"/>
            <a:ext cx="2139696" cy="18288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349240" y="461772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61B33"/>
                </a:solidFill>
                <a:latin typeface="DejaVu Sans"/>
              </a:rPr>
              <a:t>9 de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103120"/>
            <a:ext cx="50749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02552" y="221284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COMO 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2514600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061B33"/>
                </a:solidFill>
                <a:latin typeface="DejaVu Sans"/>
              </a:rPr>
              <a:t>Sem MMGD, só energia ou pesos iguais: o top 10 muda pouco. Os sítios de corte grande e recorrente são candidatos robustos.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061B33"/>
                </a:solidFill>
                <a:latin typeface="DejaVu Sans"/>
              </a:rPr>
              <a:t>Na tese “curva do pato”, só 2 dos 10 se mantêm: priorizar o excedente da MMGD é outra decisão, que favorece fotovoltaicas com corte ao meio-dia (Pecém II, Paracatu 4, Acaraú II).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061B33"/>
                </a:solidFill>
                <a:latin typeface="DejaVu Sans"/>
              </a:rPr>
              <a:t>97,4% da energia cortada foi localizada pela SE; o resto fica no ranking.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" y="5349240"/>
            <a:ext cx="10936224" cy="868680"/>
          </a:xfrm>
          <a:prstGeom prst="roundRect">
            <a:avLst>
              <a:gd name="adj" fmla="val 10000"/>
            </a:avLst>
          </a:prstGeom>
          <a:solidFill>
            <a:srgbClr val="F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8" y="544068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E85C5C"/>
                </a:solidFill>
                <a:latin typeface="DejaVu Sans"/>
              </a:rPr>
              <a:t>LIMITES DECLARADOS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69671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1B33"/>
                </a:solidFill>
                <a:latin typeface="DejaVu Sans"/>
              </a:rPr>
              <a:t>O corte observado não é o corte futuro. O excedente da MMGD é um limite superior contrafactual sobre uma MMGD estimada como piso. Sem modelo de receita (PLD, serviços ancilares, capacidade).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Princípio do O.R.A.C.U.L.O.: nenhuma promessa de desempenho sem teste; nenhuma recomendação sem a premissa escrita.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8D6A5"/>
                </a:solidFill>
                <a:latin typeface="DejaVu Sans"/>
              </a:rPr>
              <a:t>ALOCAÇÃO DE BESS · MENSAGEM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8404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AEB7CD"/>
                </a:solidFill>
                <a:latin typeface="DejaVu Sans"/>
              </a:rPr>
              <a:t>O.R.A.C.U.L.O.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DejaVu Sans"/>
              </a:rPr>
              <a:t>O corte está nas usinas centralizadas; até 33% dele é excedente criado pela MMGD. Armazenamento em 10 subestações recuperaria 5,5 TWh por ano.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95728"/>
            <a:ext cx="5852160" cy="384048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061B33"/>
                </a:solidFill>
                <a:latin typeface="DejaVu Sans"/>
              </a:rPr>
              <a:t>LOCALIZAR · DIMENSIONAR · ATRIBUIR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246120"/>
            <a:ext cx="11201400" cy="0"/>
          </a:xfrm>
          <a:prstGeom prst="line">
            <a:avLst/>
          </a:prstGeom>
          <a:ln w="9525">
            <a:solidFill>
              <a:srgbClr val="2C3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3520440"/>
            <a:ext cx="3611880" cy="1143000"/>
          </a:xfrm>
          <a:prstGeom prst="roundRect">
            <a:avLst>
              <a:gd name="adj" fmla="val 10000"/>
            </a:avLst>
          </a:prstGeom>
          <a:solidFill>
            <a:srgbClr val="1D2438"/>
          </a:solidFill>
          <a:ln w="12700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36301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PARA O INVESTIDOR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90448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D8E6"/>
                </a:solidFill>
                <a:latin typeface="DejaVu Sans"/>
              </a:rPr>
              <a:t>sítio, tamanho e energia recuperável por ano, com a premissa de cada número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3520440"/>
            <a:ext cx="3611880" cy="1143000"/>
          </a:xfrm>
          <a:prstGeom prst="roundRect">
            <a:avLst>
              <a:gd name="adj" fmla="val 10000"/>
            </a:avLst>
          </a:prstGeom>
          <a:solidFill>
            <a:srgbClr val="1D2438"/>
          </a:solidFill>
          <a:ln w="12700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71416" y="36301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PARA O 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390448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D8E6"/>
                </a:solidFill>
                <a:latin typeface="DejaVu Sans"/>
              </a:rPr>
              <a:t>quanto do excedente é da curva do pato e quanto é restrição de rede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3520440"/>
            <a:ext cx="3611880" cy="1143000"/>
          </a:xfrm>
          <a:prstGeom prst="roundRect">
            <a:avLst>
              <a:gd name="adj" fmla="val 10000"/>
            </a:avLst>
          </a:prstGeom>
          <a:solidFill>
            <a:srgbClr val="1D2438"/>
          </a:solidFill>
          <a:ln w="12700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38744" y="36301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8D6A5"/>
                </a:solidFill>
                <a:latin typeface="DejaVu Sans"/>
              </a:rPr>
              <a:t>PRÓXIMO PASSO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90448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D8E6"/>
                </a:solidFill>
                <a:latin typeface="DejaVu Sans"/>
              </a:rPr>
              <a:t>somar receita (PLD e serviços) e o plano de expansão da transmissão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AEB7CD"/>
                </a:solidFill>
                <a:latin typeface="DejaVu Sans"/>
              </a:rPr>
              <a:t>FONTES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4D8E6"/>
                </a:solidFill>
                <a:latin typeface="DejaVu Sans"/>
              </a:rPr>
              <a:t>ONS · restricao_coff_fotovoltaica · restricao_coff_eolica_usi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4D8E6"/>
                </a:solidFill>
                <a:latin typeface="DejaVu Sans"/>
              </a:rPr>
              <a:t>ONS · balanço de energia · subestacao · modalidade-usina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4D8E6"/>
                </a:solidFill>
                <a:latin typeface="DejaVu Sans"/>
              </a:rPr>
              <a:t>ANEEL · SIGA · MMGD estimada pelo O.R.A.C.U.L.O.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349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AEB7CD"/>
                </a:solidFill>
                <a:latin typeface="DejaVu Sans"/>
              </a:rPr>
              <a:t>dados.ons.org.br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AEB7CD"/>
                </a:solidFill>
                <a:latin typeface="DejaVu Sans"/>
              </a:rPr>
              <a:t>dados.ons.org.br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AEB7CD"/>
                </a:solidFill>
                <a:latin typeface="DejaVu Sans"/>
              </a:rPr>
              <a:t>dadosabertos.aneel.gov.br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AEB7CD"/>
                </a:solidFill>
                <a:latin typeface="DejaVu Sans"/>
              </a:rPr>
              <a:t>Hackathon IA COPPE/UFRJ 2026 · Equipe 24 — Linkfy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2243</Words>
  <Application>Microsoft Office PowerPoint</Application>
  <DocSecurity>0</DocSecurity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Calibri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Ligia Rolim da Silva</cp:lastModifiedBy>
  <cp:revision>1</cp:revision>
  <dcterms:created xsi:type="dcterms:W3CDTF">2026-09-13T22:50:12Z</dcterms:created>
  <dcterms:modified xsi:type="dcterms:W3CDTF">2026-09-26T12:57:38Z</dcterms:modified>
</cp:coreProperties>
</file>