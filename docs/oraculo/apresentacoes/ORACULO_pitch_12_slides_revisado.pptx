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68" r:id="rId2"/>
    <p:sldId id="269" r:id="rId3"/>
    <p:sldId id="270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16FEAC-854F-40A6-AFFA-432E683711B7}" v="3" dt="2026-09-13T22:55:00.4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gia Rolim da Silva" userId="fbfb8c71-666a-4142-abbf-504e3765d1c9" providerId="ADAL" clId="{FA76E5CA-1635-4CD7-8042-536D286A8E09}"/>
    <pc:docChg chg="custSel addSld delSld modSld">
      <pc:chgData name="Ligia Rolim da Silva" userId="fbfb8c71-666a-4142-abbf-504e3765d1c9" providerId="ADAL" clId="{FA76E5CA-1635-4CD7-8042-536D286A8E09}" dt="2026-09-13T22:55:51.194" v="39" actId="1076"/>
      <pc:docMkLst>
        <pc:docMk/>
      </pc:docMkLst>
      <pc:sldChg chg="modSp del mod">
        <pc:chgData name="Ligia Rolim da Silva" userId="fbfb8c71-666a-4142-abbf-504e3765d1c9" providerId="ADAL" clId="{FA76E5CA-1635-4CD7-8042-536D286A8E09}" dt="2026-09-13T22:54:17.978" v="21" actId="47"/>
        <pc:sldMkLst>
          <pc:docMk/>
          <pc:sldMk cId="338314519" sldId="256"/>
        </pc:sldMkLst>
        <pc:spChg chg="mod">
          <ac:chgData name="Ligia Rolim da Silva" userId="fbfb8c71-666a-4142-abbf-504e3765d1c9" providerId="ADAL" clId="{FA76E5CA-1635-4CD7-8042-536D286A8E09}" dt="2026-09-13T22:54:15.305" v="20" actId="27636"/>
          <ac:spMkLst>
            <pc:docMk/>
            <pc:sldMk cId="338314519" sldId="256"/>
            <ac:spMk id="7" creationId="{104B5957-B56F-4BDB-A6DD-9E0E9D761912}"/>
          </ac:spMkLst>
        </pc:spChg>
      </pc:sldChg>
      <pc:sldChg chg="del">
        <pc:chgData name="Ligia Rolim da Silva" userId="fbfb8c71-666a-4142-abbf-504e3765d1c9" providerId="ADAL" clId="{FA76E5CA-1635-4CD7-8042-536D286A8E09}" dt="2026-09-13T22:54:27.370" v="23" actId="47"/>
        <pc:sldMkLst>
          <pc:docMk/>
          <pc:sldMk cId="1252882878" sldId="257"/>
        </pc:sldMkLst>
      </pc:sldChg>
      <pc:sldChg chg="del">
        <pc:chgData name="Ligia Rolim da Silva" userId="fbfb8c71-666a-4142-abbf-504e3765d1c9" providerId="ADAL" clId="{FA76E5CA-1635-4CD7-8042-536D286A8E09}" dt="2026-09-13T22:55:02.020" v="25" actId="47"/>
        <pc:sldMkLst>
          <pc:docMk/>
          <pc:sldMk cId="650032880" sldId="258"/>
        </pc:sldMkLst>
      </pc:sldChg>
      <pc:sldChg chg="modSp mod">
        <pc:chgData name="Ligia Rolim da Silva" userId="fbfb8c71-666a-4142-abbf-504e3765d1c9" providerId="ADAL" clId="{FA76E5CA-1635-4CD7-8042-536D286A8E09}" dt="2026-09-13T22:54:15.180" v="3" actId="27636"/>
        <pc:sldMkLst>
          <pc:docMk/>
          <pc:sldMk cId="953358249" sldId="259"/>
        </pc:sldMkLst>
        <pc:spChg chg="mod">
          <ac:chgData name="Ligia Rolim da Silva" userId="fbfb8c71-666a-4142-abbf-504e3765d1c9" providerId="ADAL" clId="{FA76E5CA-1635-4CD7-8042-536D286A8E09}" dt="2026-09-13T22:54:15.180" v="3" actId="27636"/>
          <ac:spMkLst>
            <pc:docMk/>
            <pc:sldMk cId="953358249" sldId="259"/>
            <ac:spMk id="16" creationId="{E077A481-FC40-4B72-8FC5-85EFD50CE141}"/>
          </ac:spMkLst>
        </pc:spChg>
        <pc:spChg chg="mod">
          <ac:chgData name="Ligia Rolim da Silva" userId="fbfb8c71-666a-4142-abbf-504e3765d1c9" providerId="ADAL" clId="{FA76E5CA-1635-4CD7-8042-536D286A8E09}" dt="2026-09-13T22:54:15.175" v="1" actId="27636"/>
          <ac:spMkLst>
            <pc:docMk/>
            <pc:sldMk cId="953358249" sldId="259"/>
            <ac:spMk id="17" creationId="{F1F6D2E4-0834-4605-9D81-D4BC27A6825C}"/>
          </ac:spMkLst>
        </pc:spChg>
        <pc:spChg chg="mod">
          <ac:chgData name="Ligia Rolim da Silva" userId="fbfb8c71-666a-4142-abbf-504e3765d1c9" providerId="ADAL" clId="{FA76E5CA-1635-4CD7-8042-536D286A8E09}" dt="2026-09-13T22:54:15.178" v="2" actId="27636"/>
          <ac:spMkLst>
            <pc:docMk/>
            <pc:sldMk cId="953358249" sldId="259"/>
            <ac:spMk id="27" creationId="{2FDDCEC0-7FC1-438F-A7C0-19141797DF7B}"/>
          </ac:spMkLst>
        </pc:spChg>
      </pc:sldChg>
      <pc:sldChg chg="addSp modSp mod">
        <pc:chgData name="Ligia Rolim da Silva" userId="fbfb8c71-666a-4142-abbf-504e3765d1c9" providerId="ADAL" clId="{FA76E5CA-1635-4CD7-8042-536D286A8E09}" dt="2026-09-13T22:55:51.194" v="39" actId="1076"/>
        <pc:sldMkLst>
          <pc:docMk/>
          <pc:sldMk cId="26689343" sldId="260"/>
        </pc:sldMkLst>
        <pc:spChg chg="mod">
          <ac:chgData name="Ligia Rolim da Silva" userId="fbfb8c71-666a-4142-abbf-504e3765d1c9" providerId="ADAL" clId="{FA76E5CA-1635-4CD7-8042-536D286A8E09}" dt="2026-09-13T22:54:15.191" v="4" actId="27636"/>
          <ac:spMkLst>
            <pc:docMk/>
            <pc:sldMk cId="26689343" sldId="260"/>
            <ac:spMk id="17" creationId="{176DD0F3-7215-4103-899F-0FF5FE4CF2BD}"/>
          </ac:spMkLst>
        </pc:spChg>
        <pc:picChg chg="add mod">
          <ac:chgData name="Ligia Rolim da Silva" userId="fbfb8c71-666a-4142-abbf-504e3765d1c9" providerId="ADAL" clId="{FA76E5CA-1635-4CD7-8042-536D286A8E09}" dt="2026-09-13T22:55:51.194" v="39" actId="1076"/>
          <ac:picMkLst>
            <pc:docMk/>
            <pc:sldMk cId="26689343" sldId="260"/>
            <ac:picMk id="28" creationId="{F3C1BBE6-1B8B-FE91-79CF-C90A6C53304F}"/>
          </ac:picMkLst>
        </pc:picChg>
        <pc:picChg chg="add mod">
          <ac:chgData name="Ligia Rolim da Silva" userId="fbfb8c71-666a-4142-abbf-504e3765d1c9" providerId="ADAL" clId="{FA76E5CA-1635-4CD7-8042-536D286A8E09}" dt="2026-09-13T22:55:47.099" v="36" actId="1076"/>
          <ac:picMkLst>
            <pc:docMk/>
            <pc:sldMk cId="26689343" sldId="260"/>
            <ac:picMk id="30" creationId="{63557A15-B05A-9AE7-C500-480FC9A8D229}"/>
          </ac:picMkLst>
        </pc:picChg>
      </pc:sldChg>
      <pc:sldChg chg="modSp mod">
        <pc:chgData name="Ligia Rolim da Silva" userId="fbfb8c71-666a-4142-abbf-504e3765d1c9" providerId="ADAL" clId="{FA76E5CA-1635-4CD7-8042-536D286A8E09}" dt="2026-09-13T22:54:15.210" v="6" actId="27636"/>
        <pc:sldMkLst>
          <pc:docMk/>
          <pc:sldMk cId="230654313" sldId="261"/>
        </pc:sldMkLst>
        <pc:spChg chg="mod">
          <ac:chgData name="Ligia Rolim da Silva" userId="fbfb8c71-666a-4142-abbf-504e3765d1c9" providerId="ADAL" clId="{FA76E5CA-1635-4CD7-8042-536D286A8E09}" dt="2026-09-13T22:54:15.204" v="5" actId="27636"/>
          <ac:spMkLst>
            <pc:docMk/>
            <pc:sldMk cId="230654313" sldId="261"/>
            <ac:spMk id="19" creationId="{BC8F30EE-F4B8-4EBB-B7CE-3F32059B31AE}"/>
          </ac:spMkLst>
        </pc:spChg>
        <pc:spChg chg="mod">
          <ac:chgData name="Ligia Rolim da Silva" userId="fbfb8c71-666a-4142-abbf-504e3765d1c9" providerId="ADAL" clId="{FA76E5CA-1635-4CD7-8042-536D286A8E09}" dt="2026-09-13T22:54:15.210" v="6" actId="27636"/>
          <ac:spMkLst>
            <pc:docMk/>
            <pc:sldMk cId="230654313" sldId="261"/>
            <ac:spMk id="38" creationId="{B2F38C92-EBF8-4991-B13F-3F76AF03456B}"/>
          </ac:spMkLst>
        </pc:spChg>
      </pc:sldChg>
      <pc:sldChg chg="modSp mod">
        <pc:chgData name="Ligia Rolim da Silva" userId="fbfb8c71-666a-4142-abbf-504e3765d1c9" providerId="ADAL" clId="{FA76E5CA-1635-4CD7-8042-536D286A8E09}" dt="2026-09-13T22:54:15.235" v="10" actId="27636"/>
        <pc:sldMkLst>
          <pc:docMk/>
          <pc:sldMk cId="496114723" sldId="262"/>
        </pc:sldMkLst>
        <pc:spChg chg="mod">
          <ac:chgData name="Ligia Rolim da Silva" userId="fbfb8c71-666a-4142-abbf-504e3765d1c9" providerId="ADAL" clId="{FA76E5CA-1635-4CD7-8042-536D286A8E09}" dt="2026-09-13T22:54:15.231" v="9" actId="27636"/>
          <ac:spMkLst>
            <pc:docMk/>
            <pc:sldMk cId="496114723" sldId="262"/>
            <ac:spMk id="13" creationId="{C20DF4A6-52F1-4B29-8977-E53E2895DF76}"/>
          </ac:spMkLst>
        </pc:spChg>
        <pc:spChg chg="mod">
          <ac:chgData name="Ligia Rolim da Silva" userId="fbfb8c71-666a-4142-abbf-504e3765d1c9" providerId="ADAL" clId="{FA76E5CA-1635-4CD7-8042-536D286A8E09}" dt="2026-09-13T22:54:15.235" v="10" actId="27636"/>
          <ac:spMkLst>
            <pc:docMk/>
            <pc:sldMk cId="496114723" sldId="262"/>
            <ac:spMk id="34" creationId="{330784E9-DF00-487F-9997-4D36C38C2D34}"/>
          </ac:spMkLst>
        </pc:spChg>
        <pc:spChg chg="mod">
          <ac:chgData name="Ligia Rolim da Silva" userId="fbfb8c71-666a-4142-abbf-504e3765d1c9" providerId="ADAL" clId="{FA76E5CA-1635-4CD7-8042-536D286A8E09}" dt="2026-09-13T22:54:15.225" v="8" actId="27636"/>
          <ac:spMkLst>
            <pc:docMk/>
            <pc:sldMk cId="496114723" sldId="262"/>
            <ac:spMk id="38" creationId="{B3F12612-EEE1-43B2-987F-9DD315E2783B}"/>
          </ac:spMkLst>
        </pc:spChg>
        <pc:spChg chg="mod">
          <ac:chgData name="Ligia Rolim da Silva" userId="fbfb8c71-666a-4142-abbf-504e3765d1c9" providerId="ADAL" clId="{FA76E5CA-1635-4CD7-8042-536D286A8E09}" dt="2026-09-13T22:54:15.220" v="7" actId="27636"/>
          <ac:spMkLst>
            <pc:docMk/>
            <pc:sldMk cId="496114723" sldId="262"/>
            <ac:spMk id="42" creationId="{C8569297-72BD-4799-A19B-3EF08091B238}"/>
          </ac:spMkLst>
        </pc:spChg>
      </pc:sldChg>
      <pc:sldChg chg="modSp mod">
        <pc:chgData name="Ligia Rolim da Silva" userId="fbfb8c71-666a-4142-abbf-504e3765d1c9" providerId="ADAL" clId="{FA76E5CA-1635-4CD7-8042-536D286A8E09}" dt="2026-09-13T22:54:15.249" v="12" actId="27636"/>
        <pc:sldMkLst>
          <pc:docMk/>
          <pc:sldMk cId="97620267" sldId="263"/>
        </pc:sldMkLst>
        <pc:spChg chg="mod">
          <ac:chgData name="Ligia Rolim da Silva" userId="fbfb8c71-666a-4142-abbf-504e3765d1c9" providerId="ADAL" clId="{FA76E5CA-1635-4CD7-8042-536D286A8E09}" dt="2026-09-13T22:54:15.249" v="12" actId="27636"/>
          <ac:spMkLst>
            <pc:docMk/>
            <pc:sldMk cId="97620267" sldId="263"/>
            <ac:spMk id="40" creationId="{B4D0B400-82D1-4D05-AEF2-2C6CB51ACBBA}"/>
          </ac:spMkLst>
        </pc:spChg>
        <pc:spChg chg="mod">
          <ac:chgData name="Ligia Rolim da Silva" userId="fbfb8c71-666a-4142-abbf-504e3765d1c9" providerId="ADAL" clId="{FA76E5CA-1635-4CD7-8042-536D286A8E09}" dt="2026-09-13T22:54:15.242" v="11" actId="27636"/>
          <ac:spMkLst>
            <pc:docMk/>
            <pc:sldMk cId="97620267" sldId="263"/>
            <ac:spMk id="54" creationId="{19402882-1A11-458D-945F-A856AD6CE1A3}"/>
          </ac:spMkLst>
        </pc:spChg>
      </pc:sldChg>
      <pc:sldChg chg="modSp mod">
        <pc:chgData name="Ligia Rolim da Silva" userId="fbfb8c71-666a-4142-abbf-504e3765d1c9" providerId="ADAL" clId="{FA76E5CA-1635-4CD7-8042-536D286A8E09}" dt="2026-09-13T22:54:15.257" v="15" actId="27636"/>
        <pc:sldMkLst>
          <pc:docMk/>
          <pc:sldMk cId="278837521" sldId="264"/>
        </pc:sldMkLst>
        <pc:spChg chg="mod">
          <ac:chgData name="Ligia Rolim da Silva" userId="fbfb8c71-666a-4142-abbf-504e3765d1c9" providerId="ADAL" clId="{FA76E5CA-1635-4CD7-8042-536D286A8E09}" dt="2026-09-13T22:54:15.253" v="13" actId="27636"/>
          <ac:spMkLst>
            <pc:docMk/>
            <pc:sldMk cId="278837521" sldId="264"/>
            <ac:spMk id="12" creationId="{9B22085E-B19F-4389-B29E-FB59E2DC88C8}"/>
          </ac:spMkLst>
        </pc:spChg>
        <pc:spChg chg="mod">
          <ac:chgData name="Ligia Rolim da Silva" userId="fbfb8c71-666a-4142-abbf-504e3765d1c9" providerId="ADAL" clId="{FA76E5CA-1635-4CD7-8042-536D286A8E09}" dt="2026-09-13T22:54:15.257" v="15" actId="27636"/>
          <ac:spMkLst>
            <pc:docMk/>
            <pc:sldMk cId="278837521" sldId="264"/>
            <ac:spMk id="16" creationId="{FF5F12D6-15F0-4915-BBBA-203DD30FB866}"/>
          </ac:spMkLst>
        </pc:spChg>
        <pc:spChg chg="mod">
          <ac:chgData name="Ligia Rolim da Silva" userId="fbfb8c71-666a-4142-abbf-504e3765d1c9" providerId="ADAL" clId="{FA76E5CA-1635-4CD7-8042-536D286A8E09}" dt="2026-09-13T22:54:15.254" v="14" actId="27636"/>
          <ac:spMkLst>
            <pc:docMk/>
            <pc:sldMk cId="278837521" sldId="264"/>
            <ac:spMk id="19" creationId="{97211235-FE54-4E04-A2F6-19AB57D58FE7}"/>
          </ac:spMkLst>
        </pc:spChg>
      </pc:sldChg>
      <pc:sldChg chg="modSp mod">
        <pc:chgData name="Ligia Rolim da Silva" userId="fbfb8c71-666a-4142-abbf-504e3765d1c9" providerId="ADAL" clId="{FA76E5CA-1635-4CD7-8042-536D286A8E09}" dt="2026-09-13T22:54:15.268" v="16" actId="27636"/>
        <pc:sldMkLst>
          <pc:docMk/>
          <pc:sldMk cId="1385590671" sldId="265"/>
        </pc:sldMkLst>
        <pc:spChg chg="mod">
          <ac:chgData name="Ligia Rolim da Silva" userId="fbfb8c71-666a-4142-abbf-504e3765d1c9" providerId="ADAL" clId="{FA76E5CA-1635-4CD7-8042-536D286A8E09}" dt="2026-09-13T22:54:15.268" v="16" actId="27636"/>
          <ac:spMkLst>
            <pc:docMk/>
            <pc:sldMk cId="1385590671" sldId="265"/>
            <ac:spMk id="5" creationId="{CE2C8D96-2B10-4516-A78E-54A81EE58015}"/>
          </ac:spMkLst>
        </pc:spChg>
      </pc:sldChg>
      <pc:sldChg chg="modSp mod">
        <pc:chgData name="Ligia Rolim da Silva" userId="fbfb8c71-666a-4142-abbf-504e3765d1c9" providerId="ADAL" clId="{FA76E5CA-1635-4CD7-8042-536D286A8E09}" dt="2026-09-13T22:54:15.284" v="18" actId="27636"/>
        <pc:sldMkLst>
          <pc:docMk/>
          <pc:sldMk cId="816622820" sldId="266"/>
        </pc:sldMkLst>
        <pc:spChg chg="mod">
          <ac:chgData name="Ligia Rolim da Silva" userId="fbfb8c71-666a-4142-abbf-504e3765d1c9" providerId="ADAL" clId="{FA76E5CA-1635-4CD7-8042-536D286A8E09}" dt="2026-09-13T22:54:15.282" v="17" actId="27636"/>
          <ac:spMkLst>
            <pc:docMk/>
            <pc:sldMk cId="816622820" sldId="266"/>
            <ac:spMk id="5" creationId="{CCA29A42-061C-4392-95E3-6F5A860B57F8}"/>
          </ac:spMkLst>
        </pc:spChg>
        <pc:spChg chg="mod">
          <ac:chgData name="Ligia Rolim da Silva" userId="fbfb8c71-666a-4142-abbf-504e3765d1c9" providerId="ADAL" clId="{FA76E5CA-1635-4CD7-8042-536D286A8E09}" dt="2026-09-13T22:54:15.284" v="18" actId="27636"/>
          <ac:spMkLst>
            <pc:docMk/>
            <pc:sldMk cId="816622820" sldId="266"/>
            <ac:spMk id="24" creationId="{A50CAD5F-AD6B-4D88-AA8B-2A0346769C00}"/>
          </ac:spMkLst>
        </pc:spChg>
      </pc:sldChg>
      <pc:sldChg chg="modSp mod">
        <pc:chgData name="Ligia Rolim da Silva" userId="fbfb8c71-666a-4142-abbf-504e3765d1c9" providerId="ADAL" clId="{FA76E5CA-1635-4CD7-8042-536D286A8E09}" dt="2026-09-13T22:54:15.291" v="19" actId="27636"/>
        <pc:sldMkLst>
          <pc:docMk/>
          <pc:sldMk cId="1515270000" sldId="267"/>
        </pc:sldMkLst>
        <pc:spChg chg="mod">
          <ac:chgData name="Ligia Rolim da Silva" userId="fbfb8c71-666a-4142-abbf-504e3765d1c9" providerId="ADAL" clId="{FA76E5CA-1635-4CD7-8042-536D286A8E09}" dt="2026-09-13T22:54:15.291" v="19" actId="27636"/>
          <ac:spMkLst>
            <pc:docMk/>
            <pc:sldMk cId="1515270000" sldId="267"/>
            <ac:spMk id="2" creationId="{39921D0E-2D07-4C7D-8494-D7D788CC83C4}"/>
          </ac:spMkLst>
        </pc:spChg>
      </pc:sldChg>
      <pc:sldChg chg="add setBg">
        <pc:chgData name="Ligia Rolim da Silva" userId="fbfb8c71-666a-4142-abbf-504e3765d1c9" providerId="ADAL" clId="{FA76E5CA-1635-4CD7-8042-536D286A8E09}" dt="2026-09-13T22:54:15.073" v="0"/>
        <pc:sldMkLst>
          <pc:docMk/>
          <pc:sldMk cId="1510257333" sldId="268"/>
        </pc:sldMkLst>
      </pc:sldChg>
      <pc:sldChg chg="add setBg">
        <pc:chgData name="Ligia Rolim da Silva" userId="fbfb8c71-666a-4142-abbf-504e3765d1c9" providerId="ADAL" clId="{FA76E5CA-1635-4CD7-8042-536D286A8E09}" dt="2026-09-13T22:54:25.269" v="22"/>
        <pc:sldMkLst>
          <pc:docMk/>
          <pc:sldMk cId="29081268" sldId="269"/>
        </pc:sldMkLst>
      </pc:sldChg>
      <pc:sldChg chg="add setBg">
        <pc:chgData name="Ligia Rolim da Silva" userId="fbfb8c71-666a-4142-abbf-504e3765d1c9" providerId="ADAL" clId="{FA76E5CA-1635-4CD7-8042-536D286A8E09}" dt="2026-09-13T22:55:00.419" v="24"/>
        <pc:sldMkLst>
          <pc:docMk/>
          <pc:sldMk cId="543649783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Apresentar a solução como uma camada de inteligência preditiva para a fronteira entre transmissão e distribuição. O objetivo é tornar sinais hoje fragmentados em informação operacional antecipada.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Usar os três números para dimensionar o problema. Destacar que a geração distribuída já altera materialmente a carga supervisionada e o equilíbrio do SIN.</a:t>
            </a:r>
          </a:p>
          <a:p>
            <a:endParaRPr/>
          </a:p>
          <a:p>
            <a:r>
              <a:t>Fontes:</a:t>
            </a:r>
          </a:p>
          <a:p>
            <a:r>
              <a:t>- https://www.ons.org.br/Paginas/energia-no-futuro/suprimento-eletrico/parpel2025/sumario-executivo/index.aspx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Enfatizar que o ONS tem alta observabilidade sobre o sistema sob sua supervisão. A lacuna está na granularidade e na previsibilidade da distribuição, onde a MMGD altera a carga líquida percebida pelo Operador.</a:t>
            </a:r>
          </a:p>
          <a:p>
            <a:endParaRPr/>
          </a:p>
          <a:p>
            <a:r>
              <a:t>Fontes:</a:t>
            </a:r>
          </a:p>
          <a:p>
            <a:r>
              <a:t>- https://www.ons.org.br/Paginas/energia-no-futuro/suprimento-eletrico/parpel2025/sumario-executivo/index.aspx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Diferenciar o fenômeno geral de curtailment do escopo analítico da solução. O O.R.A.C.U.L.O. antecipa condições com maior propensão a restrições por razão energética; não substitui a decisão operativa do ONS.</a:t>
            </a:r>
          </a:p>
          <a:p>
            <a:endParaRPr/>
          </a:p>
          <a:p>
            <a:r>
              <a:t>Fontes:</a:t>
            </a:r>
          </a:p>
          <a:p>
            <a:r>
              <a:t>- https://www.ons.org.br/Paginas/faq_curtailment.aspx</a:t>
            </a:r>
          </a:p>
          <a:p>
            <a:r>
              <a:t>- https://www.ons.org.br/Paginas/energia-no-futuro/suprimento-eletrico/parpel2025/sumario-executivo/index.aspx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O.R.A.C.U.L.O. atua nos dois eixos destacados pelo ONS. O primeiro qualifica a representação de carga e MMGD nos estudos elétricos. O segundo entrega informação estruturada à interface ONS–DSO, com granularidade e antecedência úteis à decisão.</a:t>
            </a:r>
          </a:p>
          <a:p>
            <a:endParaRPr/>
          </a:p>
          <a:p>
            <a:r>
              <a:t>Fontes:</a:t>
            </a:r>
          </a:p>
          <a:p>
            <a:r>
              <a:t>- https://www.ons.org.br/Paginas/energia-no-futuro/suprimento-eletrico/parpel2025/sumario-executivo/index.aspx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Eixo 1, a solução começa com séries históricas e medições, caracteriza perfis, valida e calibra parâmetros e entrega insumos para modelos dinâmicos equivalentes. O foco é apoiar a representação do Composite Load Model e outros modelos oficiais — não substituir os simuladores do ONS.</a:t>
            </a:r>
          </a:p>
          <a:p>
            <a:endParaRPr/>
          </a:p>
          <a:p>
            <a:r>
              <a:t>Fontes:</a:t>
            </a:r>
          </a:p>
          <a:p>
            <a:r>
              <a:t>- https://www.wecc.org/sites/default/files/documents/meeting/2024/WECC%20Comp%20Load%20Model%20Specification_final.pdf</a:t>
            </a:r>
          </a:p>
          <a:p>
            <a:r>
              <a:t>- https://dados.ons.org.br/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Eixo 2, a interface recebe um payload com grandeza, granularidade, antecedência e formato definidos. O painel de excedentes demonstra como o Operador poderia antecipar, priorizar e coordenar ações por área de concessão. Os valores do protótipo são demonstrativos.</a:t>
            </a:r>
          </a:p>
          <a:p>
            <a:endParaRPr/>
          </a:p>
          <a:p>
            <a:r>
              <a:t>Fontes:</a:t>
            </a:r>
          </a:p>
          <a:p>
            <a:r>
              <a:t>- https://www.ons.org.br/Paginas/energia-no-futuro/suprimento-eletrico/parpel2025/sumario-executivo/index.aspx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consistência surge quando três evidências independentes concordam: realidade física, topologia e cadastro. Essa triangulação corrige defasagens cadastrais e melhora os insumos do preditor. As limitações de periodicidade e qualidade são declaradas e rastreadas.</a:t>
            </a:r>
          </a:p>
          <a:p>
            <a:endParaRPr/>
          </a:p>
          <a:p>
            <a:r>
              <a:t>Fontes:</a:t>
            </a:r>
          </a:p>
          <a:p>
            <a:r>
              <a:t>- https://dados.ons.org.br/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tela de despacho preditivo mostra a decomposição entre carga medida, MMGD estimada e carga supervisionada. A previsão é apresentada em diferentes horizontes e com bandas probabilísticas. Os dados da interface são demonstrativos e servem para explicar a experiência operacional proposta.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jornada operacional proposta começa no mapa híbrido, que combina concentração de MMGD e risco de fluxo reverso. Em seguida, eventos são priorizados por severidade, motivo, potência e probabilidade. O detalhe do alerta apresenta evidências, proveniência dos dados e ações recomendadas para avaliação humana. Os valores são demonstrativos.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metodologia distingue tendências estruturais de previsões operacionais de curto prazo. O desempenho é avaliado fora da amostra e comparado a baselines, com métricas por distribuidora, horizonte e regime. As métricas exibidas no protótipo são demonstrativas; a versão final será calibrada com dados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Encerrar com a frase-âncora e apresentar a equipe. Um oráculo não adivinha ao acaso: interpreta sinais. O O.R.A.C.U.L.O. integra sinais já existentes na fronteira transmissão–distribuição e os transforma em inteligência preditiva.</a:t>
            </a:r>
          </a:p>
          <a:p>
            <a:endParaRPr/>
          </a:p>
          <a:p>
            <a:r>
              <a:t>Fontes:</a:t>
            </a:r>
          </a:p>
          <a:p>
            <a:r>
              <a:t>- https://www.ons.org.br/Paginas/energia-no-futuro/suprimento-eletrico/parpel2025/sumario-executivo/index.aspx</a:t>
            </a:r>
          </a:p>
          <a:p>
            <a:r>
              <a:t>- https://dados.ons.org.br/</a:t>
            </a:r>
          </a:p>
          <a:p>
            <a:r>
              <a:t>- https://www.ons.org.br/Paginas/faq_curtailment.aspx</a:t>
            </a:r>
          </a:p>
          <a:p>
            <a:r>
              <a:t>- https://www.wecc.org/sites/default/files/documents/meeting/2024/WECC%20Comp%20Load%20Model%20Specification_final.pdf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F9A140C6-82B2-44F3-8619-E87850C510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762750" cy="6858000"/>
          </a:xfrm>
          <a:prstGeom prst="rect">
            <a:avLst/>
          </a:prstGeom>
          <a:gradFill>
            <a:gsLst>
              <a:gs pos="0">
                <a:srgbClr val="041427">
                  <a:alpha val="100000"/>
                </a:srgbClr>
              </a:gs>
              <a:gs pos="70000">
                <a:srgbClr val="041427">
                  <a:alpha val="94000"/>
                </a:srgbClr>
              </a:gs>
              <a:gs pos="100000">
                <a:srgbClr val="041427">
                  <a:alpha val="0"/>
                </a:srgbClr>
              </a:gs>
            </a:gsLst>
            <a:lin ang="5400000"/>
          </a:gra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4E680C6A-ADDF-4C85-98F6-23985592E2ED}"/>
              </a:ext>
            </a:extLst>
          </p:cNvPr>
          <p:cNvSpPr>
            <a:spLocks noGrp="1"/>
          </p:cNvSpPr>
          <p:nvPr/>
        </p:nvSpPr>
        <p:spPr>
          <a:xfrm>
            <a:off x="647700" y="552450"/>
            <a:ext cx="2895600" cy="323850"/>
          </a:xfrm>
          <a:prstGeom prst="roundRect">
            <a:avLst>
              <a:gd name="adj" fmla="val 50000"/>
            </a:avLst>
          </a:prstGeom>
          <a:solidFill>
            <a:srgbClr val="22C7F2"/>
          </a:solidFill>
          <a:ln w="0">
            <a:noFill/>
            <a:prstDash val="solid"/>
          </a:ln>
        </p:spPr>
        <p:txBody>
          <a:bodyPr lIns="95250" tIns="0" rIns="95250" bIns="0" anchor="ctr">
            <a:normAutofit/>
          </a:bodyPr>
          <a:lstStyle/>
          <a:p>
            <a:pPr algn="ctr">
              <a:defRPr sz="975" b="1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HACKATHON IA COPPE/UFRJ 2026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BCEF8A1-6556-4F4B-AB72-E4FD1F85DA1C}"/>
              </a:ext>
            </a:extLst>
          </p:cNvPr>
          <p:cNvSpPr>
            <a:spLocks noGrp="1"/>
          </p:cNvSpPr>
          <p:nvPr/>
        </p:nvSpPr>
        <p:spPr>
          <a:xfrm>
            <a:off x="628650" y="1438275"/>
            <a:ext cx="590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48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O.R.A.C.U.L.O.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53BE4C1-0098-45C4-901C-DEE3A06F746D}"/>
              </a:ext>
            </a:extLst>
          </p:cNvPr>
          <p:cNvSpPr>
            <a:spLocks noGrp="1"/>
          </p:cNvSpPr>
          <p:nvPr/>
        </p:nvSpPr>
        <p:spPr>
          <a:xfrm>
            <a:off x="666750" y="2371725"/>
            <a:ext cx="56197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875" b="1" i="0">
                <a:solidFill>
                  <a:srgbClr val="D9F6FD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i="0" dirty="0" err="1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Observabilidade</a:t>
            </a:r>
            <a:r>
              <a:rPr sz="1875" b="1" i="0" dirty="0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 de Redes e </a:t>
            </a:r>
            <a:r>
              <a:rPr sz="1875" b="1" i="0" dirty="0" err="1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Análise</a:t>
            </a:r>
            <a:r>
              <a:rPr sz="1875" b="1" i="0" dirty="0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 de Curtailment</a:t>
            </a:r>
            <a:r>
              <a:rPr lang="pt-BR" sz="1875" b="1" i="0" dirty="0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75" b="1" i="0" dirty="0" err="1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em</a:t>
            </a:r>
            <a:r>
              <a:rPr sz="1875" b="1" i="0" dirty="0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75" b="1" i="0" dirty="0" err="1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Usinas</a:t>
            </a:r>
            <a:r>
              <a:rPr sz="1875" b="1" i="0" dirty="0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 e </a:t>
            </a:r>
            <a:r>
              <a:rPr sz="1875" b="1" i="0" dirty="0" err="1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Limites</a:t>
            </a:r>
            <a:r>
              <a:rPr sz="1875" b="1" i="0" dirty="0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75" b="1" i="0" dirty="0" err="1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Operacionais</a:t>
            </a:r>
            <a:endParaRPr sz="1875" b="1" i="0" dirty="0">
              <a:solidFill>
                <a:srgbClr val="D9F6FD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Conector reto 5">
            <a:extLst>
              <a:ext uri="{FF2B5EF4-FFF2-40B4-BE49-F238E27FC236}">
                <a16:creationId xmlns:a16="http://schemas.microsoft.com/office/drawing/2014/main" id="{D70B0BA0-AAB5-4672-A67E-0F1F586B86DC}"/>
              </a:ext>
            </a:extLst>
          </p:cNvPr>
          <p:cNvSpPr>
            <a:spLocks noGrp="1"/>
          </p:cNvSpPr>
          <p:nvPr/>
        </p:nvSpPr>
        <p:spPr>
          <a:xfrm>
            <a:off x="666750" y="3638550"/>
            <a:ext cx="4000500" cy="0"/>
          </a:xfrm>
          <a:prstGeom prst="line">
            <a:avLst/>
          </a:prstGeom>
          <a:noFill/>
          <a:ln w="28575">
            <a:solidFill>
              <a:srgbClr val="58D6A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FE64611-3292-495D-8728-B1D0A619B5DE}"/>
              </a:ext>
            </a:extLst>
          </p:cNvPr>
          <p:cNvSpPr>
            <a:spLocks noGrp="1"/>
          </p:cNvSpPr>
          <p:nvPr/>
        </p:nvSpPr>
        <p:spPr>
          <a:xfrm>
            <a:off x="666750" y="3876675"/>
            <a:ext cx="5334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292" lnSpcReduction="10000"/>
          </a:bodyPr>
          <a:lstStyle/>
          <a:p>
            <a:pPr algn="l">
              <a:lnSpc>
                <a:spcPct val="106000"/>
              </a:lnSpc>
              <a:buNone/>
              <a:defRPr sz="22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Inteligência</a:t>
            </a:r>
            <a:r>
              <a:rPr sz="225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250" b="1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preditiva</a:t>
            </a:r>
            <a:r>
              <a:rPr sz="225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para a </a:t>
            </a:r>
            <a:r>
              <a:rPr lang="pt-BR" sz="225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interface ONS</a:t>
            </a:r>
            <a:r>
              <a:rPr sz="225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–</a:t>
            </a:r>
            <a:r>
              <a:rPr lang="pt-BR" sz="225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DSO e a gestão de excedentes de geração</a:t>
            </a:r>
            <a:endParaRPr sz="2250" b="1" i="0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B3C4A2A-E31E-4BC4-AEC8-05AAACCE4C05}"/>
              </a:ext>
            </a:extLst>
          </p:cNvPr>
          <p:cNvSpPr>
            <a:spLocks noGrp="1"/>
          </p:cNvSpPr>
          <p:nvPr/>
        </p:nvSpPr>
        <p:spPr>
          <a:xfrm>
            <a:off x="666750" y="60769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125" b="0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Transição</a:t>
            </a:r>
            <a:r>
              <a:rPr sz="1125" b="0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Energética  ·  Curtailment  ·  </a:t>
            </a:r>
            <a:r>
              <a:rPr sz="1125" b="0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Demanda</a:t>
            </a:r>
            <a:r>
              <a:rPr sz="1125" b="0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, </a:t>
            </a:r>
            <a:r>
              <a:rPr sz="1125" b="0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clima</a:t>
            </a:r>
            <a:r>
              <a:rPr sz="1125" b="0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e </a:t>
            </a:r>
            <a:r>
              <a:rPr sz="1125" b="0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operação</a:t>
            </a:r>
            <a:endParaRPr sz="1125" b="0" i="0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510257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>
            <a:extLst>
              <a:ext uri="{FF2B5EF4-FFF2-40B4-BE49-F238E27FC236}">
                <a16:creationId xmlns:a16="http://schemas.microsoft.com/office/drawing/2014/main" id="{86B63F7D-485F-4773-A487-35C188EBC41F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 dirty="0">
                <a:solidFill>
                  <a:srgbClr val="22C7F2"/>
                </a:solidFill>
                <a:latin typeface="DejaVu Sans"/>
                <a:ea typeface="DejaVu Sans"/>
                <a:cs typeface="DejaVu Sans"/>
              </a:rPr>
              <a:t>O PROBLEMA EM ESCALA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5EFB7E2-842D-4B99-AB0B-A3E23E0CB2A3}"/>
              </a:ext>
            </a:extLst>
          </p:cNvPr>
          <p:cNvSpPr>
            <a:spLocks noGrp="1"/>
          </p:cNvSpPr>
          <p:nvPr/>
        </p:nvSpPr>
        <p:spPr>
          <a:xfrm>
            <a:off x="628650" y="666750"/>
            <a:ext cx="10816098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30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 i="0" dirty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A </a:t>
            </a:r>
            <a:r>
              <a:rPr sz="2400" b="1" i="0" dirty="0" err="1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geração</a:t>
            </a:r>
            <a:r>
              <a:rPr lang="pt-BR" sz="2400" b="1" i="0" dirty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 distribuída</a:t>
            </a:r>
            <a:r>
              <a:rPr sz="2400" b="1" i="0" dirty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pt-BR" sz="2400" b="1" i="0" dirty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alterou o perfil da carga supervisionada</a:t>
            </a:r>
            <a:endParaRPr sz="2400" b="1" i="0" dirty="0">
              <a:solidFill>
                <a:srgbClr val="061B3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DF08FFD6-4C79-46C0-8EBD-337417577321}"/>
              </a:ext>
            </a:extLst>
          </p:cNvPr>
          <p:cNvSpPr>
            <a:spLocks noGrp="1"/>
          </p:cNvSpPr>
          <p:nvPr/>
        </p:nvSpPr>
        <p:spPr>
          <a:xfrm>
            <a:off x="628650" y="1323975"/>
            <a:ext cx="10934700" cy="0"/>
          </a:xfrm>
          <a:prstGeom prst="line">
            <a:avLst/>
          </a:prstGeom>
          <a:noFill/>
          <a:ln w="12383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EC9CB82-C1D4-432D-829B-524A3433D36C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4000"/>
              </a:lnSpc>
              <a:buNone/>
              <a:def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F864089-7468-4FFF-B4C0-05D0EC99E9E9}"/>
              </a:ext>
            </a:extLst>
          </p:cNvPr>
          <p:cNvSpPr>
            <a:spLocks noGrp="1"/>
          </p:cNvSpPr>
          <p:nvPr/>
        </p:nvSpPr>
        <p:spPr>
          <a:xfrm>
            <a:off x="628650" y="14668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575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 dirty="0" err="1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Recursos</a:t>
            </a:r>
            <a:r>
              <a:rPr lang="pt-BR"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 distribuídos</a:t>
            </a:r>
            <a:r>
              <a:rPr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0" i="0" dirty="0" err="1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conectados</a:t>
            </a:r>
            <a:r>
              <a:rPr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0" i="0" dirty="0" err="1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às</a:t>
            </a:r>
            <a:r>
              <a:rPr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1" i="0" dirty="0">
                <a:solidFill>
                  <a:schemeClr val="tx2">
                    <a:lumMod val="75000"/>
                    <a:lumOff val="25000"/>
                  </a:schemeClr>
                </a:solidFill>
                <a:latin typeface="DejaVu Sans"/>
                <a:ea typeface="DejaVu Sans"/>
                <a:cs typeface="DejaVu Sans"/>
              </a:rPr>
              <a:t>redes de </a:t>
            </a:r>
            <a:r>
              <a:rPr sz="1575" b="1" i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DejaVu Sans"/>
                <a:ea typeface="DejaVu Sans"/>
                <a:cs typeface="DejaVu Sans"/>
              </a:rPr>
              <a:t>distribuição</a:t>
            </a:r>
            <a:r>
              <a:rPr sz="1575" b="1" i="0" dirty="0">
                <a:solidFill>
                  <a:schemeClr val="tx2">
                    <a:lumMod val="75000"/>
                    <a:lumOff val="25000"/>
                  </a:schemeClr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0" i="0" dirty="0" err="1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já</a:t>
            </a:r>
            <a:r>
              <a:rPr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0" i="0" dirty="0" err="1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têm</a:t>
            </a:r>
            <a:r>
              <a:rPr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pt-BR" sz="1575" b="1" i="0" dirty="0">
                <a:solidFill>
                  <a:schemeClr val="tx2">
                    <a:lumMod val="75000"/>
                    <a:lumOff val="25000"/>
                  </a:schemeClr>
                </a:solidFill>
                <a:latin typeface="DejaVu Sans"/>
                <a:ea typeface="DejaVu Sans"/>
                <a:cs typeface="DejaVu Sans"/>
              </a:rPr>
              <a:t>impacto</a:t>
            </a:r>
            <a:r>
              <a:rPr sz="1575" b="1" i="0" dirty="0">
                <a:solidFill>
                  <a:schemeClr val="tx2">
                    <a:lumMod val="75000"/>
                    <a:lumOff val="25000"/>
                  </a:schemeClr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1" i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DejaVu Sans"/>
                <a:ea typeface="DejaVu Sans"/>
                <a:cs typeface="DejaVu Sans"/>
              </a:rPr>
              <a:t>sistêmic</a:t>
            </a:r>
            <a:r>
              <a:rPr lang="pt-BR" sz="1575" b="1" i="0" dirty="0">
                <a:solidFill>
                  <a:schemeClr val="tx2">
                    <a:lumMod val="75000"/>
                    <a:lumOff val="25000"/>
                  </a:schemeClr>
                </a:solidFill>
                <a:latin typeface="DejaVu Sans"/>
                <a:ea typeface="DejaVu Sans"/>
                <a:cs typeface="DejaVu Sans"/>
              </a:rPr>
              <a:t>o</a:t>
            </a:r>
            <a:r>
              <a:rPr sz="1575" b="1" i="0" dirty="0">
                <a:solidFill>
                  <a:schemeClr val="tx2">
                    <a:lumMod val="75000"/>
                    <a:lumOff val="25000"/>
                  </a:schemeClr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— mas </a:t>
            </a:r>
            <a:r>
              <a:rPr sz="1575" b="0" i="0" dirty="0" err="1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não</a:t>
            </a:r>
            <a:r>
              <a:rPr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0" i="0" dirty="0" err="1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oferecem</a:t>
            </a:r>
            <a:r>
              <a:rPr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0" i="0" dirty="0" err="1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ao</a:t>
            </a:r>
            <a:r>
              <a:rPr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 ONS o </a:t>
            </a:r>
            <a:r>
              <a:rPr sz="1575" b="0" i="0" dirty="0" err="1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mesmo</a:t>
            </a:r>
            <a:r>
              <a:rPr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0" i="0" dirty="0" err="1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nível</a:t>
            </a:r>
            <a:r>
              <a:rPr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 de </a:t>
            </a:r>
            <a:r>
              <a:rPr sz="1575" b="1" i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DejaVu Sans"/>
                <a:ea typeface="DejaVu Sans"/>
                <a:cs typeface="DejaVu Sans"/>
              </a:rPr>
              <a:t>observabilidade</a:t>
            </a:r>
            <a:r>
              <a:rPr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 e </a:t>
            </a:r>
            <a:r>
              <a:rPr sz="1575" b="1" i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DejaVu Sans"/>
                <a:ea typeface="DejaVu Sans"/>
                <a:cs typeface="DejaVu Sans"/>
              </a:rPr>
              <a:t>controlabilidade</a:t>
            </a:r>
            <a:r>
              <a:rPr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 do</a:t>
            </a:r>
            <a:r>
              <a:rPr lang="pt-BR"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s</a:t>
            </a:r>
            <a:r>
              <a:rPr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pt-BR"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recursos</a:t>
            </a:r>
            <a:r>
              <a:rPr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0" i="0" dirty="0" err="1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centralizado</a:t>
            </a:r>
            <a:r>
              <a:rPr lang="pt-BR"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s</a:t>
            </a:r>
            <a:endParaRPr sz="1575" b="0" i="0" dirty="0">
              <a:solidFill>
                <a:srgbClr val="52667C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304BC05C-7D04-4EF1-9705-8B543C53E524}"/>
              </a:ext>
            </a:extLst>
          </p:cNvPr>
          <p:cNvSpPr>
            <a:spLocks noGrp="1"/>
          </p:cNvSpPr>
          <p:nvPr/>
        </p:nvSpPr>
        <p:spPr>
          <a:xfrm>
            <a:off x="628650" y="5162550"/>
            <a:ext cx="10934700" cy="1028700"/>
          </a:xfrm>
          <a:prstGeom prst="roundRect">
            <a:avLst>
              <a:gd name="adj" fmla="val 18519"/>
            </a:avLst>
          </a:prstGeom>
          <a:solidFill>
            <a:srgbClr val="061B3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9E32D9E-467C-49D7-A0C5-CFAB0807E077}"/>
              </a:ext>
            </a:extLst>
          </p:cNvPr>
          <p:cNvSpPr>
            <a:spLocks noGrp="1"/>
          </p:cNvSpPr>
          <p:nvPr/>
        </p:nvSpPr>
        <p:spPr>
          <a:xfrm>
            <a:off x="933450" y="5353050"/>
            <a:ext cx="10287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9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</a:t>
            </a:r>
            <a:r>
              <a:rPr sz="1950" b="1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questão</a:t>
            </a:r>
            <a:r>
              <a:rPr sz="195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950" b="1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deixou</a:t>
            </a:r>
            <a:r>
              <a:rPr sz="195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de ser marginal: </a:t>
            </a:r>
            <a:r>
              <a:rPr sz="1950" b="1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ela</a:t>
            </a:r>
            <a:r>
              <a:rPr sz="195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altera o </a:t>
            </a:r>
            <a:r>
              <a:rPr sz="1950" b="1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balanço</a:t>
            </a:r>
            <a:r>
              <a:rPr sz="195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carga–</a:t>
            </a:r>
            <a:r>
              <a:rPr sz="1950" b="1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geração</a:t>
            </a:r>
            <a:r>
              <a:rPr sz="195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e as </a:t>
            </a:r>
            <a:r>
              <a:rPr sz="1950" b="1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margens</a:t>
            </a:r>
            <a:r>
              <a:rPr sz="195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pt-BR" sz="195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 segurança </a:t>
            </a:r>
            <a:r>
              <a:rPr sz="1950" b="1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operativas</a:t>
            </a:r>
            <a:r>
              <a:rPr sz="195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do SIN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3566F4A6-9623-4128-B9CC-13D3BA561E8A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10934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78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78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Fonte: ONS — PAR/PEL 2025, Sumário Executivo.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E7DA8EF0-A3F7-5668-9840-C11A0132C4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" b="29"/>
          <a:stretch/>
        </p:blipFill>
        <p:spPr>
          <a:xfrm>
            <a:off x="7877540" y="2282286"/>
            <a:ext cx="4059436" cy="2617278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BD6B0285-3D67-EAE4-3933-10F8BC1129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689" y="2497744"/>
            <a:ext cx="7225795" cy="186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1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3A71920C-9AE4-415A-8588-17DCC5CC5CE2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1905000"/>
          </a:xfrm>
          <a:prstGeom prst="rect">
            <a:avLst/>
          </a:prstGeom>
          <a:solidFill>
            <a:srgbClr val="031323">
              <a:alpha val="91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64BB110-FCF8-4435-A8D3-D382D4610476}"/>
              </a:ext>
            </a:extLst>
          </p:cNvPr>
          <p:cNvSpPr>
            <a:spLocks noGrp="1"/>
          </p:cNvSpPr>
          <p:nvPr/>
        </p:nvSpPr>
        <p:spPr>
          <a:xfrm>
            <a:off x="628650" y="521970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58D6A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 dirty="0">
                <a:solidFill>
                  <a:srgbClr val="58D6A5"/>
                </a:solidFill>
                <a:latin typeface="DejaVu Sans"/>
                <a:ea typeface="DejaVu Sans"/>
                <a:cs typeface="DejaVu Sans"/>
              </a:rPr>
              <a:t>A LACUNA OPERACIONAL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4A32097-0624-4F40-8DD6-7C850761A56C}"/>
              </a:ext>
            </a:extLst>
          </p:cNvPr>
          <p:cNvSpPr>
            <a:spLocks noGrp="1"/>
          </p:cNvSpPr>
          <p:nvPr/>
        </p:nvSpPr>
        <p:spPr>
          <a:xfrm>
            <a:off x="628650" y="5514975"/>
            <a:ext cx="7810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104"/>
          </a:bodyPr>
          <a:lstStyle/>
          <a:p>
            <a:pPr algn="l">
              <a:lnSpc>
                <a:spcPct val="106000"/>
              </a:lnSpc>
              <a:buNone/>
              <a:defRPr sz="21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Rede </a:t>
            </a:r>
            <a:r>
              <a:rPr sz="2100" b="1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Básica</a:t>
            </a:r>
            <a:r>
              <a:rPr sz="210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é </a:t>
            </a:r>
            <a:r>
              <a:rPr sz="2100" b="1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supervisionada</a:t>
            </a:r>
            <a:r>
              <a:rPr sz="210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pt-BR" sz="210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pelo ONS</a:t>
            </a:r>
            <a:endParaRPr sz="2100" b="1" i="0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lnSpc>
                <a:spcPct val="106000"/>
              </a:lnSpc>
              <a:buNone/>
              <a:defRPr sz="21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Na </a:t>
            </a:r>
            <a:r>
              <a:rPr sz="2100" b="1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distribuição</a:t>
            </a:r>
            <a:r>
              <a:rPr sz="210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, </a:t>
            </a:r>
            <a:r>
              <a:rPr lang="pt-BR" sz="210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não apresenta a mesma </a:t>
            </a:r>
            <a:r>
              <a:rPr lang="pt-BR" sz="2100" b="1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observabilidade</a:t>
            </a:r>
            <a:r>
              <a:rPr lang="pt-BR" sz="21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.</a:t>
            </a:r>
          </a:p>
          <a:p>
            <a:pPr algn="l">
              <a:lnSpc>
                <a:spcPct val="106000"/>
              </a:lnSpc>
              <a:buNone/>
              <a:defRPr sz="21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pt-BR" sz="210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geração distribuída apresenta eleva</a:t>
            </a:r>
            <a:r>
              <a:rPr lang="pt-BR" sz="21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 grau de incertezas.</a:t>
            </a:r>
            <a:endParaRPr sz="2100" b="1" i="0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959E11E-B229-447E-92A5-09DCBFDC314E}"/>
              </a:ext>
            </a:extLst>
          </p:cNvPr>
          <p:cNvSpPr>
            <a:spLocks noGrp="1"/>
          </p:cNvSpPr>
          <p:nvPr/>
        </p:nvSpPr>
        <p:spPr>
          <a:xfrm>
            <a:off x="9010650" y="5600700"/>
            <a:ext cx="2552700" cy="323850"/>
          </a:xfrm>
          <a:prstGeom prst="roundRect">
            <a:avLst>
              <a:gd name="adj" fmla="val 50000"/>
            </a:avLst>
          </a:prstGeom>
          <a:solidFill>
            <a:srgbClr val="22C7F2"/>
          </a:solidFill>
          <a:ln w="0">
            <a:noFill/>
            <a:prstDash val="solid"/>
          </a:ln>
        </p:spPr>
        <p:txBody>
          <a:bodyPr lIns="95250" tIns="0" rIns="95250" bIns="0" anchor="ctr">
            <a:normAutofit/>
          </a:bodyPr>
          <a:lstStyle/>
          <a:p>
            <a:pPr algn="ctr">
              <a:defRPr sz="975" b="1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FRONTEIRA TSO–DSO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EF5BDD6-4903-4CFF-8899-7AAF78424B2C}"/>
              </a:ext>
            </a:extLst>
          </p:cNvPr>
          <p:cNvSpPr>
            <a:spLocks noGrp="1"/>
          </p:cNvSpPr>
          <p:nvPr/>
        </p:nvSpPr>
        <p:spPr>
          <a:xfrm>
            <a:off x="9048750" y="6019800"/>
            <a:ext cx="2476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25" b="0" i="0">
                <a:solidFill>
                  <a:srgbClr val="D9F6FD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i="0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onde a incerteza se concentra</a:t>
            </a:r>
          </a:p>
        </p:txBody>
      </p:sp>
    </p:spTree>
    <p:extLst>
      <p:ext uri="{BB962C8B-B14F-4D97-AF65-F5344CB8AC3E}">
        <p14:creationId xmlns:p14="http://schemas.microsoft.com/office/powerpoint/2010/main" val="543649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DC5D6B88-352F-465D-8165-86F80F26247D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rPr>
              <a:t>CURTAILMENT POR RAZÃO ENERGÉTICA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D7C9AFB-0EB4-467F-883D-7B5499418580}"/>
              </a:ext>
            </a:extLst>
          </p:cNvPr>
          <p:cNvSpPr>
            <a:spLocks noGrp="1"/>
          </p:cNvSpPr>
          <p:nvPr/>
        </p:nvSpPr>
        <p:spPr>
          <a:xfrm>
            <a:off x="628650" y="666750"/>
            <a:ext cx="10382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30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Quando o excedente vira restrição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3448C386-BB3A-43F8-A292-F73830DFB079}"/>
              </a:ext>
            </a:extLst>
          </p:cNvPr>
          <p:cNvSpPr>
            <a:spLocks noGrp="1"/>
          </p:cNvSpPr>
          <p:nvPr/>
        </p:nvSpPr>
        <p:spPr>
          <a:xfrm>
            <a:off x="628650" y="1323975"/>
            <a:ext cx="10934700" cy="0"/>
          </a:xfrm>
          <a:prstGeom prst="line">
            <a:avLst/>
          </a:prstGeom>
          <a:noFill/>
          <a:ln w="12383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413CF04-19BB-4328-AE1D-C65F3F3FE1F2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4000"/>
              </a:lnSpc>
              <a:buNone/>
              <a:def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0108BC6-5A49-4A6C-B69A-4B3EC608FE97}"/>
              </a:ext>
            </a:extLst>
          </p:cNvPr>
          <p:cNvSpPr>
            <a:spLocks noGrp="1"/>
          </p:cNvSpPr>
          <p:nvPr/>
        </p:nvSpPr>
        <p:spPr>
          <a:xfrm>
            <a:off x="628650" y="1457325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Esquema conceitual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D5C57EC6-CC14-4BBC-ABAD-CB55A591862E}"/>
              </a:ext>
            </a:extLst>
          </p:cNvPr>
          <p:cNvSpPr>
            <a:spLocks noGrp="1"/>
          </p:cNvSpPr>
          <p:nvPr/>
        </p:nvSpPr>
        <p:spPr>
          <a:xfrm>
            <a:off x="628650" y="1933575"/>
            <a:ext cx="2190750" cy="1790700"/>
          </a:xfrm>
          <a:prstGeom prst="roundRect">
            <a:avLst>
              <a:gd name="adj" fmla="val 10638"/>
            </a:avLst>
          </a:prstGeom>
          <a:solidFill>
            <a:srgbClr val="D9F6FD"/>
          </a:solidFill>
          <a:ln w="14288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425FD913-BF2B-4AD3-9513-F8FE5261E6FE}"/>
              </a:ext>
            </a:extLst>
          </p:cNvPr>
          <p:cNvSpPr>
            <a:spLocks noGrp="1"/>
          </p:cNvSpPr>
          <p:nvPr/>
        </p:nvSpPr>
        <p:spPr>
          <a:xfrm>
            <a:off x="800100" y="2105025"/>
            <a:ext cx="342900" cy="342900"/>
          </a:xfrm>
          <a:prstGeom prst="ellipse">
            <a:avLst/>
          </a:prstGeom>
          <a:solidFill>
            <a:srgbClr val="22C7F2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2221286-7AF8-44FF-82C2-7AF9291672F9}"/>
              </a:ext>
            </a:extLst>
          </p:cNvPr>
          <p:cNvSpPr>
            <a:spLocks noGrp="1"/>
          </p:cNvSpPr>
          <p:nvPr/>
        </p:nvSpPr>
        <p:spPr>
          <a:xfrm>
            <a:off x="838200" y="2581275"/>
            <a:ext cx="1790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5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Alta produção</a:t>
            </a:r>
          </a:p>
          <a:p>
            <a:pPr algn="ctr">
              <a:lnSpc>
                <a:spcPct val="104000"/>
              </a:lnSpc>
              <a:buNone/>
              <a:defRPr sz="15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renovável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90A1D61-3C3E-4F84-91AD-0813FC53A6A6}"/>
              </a:ext>
            </a:extLst>
          </p:cNvPr>
          <p:cNvSpPr>
            <a:spLocks noGrp="1"/>
          </p:cNvSpPr>
          <p:nvPr/>
        </p:nvSpPr>
        <p:spPr>
          <a:xfrm>
            <a:off x="819150" y="32956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05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solar e eólica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D84914A4-3A5F-4E44-97F7-AE21FE61DB97}"/>
              </a:ext>
            </a:extLst>
          </p:cNvPr>
          <p:cNvSpPr>
            <a:spLocks noGrp="1"/>
          </p:cNvSpPr>
          <p:nvPr/>
        </p:nvSpPr>
        <p:spPr>
          <a:xfrm>
            <a:off x="3371850" y="1933575"/>
            <a:ext cx="2190750" cy="1790700"/>
          </a:xfrm>
          <a:prstGeom prst="roundRect">
            <a:avLst>
              <a:gd name="adj" fmla="val 10638"/>
            </a:avLst>
          </a:prstGeom>
          <a:solidFill>
            <a:srgbClr val="DDF8ED"/>
          </a:solidFill>
          <a:ln w="14288">
            <a:solidFill>
              <a:srgbClr val="58D6A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865D3688-1904-4E8B-AB3A-E35B6B1B6508}"/>
              </a:ext>
            </a:extLst>
          </p:cNvPr>
          <p:cNvSpPr>
            <a:spLocks noGrp="1"/>
          </p:cNvSpPr>
          <p:nvPr/>
        </p:nvSpPr>
        <p:spPr>
          <a:xfrm>
            <a:off x="3543300" y="2105025"/>
            <a:ext cx="342900" cy="342900"/>
          </a:xfrm>
          <a:prstGeom prst="ellipse">
            <a:avLst/>
          </a:prstGeom>
          <a:solidFill>
            <a:srgbClr val="58D6A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710A1A6-4495-4C66-828F-13F8C6B93CA8}"/>
              </a:ext>
            </a:extLst>
          </p:cNvPr>
          <p:cNvSpPr>
            <a:spLocks noGrp="1"/>
          </p:cNvSpPr>
          <p:nvPr/>
        </p:nvSpPr>
        <p:spPr>
          <a:xfrm>
            <a:off x="3581400" y="2581275"/>
            <a:ext cx="1790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1145"/>
          </a:bodyPr>
          <a:lstStyle/>
          <a:p>
            <a:pPr algn="ctr">
              <a:lnSpc>
                <a:spcPct val="104000"/>
              </a:lnSpc>
              <a:buNone/>
              <a:defRPr sz="15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Baixa demanda +</a:t>
            </a:r>
          </a:p>
          <a:p>
            <a:pPr algn="ctr">
              <a:lnSpc>
                <a:spcPct val="104000"/>
              </a:lnSpc>
              <a:buNone/>
              <a:defRPr sz="15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MMGD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9651CB6-24F5-4FFA-B455-EC1119DE2C00}"/>
              </a:ext>
            </a:extLst>
          </p:cNvPr>
          <p:cNvSpPr>
            <a:spLocks noGrp="1"/>
          </p:cNvSpPr>
          <p:nvPr/>
        </p:nvSpPr>
        <p:spPr>
          <a:xfrm>
            <a:off x="3562350" y="32956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05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carga mascarada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027880E8-7A7F-4FFA-96C0-341364A46376}"/>
              </a:ext>
            </a:extLst>
          </p:cNvPr>
          <p:cNvSpPr>
            <a:spLocks noGrp="1"/>
          </p:cNvSpPr>
          <p:nvPr/>
        </p:nvSpPr>
        <p:spPr>
          <a:xfrm>
            <a:off x="6115050" y="1933575"/>
            <a:ext cx="2190750" cy="1790700"/>
          </a:xfrm>
          <a:prstGeom prst="roundRect">
            <a:avLst>
              <a:gd name="adj" fmla="val 10638"/>
            </a:avLst>
          </a:prstGeom>
          <a:solidFill>
            <a:srgbClr val="FFF0E2"/>
          </a:solidFill>
          <a:ln w="14288">
            <a:solidFill>
              <a:srgbClr val="D8690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EFB0B764-AD99-4512-9469-B5ACADD523F5}"/>
              </a:ext>
            </a:extLst>
          </p:cNvPr>
          <p:cNvSpPr>
            <a:spLocks noGrp="1"/>
          </p:cNvSpPr>
          <p:nvPr/>
        </p:nvSpPr>
        <p:spPr>
          <a:xfrm>
            <a:off x="6286500" y="2105025"/>
            <a:ext cx="342900" cy="342900"/>
          </a:xfrm>
          <a:prstGeom prst="ellipse">
            <a:avLst/>
          </a:prstGeom>
          <a:solidFill>
            <a:srgbClr val="D8690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E077A481-FC40-4B72-8FC5-85EFD50CE141}"/>
              </a:ext>
            </a:extLst>
          </p:cNvPr>
          <p:cNvSpPr>
            <a:spLocks noGrp="1"/>
          </p:cNvSpPr>
          <p:nvPr/>
        </p:nvSpPr>
        <p:spPr>
          <a:xfrm>
            <a:off x="6324600" y="2581275"/>
            <a:ext cx="1790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988" lnSpcReduction="10000"/>
          </a:bodyPr>
          <a:lstStyle/>
          <a:p>
            <a:pPr algn="ctr">
              <a:lnSpc>
                <a:spcPct val="104000"/>
              </a:lnSpc>
              <a:buNone/>
              <a:defRPr sz="15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Menor carga líquida</a:t>
            </a:r>
          </a:p>
          <a:p>
            <a:pPr algn="ctr">
              <a:lnSpc>
                <a:spcPct val="104000"/>
              </a:lnSpc>
              <a:buNone/>
              <a:defRPr sz="15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supervisionada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F1F6D2E4-0834-4605-9D81-D4BC27A6825C}"/>
              </a:ext>
            </a:extLst>
          </p:cNvPr>
          <p:cNvSpPr>
            <a:spLocks noGrp="1"/>
          </p:cNvSpPr>
          <p:nvPr/>
        </p:nvSpPr>
        <p:spPr>
          <a:xfrm>
            <a:off x="6305550" y="32956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7254"/>
          </a:bodyPr>
          <a:lstStyle/>
          <a:p>
            <a:pPr algn="ctr">
              <a:lnSpc>
                <a:spcPct val="104000"/>
              </a:lnSpc>
              <a:buNone/>
              <a:defRPr sz="105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menos margem de absorção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9D28F1C7-7BEF-434B-B37C-455918F84D0B}"/>
              </a:ext>
            </a:extLst>
          </p:cNvPr>
          <p:cNvSpPr>
            <a:spLocks noGrp="1"/>
          </p:cNvSpPr>
          <p:nvPr/>
        </p:nvSpPr>
        <p:spPr>
          <a:xfrm>
            <a:off x="8858250" y="1933575"/>
            <a:ext cx="2190750" cy="1790700"/>
          </a:xfrm>
          <a:prstGeom prst="roundRect">
            <a:avLst>
              <a:gd name="adj" fmla="val 10638"/>
            </a:avLst>
          </a:prstGeom>
          <a:solidFill>
            <a:srgbClr val="FDE6E6"/>
          </a:solidFill>
          <a:ln w="14288">
            <a:solidFill>
              <a:srgbClr val="E85C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DA05BF88-424A-4C49-BDC2-D21155C9485F}"/>
              </a:ext>
            </a:extLst>
          </p:cNvPr>
          <p:cNvSpPr>
            <a:spLocks noGrp="1"/>
          </p:cNvSpPr>
          <p:nvPr/>
        </p:nvSpPr>
        <p:spPr>
          <a:xfrm>
            <a:off x="9029700" y="2105025"/>
            <a:ext cx="342900" cy="342900"/>
          </a:xfrm>
          <a:prstGeom prst="ellipse">
            <a:avLst/>
          </a:prstGeom>
          <a:solidFill>
            <a:srgbClr val="E85C5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1F07425-DE78-4916-B981-51117F6E1A8E}"/>
              </a:ext>
            </a:extLst>
          </p:cNvPr>
          <p:cNvSpPr>
            <a:spLocks noGrp="1"/>
          </p:cNvSpPr>
          <p:nvPr/>
        </p:nvSpPr>
        <p:spPr>
          <a:xfrm>
            <a:off x="9067800" y="2581275"/>
            <a:ext cx="1790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5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Excedente de</a:t>
            </a:r>
          </a:p>
          <a:p>
            <a:pPr algn="ctr">
              <a:lnSpc>
                <a:spcPct val="104000"/>
              </a:lnSpc>
              <a:buNone/>
              <a:defRPr sz="15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geração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1958C3BA-D979-434D-816F-C7D404235140}"/>
              </a:ext>
            </a:extLst>
          </p:cNvPr>
          <p:cNvSpPr>
            <a:spLocks noGrp="1"/>
          </p:cNvSpPr>
          <p:nvPr/>
        </p:nvSpPr>
        <p:spPr>
          <a:xfrm>
            <a:off x="9048750" y="32956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05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risco de curtailment</a:t>
            </a:r>
          </a:p>
        </p:txBody>
      </p:sp>
      <p:cxnSp>
        <p:nvCxnSpPr>
          <p:cNvPr id="54" name="Conector de Seta Reta 53"/>
          <p:cNvCxnSpPr>
            <a:stCxn id="6" idx="3"/>
            <a:endCxn id="10" idx="1"/>
          </p:cNvCxnSpPr>
          <p:nvPr/>
        </p:nvCxnSpPr>
        <p:spPr>
          <a:xfrm>
            <a:off x="2819400" y="2828925"/>
            <a:ext cx="552450" cy="0"/>
          </a:xfrm>
          <a:prstGeom prst="straightConnector1">
            <a:avLst/>
          </a:prstGeom>
          <a:ln w="22860">
            <a:solidFill>
              <a:srgbClr val="123C67"/>
            </a:solidFill>
            <a:prstDash val="solid"/>
            <a:tailEnd type="arrow" w="med" len="med"/>
          </a:ln>
        </p:spPr>
      </p:cxnSp>
      <p:cxnSp>
        <p:nvCxnSpPr>
          <p:cNvPr id="55" name="Conector de Seta Reta 54"/>
          <p:cNvCxnSpPr>
            <a:stCxn id="10" idx="3"/>
            <a:endCxn id="14" idx="1"/>
          </p:cNvCxnSpPr>
          <p:nvPr/>
        </p:nvCxnSpPr>
        <p:spPr>
          <a:xfrm>
            <a:off x="5562600" y="2828925"/>
            <a:ext cx="552450" cy="0"/>
          </a:xfrm>
          <a:prstGeom prst="straightConnector1">
            <a:avLst/>
          </a:prstGeom>
          <a:ln w="22860">
            <a:solidFill>
              <a:srgbClr val="123C67"/>
            </a:solidFill>
            <a:prstDash val="solid"/>
            <a:tailEnd type="arrow" w="med" len="med"/>
          </a:ln>
        </p:spPr>
      </p:cxnSp>
      <p:cxnSp>
        <p:nvCxnSpPr>
          <p:cNvPr id="56" name="Conector de Seta Reta 55"/>
          <p:cNvCxnSpPr>
            <a:stCxn id="14" idx="3"/>
            <a:endCxn id="18" idx="1"/>
          </p:cNvCxnSpPr>
          <p:nvPr/>
        </p:nvCxnSpPr>
        <p:spPr>
          <a:xfrm>
            <a:off x="8305800" y="2828925"/>
            <a:ext cx="552450" cy="0"/>
          </a:xfrm>
          <a:prstGeom prst="straightConnector1">
            <a:avLst/>
          </a:prstGeom>
          <a:ln w="22860">
            <a:solidFill>
              <a:srgbClr val="123C67"/>
            </a:solidFill>
            <a:prstDash val="solid"/>
            <a:tailEnd type="arrow" w="med" len="med"/>
          </a:ln>
        </p:spPr>
      </p:cxn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A900639E-3F85-47D7-A8CC-3092E805219A}"/>
              </a:ext>
            </a:extLst>
          </p:cNvPr>
          <p:cNvSpPr>
            <a:spLocks noGrp="1"/>
          </p:cNvSpPr>
          <p:nvPr/>
        </p:nvSpPr>
        <p:spPr>
          <a:xfrm>
            <a:off x="628650" y="4095750"/>
            <a:ext cx="6819900" cy="1409700"/>
          </a:xfrm>
          <a:prstGeom prst="roundRect">
            <a:avLst>
              <a:gd name="adj" fmla="val 13514"/>
            </a:avLst>
          </a:prstGeom>
          <a:solidFill>
            <a:srgbClr val="061B3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DA8E5CAC-8761-43AA-B3EF-5139989D903C}"/>
              </a:ext>
            </a:extLst>
          </p:cNvPr>
          <p:cNvSpPr>
            <a:spLocks noGrp="1"/>
          </p:cNvSpPr>
          <p:nvPr/>
        </p:nvSpPr>
        <p:spPr>
          <a:xfrm>
            <a:off x="895350" y="43053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58D6A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58D6A5"/>
                </a:solidFill>
                <a:latin typeface="DejaVu Sans"/>
                <a:ea typeface="DejaVu Sans"/>
                <a:cs typeface="DejaVu Sans"/>
              </a:rPr>
              <a:t>RESTRIÇÃO OPERATIVA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2FDDCEC0-7FC1-438F-A7C0-19141797DF7B}"/>
              </a:ext>
            </a:extLst>
          </p:cNvPr>
          <p:cNvSpPr>
            <a:spLocks noGrp="1"/>
          </p:cNvSpPr>
          <p:nvPr/>
        </p:nvSpPr>
        <p:spPr>
          <a:xfrm>
            <a:off x="895350" y="4610100"/>
            <a:ext cx="619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531" lnSpcReduction="10000"/>
          </a:bodyPr>
          <a:lstStyle/>
          <a:p>
            <a:pPr algn="l">
              <a:lnSpc>
                <a:spcPct val="104000"/>
              </a:lnSpc>
              <a:buNone/>
              <a:defRPr sz="157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 corte é uma medida técnica para preservar segurança, confiabilidade, limites elétricos e requisitos mínimos de operação do SIN.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CED6E207-F0DA-4818-BEEF-0BBFD9BDD2BC}"/>
              </a:ext>
            </a:extLst>
          </p:cNvPr>
          <p:cNvSpPr>
            <a:spLocks noGrp="1"/>
          </p:cNvSpPr>
          <p:nvPr/>
        </p:nvSpPr>
        <p:spPr>
          <a:xfrm>
            <a:off x="7734300" y="4095750"/>
            <a:ext cx="3829050" cy="1409700"/>
          </a:xfrm>
          <a:prstGeom prst="roundRect">
            <a:avLst>
              <a:gd name="adj" fmla="val 13514"/>
            </a:avLst>
          </a:prstGeom>
          <a:solidFill>
            <a:srgbClr val="0E3158"/>
          </a:solidFill>
          <a:ln w="1143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5784745A-3A62-45E7-8335-FFB2B7638B61}"/>
              </a:ext>
            </a:extLst>
          </p:cNvPr>
          <p:cNvSpPr>
            <a:spLocks noGrp="1"/>
          </p:cNvSpPr>
          <p:nvPr/>
        </p:nvSpPr>
        <p:spPr>
          <a:xfrm>
            <a:off x="8001000" y="425767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D9F6FD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até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59170512-9976-4337-AFCE-719F40BF01B7}"/>
              </a:ext>
            </a:extLst>
          </p:cNvPr>
          <p:cNvSpPr>
            <a:spLocks noGrp="1"/>
          </p:cNvSpPr>
          <p:nvPr/>
        </p:nvSpPr>
        <p:spPr>
          <a:xfrm>
            <a:off x="8001000" y="4476750"/>
            <a:ext cx="200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31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4,9 GW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2B89960C-DF83-47C2-BDE6-82BC92A99A96}"/>
              </a:ext>
            </a:extLst>
          </p:cNvPr>
          <p:cNvSpPr>
            <a:spLocks noGrp="1"/>
          </p:cNvSpPr>
          <p:nvPr/>
        </p:nvSpPr>
        <p:spPr>
          <a:xfrm>
            <a:off x="8001000" y="5038725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154"/>
          </a:bodyPr>
          <a:lstStyle/>
          <a:p>
            <a:pPr algn="l">
              <a:lnSpc>
                <a:spcPct val="104000"/>
              </a:lnSpc>
              <a:buNone/>
              <a:defRPr sz="1125" b="0" i="0">
                <a:solidFill>
                  <a:srgbClr val="D9F6FD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i="0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de excedente projetado em domingos de 2029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CD6D995D-CD42-459F-AF0A-1B6AD7D5781C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10934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78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78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Fontes: ONS — FAQ Curtailment; PAR/PEL 2025. O O.R.A.C.U.L.O. foca o risco por razão energética.</a:t>
            </a:r>
          </a:p>
        </p:txBody>
      </p:sp>
    </p:spTree>
    <p:extLst>
      <p:ext uri="{BB962C8B-B14F-4D97-AF65-F5344CB8AC3E}">
        <p14:creationId xmlns:p14="http://schemas.microsoft.com/office/powerpoint/2010/main" val="953358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>
            <a:extLst>
              <a:ext uri="{FF2B5EF4-FFF2-40B4-BE49-F238E27FC236}">
                <a16:creationId xmlns:a16="http://schemas.microsoft.com/office/drawing/2014/main" id="{66ED41FB-7748-4B01-92F9-0F7B0F3481E6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rPr>
              <a:t>A SOLUÇÃO PROPOSTA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2D170C4-7E44-4822-8063-0432B65E9532}"/>
              </a:ext>
            </a:extLst>
          </p:cNvPr>
          <p:cNvSpPr>
            <a:spLocks noGrp="1"/>
          </p:cNvSpPr>
          <p:nvPr/>
        </p:nvSpPr>
        <p:spPr>
          <a:xfrm>
            <a:off x="628650" y="666750"/>
            <a:ext cx="10382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27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Dois eixos prioritários. Uma inteligência comum.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A7D71BBA-417F-4D3F-B462-79C9B87F7818}"/>
              </a:ext>
            </a:extLst>
          </p:cNvPr>
          <p:cNvSpPr>
            <a:spLocks noGrp="1"/>
          </p:cNvSpPr>
          <p:nvPr/>
        </p:nvSpPr>
        <p:spPr>
          <a:xfrm>
            <a:off x="628650" y="1323975"/>
            <a:ext cx="10934700" cy="0"/>
          </a:xfrm>
          <a:prstGeom prst="line">
            <a:avLst/>
          </a:prstGeom>
          <a:noFill/>
          <a:ln w="12383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80C3301-D654-4DD9-93AC-989C3E5C1043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4000"/>
              </a:lnSpc>
              <a:buNone/>
              <a:def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1F43D974-1DBB-4372-A544-E9EB8429D482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5219700" cy="3486150"/>
          </a:xfrm>
          <a:prstGeom prst="roundRect">
            <a:avLst>
              <a:gd name="adj" fmla="val 6011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AC76606-7D4E-47B1-9291-3B91D6FD5FE8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5219700" cy="552450"/>
          </a:xfrm>
          <a:prstGeom prst="roundRect">
            <a:avLst>
              <a:gd name="adj" fmla="val 37931"/>
            </a:avLst>
          </a:prstGeom>
          <a:solidFill>
            <a:srgbClr val="D8690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7AD4D02-1673-4F50-9B4F-2DDA37CAA290}"/>
              </a:ext>
            </a:extLst>
          </p:cNvPr>
          <p:cNvSpPr>
            <a:spLocks noGrp="1"/>
          </p:cNvSpPr>
          <p:nvPr/>
        </p:nvSpPr>
        <p:spPr>
          <a:xfrm>
            <a:off x="876300" y="1743075"/>
            <a:ext cx="472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2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EIXO 1 · CARGA E MMGD NOS ESTUDOS ELÉTRICOS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DCC60EB-1F87-4F1E-A3DC-569E5D7631FD}"/>
              </a:ext>
            </a:extLst>
          </p:cNvPr>
          <p:cNvSpPr>
            <a:spLocks noGrp="1"/>
          </p:cNvSpPr>
          <p:nvPr/>
        </p:nvSpPr>
        <p:spPr>
          <a:xfrm>
            <a:off x="895350" y="239077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D8690E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D8690E"/>
                </a:solidFill>
                <a:latin typeface="DejaVu Sans"/>
                <a:ea typeface="DejaVu Sans"/>
                <a:cs typeface="DejaVu Sans"/>
              </a:rPr>
              <a:t>OBJETIVO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9E9BD09-2E87-4703-B0C1-6629F5E78566}"/>
              </a:ext>
            </a:extLst>
          </p:cNvPr>
          <p:cNvSpPr>
            <a:spLocks noGrp="1"/>
          </p:cNvSpPr>
          <p:nvPr/>
        </p:nvSpPr>
        <p:spPr>
          <a:xfrm>
            <a:off x="895350" y="2676525"/>
            <a:ext cx="4476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2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Caracterizar perfis de consumo e a presença da geração distribuída nas redes de distribuição.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1F954D4-5FA5-44A6-BD63-078EB1B638AF}"/>
              </a:ext>
            </a:extLst>
          </p:cNvPr>
          <p:cNvSpPr>
            <a:spLocks noGrp="1"/>
          </p:cNvSpPr>
          <p:nvPr/>
        </p:nvSpPr>
        <p:spPr>
          <a:xfrm>
            <a:off x="895350" y="33718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D8690E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D8690E"/>
                </a:solidFill>
                <a:latin typeface="DejaVu Sans"/>
                <a:ea typeface="DejaVu Sans"/>
                <a:cs typeface="DejaVu Sans"/>
              </a:rPr>
              <a:t>ENTREGA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913EF98-003A-4127-8E93-ADEC73AD1E4E}"/>
              </a:ext>
            </a:extLst>
          </p:cNvPr>
          <p:cNvSpPr>
            <a:spLocks noGrp="1"/>
          </p:cNvSpPr>
          <p:nvPr/>
        </p:nvSpPr>
        <p:spPr>
          <a:xfrm>
            <a:off x="895350" y="3657600"/>
            <a:ext cx="447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200" b="0" i="0">
                <a:solidFill>
                  <a:srgbClr val="1320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132033"/>
                </a:solidFill>
                <a:latin typeface="DejaVu Sans"/>
                <a:ea typeface="DejaVu Sans"/>
                <a:cs typeface="DejaVu Sans"/>
              </a:rPr>
              <a:t>Perfis e parâmetros consistentes para validar e calibrar modelos dinâmicos equivalentes de carga e MMGD.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5EC06958-E4EA-4D38-8FF2-D9F387D1B019}"/>
              </a:ext>
            </a:extLst>
          </p:cNvPr>
          <p:cNvSpPr>
            <a:spLocks noGrp="1"/>
          </p:cNvSpPr>
          <p:nvPr/>
        </p:nvSpPr>
        <p:spPr>
          <a:xfrm>
            <a:off x="895350" y="4448175"/>
            <a:ext cx="4095750" cy="323850"/>
          </a:xfrm>
          <a:prstGeom prst="roundRect">
            <a:avLst>
              <a:gd name="adj" fmla="val 50000"/>
            </a:avLst>
          </a:prstGeom>
          <a:solidFill>
            <a:srgbClr val="D8690E"/>
          </a:solidFill>
          <a:ln w="0">
            <a:noFill/>
            <a:prstDash val="solid"/>
          </a:ln>
        </p:spPr>
        <p:txBody>
          <a:bodyPr lIns="95250" tIns="0" rIns="95250" bIns="0" anchor="ctr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CLM · ESTABILIDADE ELETROMECÂNICA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51D351D-6886-4861-9702-94E00A679B17}"/>
              </a:ext>
            </a:extLst>
          </p:cNvPr>
          <p:cNvSpPr>
            <a:spLocks noGrp="1"/>
          </p:cNvSpPr>
          <p:nvPr/>
        </p:nvSpPr>
        <p:spPr>
          <a:xfrm>
            <a:off x="6343650" y="1619250"/>
            <a:ext cx="5219700" cy="3486150"/>
          </a:xfrm>
          <a:prstGeom prst="roundRect">
            <a:avLst>
              <a:gd name="adj" fmla="val 6011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FFF582A4-B2CF-414A-8CBC-28EC6C508372}"/>
              </a:ext>
            </a:extLst>
          </p:cNvPr>
          <p:cNvSpPr>
            <a:spLocks noGrp="1"/>
          </p:cNvSpPr>
          <p:nvPr/>
        </p:nvSpPr>
        <p:spPr>
          <a:xfrm>
            <a:off x="6343650" y="1619250"/>
            <a:ext cx="5219700" cy="552450"/>
          </a:xfrm>
          <a:prstGeom prst="roundRect">
            <a:avLst>
              <a:gd name="adj" fmla="val 37931"/>
            </a:avLst>
          </a:prstGeom>
          <a:solidFill>
            <a:srgbClr val="123C67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B48C875-6535-42B5-9DD8-7D54C4E4DFF8}"/>
              </a:ext>
            </a:extLst>
          </p:cNvPr>
          <p:cNvSpPr>
            <a:spLocks noGrp="1"/>
          </p:cNvSpPr>
          <p:nvPr/>
        </p:nvSpPr>
        <p:spPr>
          <a:xfrm>
            <a:off x="6591300" y="1743075"/>
            <a:ext cx="472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2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EIXO 2 · FORTALECIMENTO DA INTERFACE ONS–DSO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783878F-0BDF-493A-A0F9-08FC7875418C}"/>
              </a:ext>
            </a:extLst>
          </p:cNvPr>
          <p:cNvSpPr>
            <a:spLocks noGrp="1"/>
          </p:cNvSpPr>
          <p:nvPr/>
        </p:nvSpPr>
        <p:spPr>
          <a:xfrm>
            <a:off x="6610350" y="239077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rPr>
              <a:t>OBJETIVO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76DD0F3-7215-4103-899F-0FF5FE4CF2BD}"/>
              </a:ext>
            </a:extLst>
          </p:cNvPr>
          <p:cNvSpPr>
            <a:spLocks noGrp="1"/>
          </p:cNvSpPr>
          <p:nvPr/>
        </p:nvSpPr>
        <p:spPr>
          <a:xfrm>
            <a:off x="6610350" y="2676525"/>
            <a:ext cx="4476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97" lnSpcReduction="10000"/>
          </a:bodyPr>
          <a:lstStyle/>
          <a:p>
            <a:pPr algn="l">
              <a:lnSpc>
                <a:spcPct val="104000"/>
              </a:lnSpc>
              <a:buNone/>
              <a:defRPr sz="12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Ampliar a observabilidade e a previsibilidade da carga e da MMGD na fronteira transmissão–distribuição.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AAAA222-B65E-4C8B-85FB-CD345F013527}"/>
              </a:ext>
            </a:extLst>
          </p:cNvPr>
          <p:cNvSpPr>
            <a:spLocks noGrp="1"/>
          </p:cNvSpPr>
          <p:nvPr/>
        </p:nvSpPr>
        <p:spPr>
          <a:xfrm>
            <a:off x="6610350" y="33718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rPr>
              <a:t>ENTREGA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9A2EC32A-53BB-47EA-AE58-506950ED15BB}"/>
              </a:ext>
            </a:extLst>
          </p:cNvPr>
          <p:cNvSpPr>
            <a:spLocks noGrp="1"/>
          </p:cNvSpPr>
          <p:nvPr/>
        </p:nvSpPr>
        <p:spPr>
          <a:xfrm>
            <a:off x="6610350" y="3657600"/>
            <a:ext cx="447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200" b="0" i="0">
                <a:solidFill>
                  <a:srgbClr val="1320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132033"/>
                </a:solidFill>
                <a:latin typeface="DejaVu Sans"/>
                <a:ea typeface="DejaVu Sans"/>
                <a:cs typeface="DejaVu Sans"/>
              </a:rPr>
              <a:t>Previsões e indicadores de risco por área, horizonte e causa, com rastreabilidade até as fontes.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468E74F4-0A99-4028-94B0-76C6996D75F1}"/>
              </a:ext>
            </a:extLst>
          </p:cNvPr>
          <p:cNvSpPr>
            <a:spLocks noGrp="1"/>
          </p:cNvSpPr>
          <p:nvPr/>
        </p:nvSpPr>
        <p:spPr>
          <a:xfrm>
            <a:off x="6610350" y="4448175"/>
            <a:ext cx="4229100" cy="323850"/>
          </a:xfrm>
          <a:prstGeom prst="roundRect">
            <a:avLst>
              <a:gd name="adj" fmla="val 50000"/>
            </a:avLst>
          </a:prstGeom>
          <a:solidFill>
            <a:srgbClr val="123C67"/>
          </a:solidFill>
          <a:ln w="0">
            <a:noFill/>
            <a:prstDash val="solid"/>
          </a:ln>
        </p:spPr>
        <p:txBody>
          <a:bodyPr lIns="95250" tIns="0" rIns="95250" bIns="0" anchor="ctr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COORDENAÇÃO · FLEXIBILIDADE · EXCEDENTES</a:t>
            </a:r>
          </a:p>
        </p:txBody>
      </p:sp>
      <p:sp>
        <p:nvSpPr>
          <p:cNvPr id="21" name="Conector reto 20">
            <a:extLst>
              <a:ext uri="{FF2B5EF4-FFF2-40B4-BE49-F238E27FC236}">
                <a16:creationId xmlns:a16="http://schemas.microsoft.com/office/drawing/2014/main" id="{EC64524F-E4B3-4E69-AF8A-28981EE74F97}"/>
              </a:ext>
            </a:extLst>
          </p:cNvPr>
          <p:cNvSpPr>
            <a:spLocks noGrp="1"/>
          </p:cNvSpPr>
          <p:nvPr/>
        </p:nvSpPr>
        <p:spPr>
          <a:xfrm>
            <a:off x="3238500" y="5105400"/>
            <a:ext cx="0" cy="400050"/>
          </a:xfrm>
          <a:prstGeom prst="line">
            <a:avLst/>
          </a:prstGeom>
          <a:noFill/>
          <a:ln w="20955">
            <a:solidFill>
              <a:srgbClr val="D8690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D3D56A10-513D-4712-8BA9-BB2D78F39BEB}"/>
              </a:ext>
            </a:extLst>
          </p:cNvPr>
          <p:cNvSpPr>
            <a:spLocks noGrp="1"/>
          </p:cNvSpPr>
          <p:nvPr/>
        </p:nvSpPr>
        <p:spPr>
          <a:xfrm>
            <a:off x="8953500" y="5105400"/>
            <a:ext cx="0" cy="400050"/>
          </a:xfrm>
          <a:prstGeom prst="line">
            <a:avLst/>
          </a:prstGeom>
          <a:noFill/>
          <a:ln w="20955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3187E438-87A3-413B-8C1F-1E4E3CA69311}"/>
              </a:ext>
            </a:extLst>
          </p:cNvPr>
          <p:cNvSpPr>
            <a:spLocks noGrp="1"/>
          </p:cNvSpPr>
          <p:nvPr/>
        </p:nvSpPr>
        <p:spPr>
          <a:xfrm>
            <a:off x="1428750" y="5467350"/>
            <a:ext cx="9334500" cy="742950"/>
          </a:xfrm>
          <a:prstGeom prst="roundRect">
            <a:avLst>
              <a:gd name="adj" fmla="val 25641"/>
            </a:avLst>
          </a:prstGeom>
          <a:solidFill>
            <a:srgbClr val="061B33"/>
          </a:solidFill>
          <a:ln w="12383">
            <a:solidFill>
              <a:srgbClr val="22C7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AE25E554-41B6-40E4-BCD0-DC3CDBB97F04}"/>
              </a:ext>
            </a:extLst>
          </p:cNvPr>
          <p:cNvSpPr>
            <a:spLocks noGrp="1"/>
          </p:cNvSpPr>
          <p:nvPr/>
        </p:nvSpPr>
        <p:spPr>
          <a:xfrm>
            <a:off x="1790700" y="5638800"/>
            <a:ext cx="861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8563"/>
          </a:bodyPr>
          <a:lstStyle/>
          <a:p>
            <a:pPr algn="ctr">
              <a:lnSpc>
                <a:spcPct val="104000"/>
              </a:lnSpc>
              <a:buNone/>
              <a:defRPr sz="142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O.R.A.C.U.L.O. integra os dois eixos: transforma dados fragmentados em perfis para estudos e previsões para a operação.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599A5806-83EF-42F5-85B9-C1D0441CD16A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10934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78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78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Aderência: Projeto Interface ONS/DSO e parametrização, validação e calibração de modelos de carga e MMGD — PAR/PEL 2025.</a:t>
            </a: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F3C1BBE6-1B8B-FE91-79CF-C90A6C533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86206" y="3862391"/>
            <a:ext cx="1405794" cy="1538283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3557A15-B05A-9AE7-C500-480FC9A8D2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991100" y="3890967"/>
            <a:ext cx="1460592" cy="153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9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tângulo 47">
            <a:extLst>
              <a:ext uri="{FF2B5EF4-FFF2-40B4-BE49-F238E27FC236}">
                <a16:creationId xmlns:a16="http://schemas.microsoft.com/office/drawing/2014/main" id="{08ACFC5D-E73C-45F7-B93F-981578248A51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rPr>
              <a:t>EIXO 1 · REPRESENTAÇÃO DA CARGA E DA MMGD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71BDBA9-04E0-4AC7-BCEA-DB9339C8A42E}"/>
              </a:ext>
            </a:extLst>
          </p:cNvPr>
          <p:cNvSpPr>
            <a:spLocks noGrp="1"/>
          </p:cNvSpPr>
          <p:nvPr/>
        </p:nvSpPr>
        <p:spPr>
          <a:xfrm>
            <a:off x="628650" y="666750"/>
            <a:ext cx="10382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285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Da série histórica ao Composite Load Model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5C09ABCF-28D4-4F8A-A172-B8946EB9431E}"/>
              </a:ext>
            </a:extLst>
          </p:cNvPr>
          <p:cNvSpPr>
            <a:spLocks noGrp="1"/>
          </p:cNvSpPr>
          <p:nvPr/>
        </p:nvSpPr>
        <p:spPr>
          <a:xfrm>
            <a:off x="628650" y="1323975"/>
            <a:ext cx="10934700" cy="0"/>
          </a:xfrm>
          <a:prstGeom prst="line">
            <a:avLst/>
          </a:prstGeom>
          <a:noFill/>
          <a:ln w="12383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A0366AA-1AB4-4DFC-BC2F-EFF59C5C7617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4000"/>
              </a:lnSpc>
              <a:buNone/>
              <a:def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776C539-F8A7-4A28-906D-2A5570CBEE7A}"/>
              </a:ext>
            </a:extLst>
          </p:cNvPr>
          <p:cNvSpPr>
            <a:spLocks noGrp="1"/>
          </p:cNvSpPr>
          <p:nvPr/>
        </p:nvSpPr>
        <p:spPr>
          <a:xfrm>
            <a:off x="628650" y="1457325"/>
            <a:ext cx="10715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35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Uma cadeia de evidências transforma medições em insumos qualificados para os modelos empregados nos estudos do SIN.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1ACE5ED-DD5D-48B4-8EAC-C183C76F681E}"/>
              </a:ext>
            </a:extLst>
          </p:cNvPr>
          <p:cNvSpPr>
            <a:spLocks noGrp="1"/>
          </p:cNvSpPr>
          <p:nvPr/>
        </p:nvSpPr>
        <p:spPr>
          <a:xfrm>
            <a:off x="628650" y="1971675"/>
            <a:ext cx="1981200" cy="1352550"/>
          </a:xfrm>
          <a:prstGeom prst="roundRect">
            <a:avLst>
              <a:gd name="adj" fmla="val 12676"/>
            </a:avLst>
          </a:prstGeom>
          <a:solidFill>
            <a:srgbClr val="FFFFFF"/>
          </a:solidFill>
          <a:ln w="12383">
            <a:solidFill>
              <a:srgbClr val="123C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CB0A899E-639C-4440-858C-BD2630F34348}"/>
              </a:ext>
            </a:extLst>
          </p:cNvPr>
          <p:cNvSpPr>
            <a:spLocks noGrp="1"/>
          </p:cNvSpPr>
          <p:nvPr/>
        </p:nvSpPr>
        <p:spPr>
          <a:xfrm>
            <a:off x="781050" y="2114550"/>
            <a:ext cx="323850" cy="323850"/>
          </a:xfrm>
          <a:prstGeom prst="ellipse">
            <a:avLst/>
          </a:prstGeom>
          <a:solidFill>
            <a:srgbClr val="123C67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CBC135A-09C5-4F21-94AC-4312FD5B2314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9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53776CC-1681-4354-BE38-07E06C09EDAE}"/>
              </a:ext>
            </a:extLst>
          </p:cNvPr>
          <p:cNvSpPr>
            <a:spLocks noGrp="1"/>
          </p:cNvSpPr>
          <p:nvPr/>
        </p:nvSpPr>
        <p:spPr>
          <a:xfrm>
            <a:off x="857250" y="2505075"/>
            <a:ext cx="15240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Séries históricas</a:t>
            </a:r>
          </a:p>
          <a:p>
            <a:pPr algn="ctr">
              <a:lnSpc>
                <a:spcPct val="104000"/>
              </a:lnSpc>
              <a:buNone/>
              <a:def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e medições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B346979-E1ED-4AA7-A28A-895038577729}"/>
              </a:ext>
            </a:extLst>
          </p:cNvPr>
          <p:cNvSpPr>
            <a:spLocks noGrp="1"/>
          </p:cNvSpPr>
          <p:nvPr/>
        </p:nvSpPr>
        <p:spPr>
          <a:xfrm>
            <a:off x="838200" y="3000375"/>
            <a:ext cx="15621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93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3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ONS + fronteira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120D946-9757-480E-A2AC-011B7343B8F2}"/>
              </a:ext>
            </a:extLst>
          </p:cNvPr>
          <p:cNvSpPr>
            <a:spLocks noGrp="1"/>
          </p:cNvSpPr>
          <p:nvPr/>
        </p:nvSpPr>
        <p:spPr>
          <a:xfrm>
            <a:off x="2819400" y="1971675"/>
            <a:ext cx="1981200" cy="1352550"/>
          </a:xfrm>
          <a:prstGeom prst="roundRect">
            <a:avLst>
              <a:gd name="adj" fmla="val 12676"/>
            </a:avLst>
          </a:prstGeom>
          <a:solidFill>
            <a:srgbClr val="FFFFFF"/>
          </a:solidFill>
          <a:ln w="12383">
            <a:solidFill>
              <a:srgbClr val="0E8B7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A1D1063F-2AC6-47B5-8289-B88E8D9E0730}"/>
              </a:ext>
            </a:extLst>
          </p:cNvPr>
          <p:cNvSpPr>
            <a:spLocks noGrp="1"/>
          </p:cNvSpPr>
          <p:nvPr/>
        </p:nvSpPr>
        <p:spPr>
          <a:xfrm>
            <a:off x="2971800" y="2114550"/>
            <a:ext cx="323850" cy="323850"/>
          </a:xfrm>
          <a:prstGeom prst="ellipse">
            <a:avLst/>
          </a:prstGeom>
          <a:solidFill>
            <a:srgbClr val="0E8B7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3D82FA8-3783-44E4-8F2A-C9E18A6F6043}"/>
              </a:ext>
            </a:extLst>
          </p:cNvPr>
          <p:cNvSpPr>
            <a:spLocks noGrp="1"/>
          </p:cNvSpPr>
          <p:nvPr/>
        </p:nvSpPr>
        <p:spPr>
          <a:xfrm>
            <a:off x="2971800" y="21717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9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517D01A-ED0F-488E-9ECE-E41090C250FB}"/>
              </a:ext>
            </a:extLst>
          </p:cNvPr>
          <p:cNvSpPr>
            <a:spLocks noGrp="1"/>
          </p:cNvSpPr>
          <p:nvPr/>
        </p:nvSpPr>
        <p:spPr>
          <a:xfrm>
            <a:off x="3048000" y="2505075"/>
            <a:ext cx="15240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Caracterização</a:t>
            </a:r>
          </a:p>
          <a:p>
            <a:pPr algn="ctr">
              <a:lnSpc>
                <a:spcPct val="104000"/>
              </a:lnSpc>
              <a:buNone/>
              <a:def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de perfis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CC2E047-18DE-4245-B302-346C855B4340}"/>
              </a:ext>
            </a:extLst>
          </p:cNvPr>
          <p:cNvSpPr>
            <a:spLocks noGrp="1"/>
          </p:cNvSpPr>
          <p:nvPr/>
        </p:nvSpPr>
        <p:spPr>
          <a:xfrm>
            <a:off x="3028950" y="3000375"/>
            <a:ext cx="15621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93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3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consumo + GD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0BA1243B-E1F4-4466-9972-F5046A93A03A}"/>
              </a:ext>
            </a:extLst>
          </p:cNvPr>
          <p:cNvSpPr>
            <a:spLocks noGrp="1"/>
          </p:cNvSpPr>
          <p:nvPr/>
        </p:nvSpPr>
        <p:spPr>
          <a:xfrm>
            <a:off x="5010150" y="1971675"/>
            <a:ext cx="1981200" cy="1352550"/>
          </a:xfrm>
          <a:prstGeom prst="roundRect">
            <a:avLst>
              <a:gd name="adj" fmla="val 12676"/>
            </a:avLst>
          </a:prstGeom>
          <a:solidFill>
            <a:srgbClr val="FFFFFF"/>
          </a:solidFill>
          <a:ln w="12383">
            <a:solidFill>
              <a:srgbClr val="3554A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1BD8EA74-4E02-4203-887B-6B729291BA53}"/>
              </a:ext>
            </a:extLst>
          </p:cNvPr>
          <p:cNvSpPr>
            <a:spLocks noGrp="1"/>
          </p:cNvSpPr>
          <p:nvPr/>
        </p:nvSpPr>
        <p:spPr>
          <a:xfrm>
            <a:off x="5162550" y="2114550"/>
            <a:ext cx="323850" cy="323850"/>
          </a:xfrm>
          <a:prstGeom prst="ellipse">
            <a:avLst/>
          </a:prstGeom>
          <a:solidFill>
            <a:srgbClr val="3554A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36F673F7-6DB0-4AAE-841F-E057E8166DE4}"/>
              </a:ext>
            </a:extLst>
          </p:cNvPr>
          <p:cNvSpPr>
            <a:spLocks noGrp="1"/>
          </p:cNvSpPr>
          <p:nvPr/>
        </p:nvSpPr>
        <p:spPr>
          <a:xfrm>
            <a:off x="5162550" y="21717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9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C8F30EE-F4B8-4EBB-B7CE-3F32059B31AE}"/>
              </a:ext>
            </a:extLst>
          </p:cNvPr>
          <p:cNvSpPr>
            <a:spLocks noGrp="1"/>
          </p:cNvSpPr>
          <p:nvPr/>
        </p:nvSpPr>
        <p:spPr>
          <a:xfrm>
            <a:off x="5238750" y="2505075"/>
            <a:ext cx="15240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366" lnSpcReduction="20000"/>
          </a:bodyPr>
          <a:lstStyle/>
          <a:p>
            <a:pPr algn="ctr">
              <a:lnSpc>
                <a:spcPct val="104000"/>
              </a:lnSpc>
              <a:buNone/>
              <a:def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Parametrizar, validar</a:t>
            </a:r>
          </a:p>
          <a:p>
            <a:pPr algn="ctr">
              <a:lnSpc>
                <a:spcPct val="104000"/>
              </a:lnSpc>
              <a:buNone/>
              <a:def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e calibrar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FA4BA8C-80E0-4D6F-A475-C07D44928E3B}"/>
              </a:ext>
            </a:extLst>
          </p:cNvPr>
          <p:cNvSpPr>
            <a:spLocks noGrp="1"/>
          </p:cNvSpPr>
          <p:nvPr/>
        </p:nvSpPr>
        <p:spPr>
          <a:xfrm>
            <a:off x="5219700" y="3000375"/>
            <a:ext cx="15621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93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3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dados verificados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0BA36172-7C75-4F88-8FF0-3BC63B60EC6D}"/>
              </a:ext>
            </a:extLst>
          </p:cNvPr>
          <p:cNvSpPr>
            <a:spLocks noGrp="1"/>
          </p:cNvSpPr>
          <p:nvPr/>
        </p:nvSpPr>
        <p:spPr>
          <a:xfrm>
            <a:off x="7200900" y="1971675"/>
            <a:ext cx="1981200" cy="1352550"/>
          </a:xfrm>
          <a:prstGeom prst="roundRect">
            <a:avLst>
              <a:gd name="adj" fmla="val 12676"/>
            </a:avLst>
          </a:prstGeom>
          <a:solidFill>
            <a:srgbClr val="FFFFFF"/>
          </a:solidFill>
          <a:ln w="12383">
            <a:solidFill>
              <a:srgbClr val="D8690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43104BFA-6B7B-4D05-8EED-A5D2503A4C5F}"/>
              </a:ext>
            </a:extLst>
          </p:cNvPr>
          <p:cNvSpPr>
            <a:spLocks noGrp="1"/>
          </p:cNvSpPr>
          <p:nvPr/>
        </p:nvSpPr>
        <p:spPr>
          <a:xfrm>
            <a:off x="7353300" y="2114550"/>
            <a:ext cx="323850" cy="323850"/>
          </a:xfrm>
          <a:prstGeom prst="ellipse">
            <a:avLst/>
          </a:prstGeom>
          <a:solidFill>
            <a:srgbClr val="D8690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0652BBE5-7EA0-4220-883A-D3CF5FDEA0A0}"/>
              </a:ext>
            </a:extLst>
          </p:cNvPr>
          <p:cNvSpPr>
            <a:spLocks noGrp="1"/>
          </p:cNvSpPr>
          <p:nvPr/>
        </p:nvSpPr>
        <p:spPr>
          <a:xfrm>
            <a:off x="7353300" y="21717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9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ED1B1356-0965-464F-B016-C74106143472}"/>
              </a:ext>
            </a:extLst>
          </p:cNvPr>
          <p:cNvSpPr>
            <a:spLocks noGrp="1"/>
          </p:cNvSpPr>
          <p:nvPr/>
        </p:nvSpPr>
        <p:spPr>
          <a:xfrm>
            <a:off x="7429500" y="2505075"/>
            <a:ext cx="15240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966"/>
          </a:bodyPr>
          <a:lstStyle/>
          <a:p>
            <a:pPr algn="ctr">
              <a:lnSpc>
                <a:spcPct val="104000"/>
              </a:lnSpc>
              <a:buNone/>
              <a:def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Modelos dinâmicos</a:t>
            </a:r>
          </a:p>
          <a:p>
            <a:pPr algn="ctr">
              <a:lnSpc>
                <a:spcPct val="104000"/>
              </a:lnSpc>
              <a:buNone/>
              <a:def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equivalentes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CE9BA156-C74D-4EA3-B52C-969711E42499}"/>
              </a:ext>
            </a:extLst>
          </p:cNvPr>
          <p:cNvSpPr>
            <a:spLocks noGrp="1"/>
          </p:cNvSpPr>
          <p:nvPr/>
        </p:nvSpPr>
        <p:spPr>
          <a:xfrm>
            <a:off x="7410450" y="3000375"/>
            <a:ext cx="15621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93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3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carga + MMGD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E40E477-DE3E-43FB-A607-D7BDA7CF7A73}"/>
              </a:ext>
            </a:extLst>
          </p:cNvPr>
          <p:cNvSpPr>
            <a:spLocks noGrp="1"/>
          </p:cNvSpPr>
          <p:nvPr/>
        </p:nvSpPr>
        <p:spPr>
          <a:xfrm>
            <a:off x="9391650" y="1971675"/>
            <a:ext cx="1981200" cy="1352550"/>
          </a:xfrm>
          <a:prstGeom prst="roundRect">
            <a:avLst>
              <a:gd name="adj" fmla="val 12676"/>
            </a:avLst>
          </a:prstGeom>
          <a:solidFill>
            <a:srgbClr val="FFFFFF"/>
          </a:solidFill>
          <a:ln w="12383">
            <a:solidFill>
              <a:srgbClr val="2E9E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EBB4274F-1F24-4C14-BF24-2E7671EAEAC9}"/>
              </a:ext>
            </a:extLst>
          </p:cNvPr>
          <p:cNvSpPr>
            <a:spLocks noGrp="1"/>
          </p:cNvSpPr>
          <p:nvPr/>
        </p:nvSpPr>
        <p:spPr>
          <a:xfrm>
            <a:off x="9544050" y="2114550"/>
            <a:ext cx="323850" cy="323850"/>
          </a:xfrm>
          <a:prstGeom prst="ellipse">
            <a:avLst/>
          </a:prstGeom>
          <a:solidFill>
            <a:srgbClr val="2E9E5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074E2F5B-616F-49F3-AE9A-1D7B66819F8D}"/>
              </a:ext>
            </a:extLst>
          </p:cNvPr>
          <p:cNvSpPr>
            <a:spLocks noGrp="1"/>
          </p:cNvSpPr>
          <p:nvPr/>
        </p:nvSpPr>
        <p:spPr>
          <a:xfrm>
            <a:off x="9544050" y="21717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9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2EF4D667-A41E-4E3E-8AFD-44C12FF38396}"/>
              </a:ext>
            </a:extLst>
          </p:cNvPr>
          <p:cNvSpPr>
            <a:spLocks noGrp="1"/>
          </p:cNvSpPr>
          <p:nvPr/>
        </p:nvSpPr>
        <p:spPr>
          <a:xfrm>
            <a:off x="9620250" y="2505075"/>
            <a:ext cx="15240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Estudos</a:t>
            </a:r>
          </a:p>
          <a:p>
            <a:pPr algn="ctr">
              <a:lnSpc>
                <a:spcPct val="104000"/>
              </a:lnSpc>
              <a:buNone/>
              <a:def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elétricos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91D72067-5F4D-4471-A58D-D692039F4FF0}"/>
              </a:ext>
            </a:extLst>
          </p:cNvPr>
          <p:cNvSpPr>
            <a:spLocks noGrp="1"/>
          </p:cNvSpPr>
          <p:nvPr/>
        </p:nvSpPr>
        <p:spPr>
          <a:xfrm>
            <a:off x="9601200" y="3000375"/>
            <a:ext cx="15621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93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3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estabilidade do SIN</a:t>
            </a:r>
          </a:p>
        </p:txBody>
      </p:sp>
      <p:cxnSp>
        <p:nvCxnSpPr>
          <p:cNvPr id="78" name="Conector de Seta Reta 77"/>
          <p:cNvCxnSpPr>
            <a:stCxn id="6" idx="3"/>
            <a:endCxn id="11" idx="1"/>
          </p:cNvCxnSpPr>
          <p:nvPr/>
        </p:nvCxnSpPr>
        <p:spPr>
          <a:xfrm>
            <a:off x="2609850" y="2647950"/>
            <a:ext cx="209550" cy="0"/>
          </a:xfrm>
          <a:prstGeom prst="straightConnector1">
            <a:avLst/>
          </a:prstGeom>
          <a:ln w="19050">
            <a:solidFill>
              <a:srgbClr val="123C67"/>
            </a:solidFill>
            <a:prstDash val="solid"/>
            <a:tailEnd type="arrow" w="sm" len="sm"/>
          </a:ln>
        </p:spPr>
      </p:cxnSp>
      <p:cxnSp>
        <p:nvCxnSpPr>
          <p:cNvPr id="79" name="Conector de Seta Reta 78"/>
          <p:cNvCxnSpPr>
            <a:stCxn id="11" idx="3"/>
            <a:endCxn id="16" idx="1"/>
          </p:cNvCxnSpPr>
          <p:nvPr/>
        </p:nvCxnSpPr>
        <p:spPr>
          <a:xfrm>
            <a:off x="4800600" y="2647950"/>
            <a:ext cx="209550" cy="0"/>
          </a:xfrm>
          <a:prstGeom prst="straightConnector1">
            <a:avLst/>
          </a:prstGeom>
          <a:ln w="19050">
            <a:solidFill>
              <a:srgbClr val="123C67"/>
            </a:solidFill>
            <a:prstDash val="solid"/>
            <a:tailEnd type="arrow" w="sm" len="sm"/>
          </a:ln>
        </p:spPr>
      </p:cxnSp>
      <p:cxnSp>
        <p:nvCxnSpPr>
          <p:cNvPr id="80" name="Conector de Seta Reta 79"/>
          <p:cNvCxnSpPr>
            <a:stCxn id="16" idx="3"/>
            <a:endCxn id="21" idx="1"/>
          </p:cNvCxnSpPr>
          <p:nvPr/>
        </p:nvCxnSpPr>
        <p:spPr>
          <a:xfrm>
            <a:off x="6991350" y="2647950"/>
            <a:ext cx="209550" cy="0"/>
          </a:xfrm>
          <a:prstGeom prst="straightConnector1">
            <a:avLst/>
          </a:prstGeom>
          <a:ln w="19050">
            <a:solidFill>
              <a:srgbClr val="123C67"/>
            </a:solidFill>
            <a:prstDash val="solid"/>
            <a:tailEnd type="arrow" w="sm" len="sm"/>
          </a:ln>
        </p:spPr>
      </p:cxnSp>
      <p:cxnSp>
        <p:nvCxnSpPr>
          <p:cNvPr id="81" name="Conector de Seta Reta 80"/>
          <p:cNvCxnSpPr>
            <a:stCxn id="21" idx="3"/>
            <a:endCxn id="26" idx="1"/>
          </p:cNvCxnSpPr>
          <p:nvPr/>
        </p:nvCxnSpPr>
        <p:spPr>
          <a:xfrm>
            <a:off x="9182100" y="2647950"/>
            <a:ext cx="209550" cy="0"/>
          </a:xfrm>
          <a:prstGeom prst="straightConnector1">
            <a:avLst/>
          </a:prstGeom>
          <a:ln w="19050">
            <a:solidFill>
              <a:srgbClr val="123C67"/>
            </a:solidFill>
            <a:prstDash val="solid"/>
            <a:tailEnd type="arrow" w="sm" len="sm"/>
          </a:ln>
        </p:spPr>
      </p:cxn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93819867-DEAD-4B5B-B2D1-7F82A9A502CE}"/>
              </a:ext>
            </a:extLst>
          </p:cNvPr>
          <p:cNvSpPr>
            <a:spLocks noGrp="1"/>
          </p:cNvSpPr>
          <p:nvPr/>
        </p:nvSpPr>
        <p:spPr>
          <a:xfrm>
            <a:off x="628650" y="3638550"/>
            <a:ext cx="10934700" cy="971550"/>
          </a:xfrm>
          <a:prstGeom prst="roundRect">
            <a:avLst>
              <a:gd name="adj" fmla="val 17647"/>
            </a:avLst>
          </a:prstGeom>
          <a:solidFill>
            <a:srgbClr val="E6F5F2"/>
          </a:solidFill>
          <a:ln w="9525">
            <a:solidFill>
              <a:srgbClr val="C9D7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60D010B3-543E-44D7-AA33-B41049D7A437}"/>
              </a:ext>
            </a:extLst>
          </p:cNvPr>
          <p:cNvSpPr>
            <a:spLocks noGrp="1"/>
          </p:cNvSpPr>
          <p:nvPr/>
        </p:nvSpPr>
        <p:spPr>
          <a:xfrm>
            <a:off x="628650" y="3638550"/>
            <a:ext cx="76200" cy="971550"/>
          </a:xfrm>
          <a:prstGeom prst="roundRect">
            <a:avLst>
              <a:gd name="adj" fmla="val 50000"/>
            </a:avLst>
          </a:prstGeom>
          <a:solidFill>
            <a:srgbClr val="0E8B7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4CB0B145-105C-4609-8A77-6F7988E33C51}"/>
              </a:ext>
            </a:extLst>
          </p:cNvPr>
          <p:cNvSpPr>
            <a:spLocks noGrp="1"/>
          </p:cNvSpPr>
          <p:nvPr/>
        </p:nvSpPr>
        <p:spPr>
          <a:xfrm>
            <a:off x="857250" y="3781425"/>
            <a:ext cx="10496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35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Composite Load Model (CLM)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B2F38C92-EBF8-4991-B13F-3F76AF03456B}"/>
              </a:ext>
            </a:extLst>
          </p:cNvPr>
          <p:cNvSpPr>
            <a:spLocks noGrp="1"/>
          </p:cNvSpPr>
          <p:nvPr/>
        </p:nvSpPr>
        <p:spPr>
          <a:xfrm>
            <a:off x="857250" y="4105275"/>
            <a:ext cx="10496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469" lnSpcReduction="10000"/>
          </a:bodyPr>
          <a:lstStyle/>
          <a:p>
            <a:pPr algn="l">
              <a:lnSpc>
                <a:spcPct val="112000"/>
              </a:lnSpc>
              <a:buNone/>
              <a:defRPr sz="1163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163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Os perfis observados subsidiam a parametrização e o aperfeiçoamento da representação equivalente, reduzindo incertezas e aumentando a precisão dos estudos elétricos.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7E2B0ED4-C1AC-476C-8281-F288131974C1}"/>
              </a:ext>
            </a:extLst>
          </p:cNvPr>
          <p:cNvSpPr>
            <a:spLocks noGrp="1"/>
          </p:cNvSpPr>
          <p:nvPr/>
        </p:nvSpPr>
        <p:spPr>
          <a:xfrm>
            <a:off x="628650" y="4876800"/>
            <a:ext cx="5219700" cy="12001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538F19F2-7B6D-4FF6-9B86-9FFB1D9E86D2}"/>
              </a:ext>
            </a:extLst>
          </p:cNvPr>
          <p:cNvSpPr>
            <a:spLocks noGrp="1"/>
          </p:cNvSpPr>
          <p:nvPr/>
        </p:nvSpPr>
        <p:spPr>
          <a:xfrm>
            <a:off x="628650" y="4876800"/>
            <a:ext cx="76200" cy="1200150"/>
          </a:xfrm>
          <a:prstGeom prst="roundRect">
            <a:avLst>
              <a:gd name="adj" fmla="val 50000"/>
            </a:avLst>
          </a:prstGeom>
          <a:solidFill>
            <a:srgbClr val="58D6A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DA365F99-4B5F-4DAC-AF25-6031B9C64318}"/>
              </a:ext>
            </a:extLst>
          </p:cNvPr>
          <p:cNvSpPr>
            <a:spLocks noGrp="1"/>
          </p:cNvSpPr>
          <p:nvPr/>
        </p:nvSpPr>
        <p:spPr>
          <a:xfrm>
            <a:off x="857250" y="5019675"/>
            <a:ext cx="4781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35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ENTREGA QUALIFICADA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9E927848-5BED-4791-8892-918FE4F2B4B9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47815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073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073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Perfis representativos por mancha e área de concessão; validação contra bases verificadas; calibração espacial; cenários com elevada penetração de GD.</a:t>
            </a: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D9BC87FE-6B47-4F63-8AF8-673836C3EF0E}"/>
              </a:ext>
            </a:extLst>
          </p:cNvPr>
          <p:cNvSpPr>
            <a:spLocks noGrp="1"/>
          </p:cNvSpPr>
          <p:nvPr/>
        </p:nvSpPr>
        <p:spPr>
          <a:xfrm>
            <a:off x="6343650" y="4876800"/>
            <a:ext cx="5219700" cy="1200150"/>
          </a:xfrm>
          <a:prstGeom prst="roundRect">
            <a:avLst>
              <a:gd name="adj" fmla="val 14286"/>
            </a:avLst>
          </a:prstGeom>
          <a:solidFill>
            <a:srgbClr val="FFF4F4"/>
          </a:solidFill>
          <a:ln w="9525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669F76BD-C6F7-4127-AC72-85E9ADEBD7C6}"/>
              </a:ext>
            </a:extLst>
          </p:cNvPr>
          <p:cNvSpPr>
            <a:spLocks noGrp="1"/>
          </p:cNvSpPr>
          <p:nvPr/>
        </p:nvSpPr>
        <p:spPr>
          <a:xfrm>
            <a:off x="6343650" y="4876800"/>
            <a:ext cx="76200" cy="1200150"/>
          </a:xfrm>
          <a:prstGeom prst="roundRect">
            <a:avLst>
              <a:gd name="adj" fmla="val 50000"/>
            </a:avLst>
          </a:prstGeom>
          <a:solidFill>
            <a:srgbClr val="E85C5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4938A309-A9A7-4C66-953E-05A54FBE4465}"/>
              </a:ext>
            </a:extLst>
          </p:cNvPr>
          <p:cNvSpPr>
            <a:spLocks noGrp="1"/>
          </p:cNvSpPr>
          <p:nvPr/>
        </p:nvSpPr>
        <p:spPr>
          <a:xfrm>
            <a:off x="6572250" y="5019675"/>
            <a:ext cx="4781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35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LIMITE DECLARADO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38C1B546-C03D-485B-B0B2-87A3CACBBE34}"/>
              </a:ext>
            </a:extLst>
          </p:cNvPr>
          <p:cNvSpPr>
            <a:spLocks noGrp="1"/>
          </p:cNvSpPr>
          <p:nvPr/>
        </p:nvSpPr>
        <p:spPr>
          <a:xfrm>
            <a:off x="6572250" y="5334000"/>
            <a:ext cx="47815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073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073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A solução não executa fluxo de potência nem estudos de estabilidade. Entrega insumos consistentes para os modelos oficiais e para os especialistas do ONS.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B41A7612-E117-4F81-8C73-F7ECA193867B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10934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78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78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Referência técnica: WECC — Composite Load Model Specification. Aplicação proposta: estudos de estabilidade eletromecânica do SIN.</a:t>
            </a:r>
          </a:p>
        </p:txBody>
      </p:sp>
    </p:spTree>
    <p:extLst>
      <p:ext uri="{BB962C8B-B14F-4D97-AF65-F5344CB8AC3E}">
        <p14:creationId xmlns:p14="http://schemas.microsoft.com/office/powerpoint/2010/main" val="230654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tângulo 43">
            <a:extLst>
              <a:ext uri="{FF2B5EF4-FFF2-40B4-BE49-F238E27FC236}">
                <a16:creationId xmlns:a16="http://schemas.microsoft.com/office/drawing/2014/main" id="{8B405B98-9A0C-4052-952D-7B640AABF4E8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rPr>
              <a:t>EIXO 2 · FORTALECIMENTO DA INTERFACE ONS–DSO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B34430F-F83B-4F2D-A94E-81E4A002BE3B}"/>
              </a:ext>
            </a:extLst>
          </p:cNvPr>
          <p:cNvSpPr>
            <a:spLocks noGrp="1"/>
          </p:cNvSpPr>
          <p:nvPr/>
        </p:nvSpPr>
        <p:spPr>
          <a:xfrm>
            <a:off x="628650" y="666750"/>
            <a:ext cx="10382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29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Uma interface precisa de um payload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F5A59D3D-7784-4206-8733-0A8BBD379C66}"/>
              </a:ext>
            </a:extLst>
          </p:cNvPr>
          <p:cNvSpPr>
            <a:spLocks noGrp="1"/>
          </p:cNvSpPr>
          <p:nvPr/>
        </p:nvSpPr>
        <p:spPr>
          <a:xfrm>
            <a:off x="628650" y="1323975"/>
            <a:ext cx="10934700" cy="0"/>
          </a:xfrm>
          <a:prstGeom prst="line">
            <a:avLst/>
          </a:prstGeom>
          <a:noFill/>
          <a:ln w="12383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9F61142-D52A-4E0E-A3C6-EF5E7F04C738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4000"/>
              </a:lnSpc>
              <a:buNone/>
              <a:def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7671006-4C7A-468E-AACB-8F223D744B92}"/>
              </a:ext>
            </a:extLst>
          </p:cNvPr>
          <p:cNvSpPr>
            <a:spLocks noGrp="1"/>
          </p:cNvSpPr>
          <p:nvPr/>
        </p:nvSpPr>
        <p:spPr>
          <a:xfrm>
            <a:off x="628650" y="1457325"/>
            <a:ext cx="10715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483"/>
          </a:bodyPr>
          <a:lstStyle/>
          <a:p>
            <a:pPr algn="l">
              <a:lnSpc>
                <a:spcPct val="104000"/>
              </a:lnSpc>
              <a:buNone/>
              <a:defRPr sz="135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Hoje a coordenação depende de informação agregada e procedimentos. A proposta é um pacote de dados previsível, localizado e rastreável.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33AE694-8616-4BF1-89E3-01AB01E98EDF}"/>
              </a:ext>
            </a:extLst>
          </p:cNvPr>
          <p:cNvSpPr>
            <a:spLocks noGrp="1"/>
          </p:cNvSpPr>
          <p:nvPr/>
        </p:nvSpPr>
        <p:spPr>
          <a:xfrm>
            <a:off x="628650" y="2057400"/>
            <a:ext cx="2171700" cy="1504950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14288">
            <a:solidFill>
              <a:srgbClr val="123C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7A776E8-6FC9-491D-82DC-11E952D1869B}"/>
              </a:ext>
            </a:extLst>
          </p:cNvPr>
          <p:cNvSpPr>
            <a:spLocks noGrp="1"/>
          </p:cNvSpPr>
          <p:nvPr/>
        </p:nvSpPr>
        <p:spPr>
          <a:xfrm>
            <a:off x="857250" y="22288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rPr>
              <a:t>ONS · TSO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7A47304-16B7-4E41-9781-20789C9CE4CC}"/>
              </a:ext>
            </a:extLst>
          </p:cNvPr>
          <p:cNvSpPr>
            <a:spLocks noGrp="1"/>
          </p:cNvSpPr>
          <p:nvPr/>
        </p:nvSpPr>
        <p:spPr>
          <a:xfrm>
            <a:off x="857250" y="2581275"/>
            <a:ext cx="1714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Coordena e controla a operação da geração e da transmissão.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F35A1BC-8C40-4D5A-BB11-4800499936A8}"/>
              </a:ext>
            </a:extLst>
          </p:cNvPr>
          <p:cNvSpPr>
            <a:spLocks noGrp="1"/>
          </p:cNvSpPr>
          <p:nvPr/>
        </p:nvSpPr>
        <p:spPr>
          <a:xfrm>
            <a:off x="3143250" y="1905000"/>
            <a:ext cx="5905500" cy="1809750"/>
          </a:xfrm>
          <a:prstGeom prst="roundRect">
            <a:avLst>
              <a:gd name="adj" fmla="val 11579"/>
            </a:avLst>
          </a:prstGeom>
          <a:solidFill>
            <a:srgbClr val="E6F5F2"/>
          </a:solidFill>
          <a:ln w="14288">
            <a:solidFill>
              <a:srgbClr val="0E8B7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C8552B2-549F-41A7-B21F-E4D474928F66}"/>
              </a:ext>
            </a:extLst>
          </p:cNvPr>
          <p:cNvSpPr>
            <a:spLocks noGrp="1"/>
          </p:cNvSpPr>
          <p:nvPr/>
        </p:nvSpPr>
        <p:spPr>
          <a:xfrm>
            <a:off x="3390900" y="2066925"/>
            <a:ext cx="5410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050" b="1" i="0">
                <a:solidFill>
                  <a:srgbClr val="08726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87268"/>
                </a:solidFill>
                <a:latin typeface="DejaVu Sans"/>
                <a:ea typeface="DejaVu Sans"/>
                <a:cs typeface="DejaVu Sans"/>
              </a:rPr>
              <a:t>INTERFACE ONS–DSO · PAYLOAD PROPOSTO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DE5FE9CB-1653-406B-8435-08EEF4579C97}"/>
              </a:ext>
            </a:extLst>
          </p:cNvPr>
          <p:cNvSpPr>
            <a:spLocks noGrp="1"/>
          </p:cNvSpPr>
          <p:nvPr/>
        </p:nvSpPr>
        <p:spPr>
          <a:xfrm>
            <a:off x="3352800" y="2447925"/>
            <a:ext cx="1238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82CDB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80CFAC1-EA84-4DB7-890E-ACB646B1A6E8}"/>
              </a:ext>
            </a:extLst>
          </p:cNvPr>
          <p:cNvSpPr>
            <a:spLocks noGrp="1"/>
          </p:cNvSpPr>
          <p:nvPr/>
        </p:nvSpPr>
        <p:spPr>
          <a:xfrm>
            <a:off x="3448050" y="257175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8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8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GRANDEZA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20DF4A6-52F1-4B29-8977-E53E2895DF76}"/>
              </a:ext>
            </a:extLst>
          </p:cNvPr>
          <p:cNvSpPr>
            <a:spLocks noGrp="1"/>
          </p:cNvSpPr>
          <p:nvPr/>
        </p:nvSpPr>
        <p:spPr>
          <a:xfrm>
            <a:off x="3448050" y="2819400"/>
            <a:ext cx="10477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6198"/>
          </a:bodyPr>
          <a:lstStyle/>
          <a:p>
            <a:pPr algn="ctr">
              <a:lnSpc>
                <a:spcPct val="104000"/>
              </a:lnSpc>
              <a:buNone/>
              <a:defRPr sz="938" b="0" i="0">
                <a:solidFill>
                  <a:srgbClr val="132033"/>
                </a:solidFill>
                <a:latin typeface="DejaVu Sans"/>
                <a:ea typeface="DejaVu Sans"/>
                <a:cs typeface="DejaVu Sans"/>
              </a:defRPr>
            </a:pPr>
            <a:r>
              <a:rPr sz="938" b="0" i="0">
                <a:solidFill>
                  <a:srgbClr val="132033"/>
                </a:solidFill>
                <a:latin typeface="DejaVu Sans"/>
                <a:ea typeface="DejaVu Sans"/>
                <a:cs typeface="DejaVu Sans"/>
              </a:rPr>
              <a:t>carga supervisionada</a:t>
            </a:r>
          </a:p>
          <a:p>
            <a:pPr algn="ctr">
              <a:lnSpc>
                <a:spcPct val="104000"/>
              </a:lnSpc>
              <a:buNone/>
              <a:defRPr sz="938" b="0" i="0">
                <a:solidFill>
                  <a:srgbClr val="132033"/>
                </a:solidFill>
                <a:latin typeface="DejaVu Sans"/>
                <a:ea typeface="DejaVu Sans"/>
                <a:cs typeface="DejaVu Sans"/>
              </a:defRPr>
            </a:pPr>
            <a:r>
              <a:rPr sz="938" b="0" i="0">
                <a:solidFill>
                  <a:srgbClr val="132033"/>
                </a:solidFill>
                <a:latin typeface="DejaVu Sans"/>
                <a:ea typeface="DejaVu Sans"/>
                <a:cs typeface="DejaVu Sans"/>
              </a:rPr>
              <a:t>+ MMGD estimada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CC03843E-E3DA-4915-BC5A-7C0461612921}"/>
              </a:ext>
            </a:extLst>
          </p:cNvPr>
          <p:cNvSpPr>
            <a:spLocks noGrp="1"/>
          </p:cNvSpPr>
          <p:nvPr/>
        </p:nvSpPr>
        <p:spPr>
          <a:xfrm>
            <a:off x="4724400" y="2447925"/>
            <a:ext cx="1238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82CDB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D935448-B083-4A36-B602-2D8821377D24}"/>
              </a:ext>
            </a:extLst>
          </p:cNvPr>
          <p:cNvSpPr>
            <a:spLocks noGrp="1"/>
          </p:cNvSpPr>
          <p:nvPr/>
        </p:nvSpPr>
        <p:spPr>
          <a:xfrm>
            <a:off x="4819650" y="257175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8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8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GRANULARIDADE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CC17DAB-5A7B-4139-B760-292A12306A0F}"/>
              </a:ext>
            </a:extLst>
          </p:cNvPr>
          <p:cNvSpPr>
            <a:spLocks noGrp="1"/>
          </p:cNvSpPr>
          <p:nvPr/>
        </p:nvSpPr>
        <p:spPr>
          <a:xfrm>
            <a:off x="4819650" y="2819400"/>
            <a:ext cx="10477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938" b="0" i="0">
                <a:solidFill>
                  <a:srgbClr val="132033"/>
                </a:solidFill>
                <a:latin typeface="DejaVu Sans"/>
                <a:ea typeface="DejaVu Sans"/>
                <a:cs typeface="DejaVu Sans"/>
              </a:defRPr>
            </a:pPr>
            <a:r>
              <a:rPr sz="938" b="0" i="0">
                <a:solidFill>
                  <a:srgbClr val="132033"/>
                </a:solidFill>
                <a:latin typeface="DejaVu Sans"/>
                <a:ea typeface="DejaVu Sans"/>
                <a:cs typeface="DejaVu Sans"/>
              </a:rPr>
              <a:t>área de concessão</a:t>
            </a:r>
          </a:p>
          <a:p>
            <a:pPr algn="ctr">
              <a:lnSpc>
                <a:spcPct val="104000"/>
              </a:lnSpc>
              <a:buNone/>
              <a:defRPr sz="938" b="0" i="0">
                <a:solidFill>
                  <a:srgbClr val="132033"/>
                </a:solidFill>
                <a:latin typeface="DejaVu Sans"/>
                <a:ea typeface="DejaVu Sans"/>
                <a:cs typeface="DejaVu Sans"/>
              </a:defRPr>
            </a:pPr>
            <a:r>
              <a:rPr sz="938" b="0" i="0">
                <a:solidFill>
                  <a:srgbClr val="132033"/>
                </a:solidFill>
                <a:latin typeface="DejaVu Sans"/>
                <a:ea typeface="DejaVu Sans"/>
                <a:cs typeface="DejaVu Sans"/>
              </a:rPr>
              <a:t>+ fronteira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55A883BA-F88C-4B17-AD98-7A66C63B24AB}"/>
              </a:ext>
            </a:extLst>
          </p:cNvPr>
          <p:cNvSpPr>
            <a:spLocks noGrp="1"/>
          </p:cNvSpPr>
          <p:nvPr/>
        </p:nvSpPr>
        <p:spPr>
          <a:xfrm>
            <a:off x="6096000" y="2447925"/>
            <a:ext cx="1238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82CDB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7947FF0-A2D7-4522-B38D-5E9E67F5F1B4}"/>
              </a:ext>
            </a:extLst>
          </p:cNvPr>
          <p:cNvSpPr>
            <a:spLocks noGrp="1"/>
          </p:cNvSpPr>
          <p:nvPr/>
        </p:nvSpPr>
        <p:spPr>
          <a:xfrm>
            <a:off x="6191250" y="257175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8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8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ANTECEDÊNCIA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80DE771-A304-432F-AE3B-A13F371EDE45}"/>
              </a:ext>
            </a:extLst>
          </p:cNvPr>
          <p:cNvSpPr>
            <a:spLocks noGrp="1"/>
          </p:cNvSpPr>
          <p:nvPr/>
        </p:nvSpPr>
        <p:spPr>
          <a:xfrm>
            <a:off x="6191250" y="2819400"/>
            <a:ext cx="10477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938" b="0" i="0">
                <a:solidFill>
                  <a:srgbClr val="132033"/>
                </a:solidFill>
                <a:latin typeface="DejaVu Sans"/>
                <a:ea typeface="DejaVu Sans"/>
                <a:cs typeface="DejaVu Sans"/>
              </a:defRPr>
            </a:pPr>
            <a:r>
              <a:rPr sz="938" b="0" i="0">
                <a:solidFill>
                  <a:srgbClr val="132033"/>
                </a:solidFill>
                <a:latin typeface="DejaVu Sans"/>
                <a:ea typeface="DejaVu Sans"/>
                <a:cs typeface="DejaVu Sans"/>
              </a:rPr>
              <a:t>30 min · 3 h · D+1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956E299A-7CA0-497E-B0CC-1E424C3D370F}"/>
              </a:ext>
            </a:extLst>
          </p:cNvPr>
          <p:cNvSpPr>
            <a:spLocks noGrp="1"/>
          </p:cNvSpPr>
          <p:nvPr/>
        </p:nvSpPr>
        <p:spPr>
          <a:xfrm>
            <a:off x="7467600" y="2447925"/>
            <a:ext cx="1238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82CDB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E08FA310-AAC6-4C07-9F14-EC58FDE8684D}"/>
              </a:ext>
            </a:extLst>
          </p:cNvPr>
          <p:cNvSpPr>
            <a:spLocks noGrp="1"/>
          </p:cNvSpPr>
          <p:nvPr/>
        </p:nvSpPr>
        <p:spPr>
          <a:xfrm>
            <a:off x="7562850" y="257175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8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8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FORMATO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8258F556-5EDD-40FF-8894-853F40238600}"/>
              </a:ext>
            </a:extLst>
          </p:cNvPr>
          <p:cNvSpPr>
            <a:spLocks noGrp="1"/>
          </p:cNvSpPr>
          <p:nvPr/>
        </p:nvSpPr>
        <p:spPr>
          <a:xfrm>
            <a:off x="7562850" y="2819400"/>
            <a:ext cx="10477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938" b="0" i="0">
                <a:solidFill>
                  <a:srgbClr val="132033"/>
                </a:solidFill>
                <a:latin typeface="DejaVu Sans"/>
                <a:ea typeface="DejaVu Sans"/>
                <a:cs typeface="DejaVu Sans"/>
              </a:defRPr>
            </a:pPr>
            <a:r>
              <a:rPr sz="938" b="0" i="0">
                <a:solidFill>
                  <a:srgbClr val="132033"/>
                </a:solidFill>
                <a:latin typeface="DejaVu Sans"/>
                <a:ea typeface="DejaVu Sans"/>
                <a:cs typeface="DejaVu Sans"/>
              </a:rPr>
              <a:t>probabilístico</a:t>
            </a:r>
          </a:p>
          <a:p>
            <a:pPr algn="ctr">
              <a:lnSpc>
                <a:spcPct val="104000"/>
              </a:lnSpc>
              <a:buNone/>
              <a:defRPr sz="938" b="0" i="0">
                <a:solidFill>
                  <a:srgbClr val="132033"/>
                </a:solidFill>
                <a:latin typeface="DejaVu Sans"/>
                <a:ea typeface="DejaVu Sans"/>
                <a:cs typeface="DejaVu Sans"/>
              </a:defRPr>
            </a:pPr>
            <a:r>
              <a:rPr sz="938" b="0" i="0">
                <a:solidFill>
                  <a:srgbClr val="132033"/>
                </a:solidFill>
                <a:latin typeface="DejaVu Sans"/>
                <a:ea typeface="DejaVu Sans"/>
                <a:cs typeface="DejaVu Sans"/>
              </a:rPr>
              <a:t>+ rastreável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2796688C-4114-4966-8311-3F1DE461B6A9}"/>
              </a:ext>
            </a:extLst>
          </p:cNvPr>
          <p:cNvSpPr>
            <a:spLocks noGrp="1"/>
          </p:cNvSpPr>
          <p:nvPr/>
        </p:nvSpPr>
        <p:spPr>
          <a:xfrm>
            <a:off x="9391650" y="2057400"/>
            <a:ext cx="2171700" cy="1504950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14288">
            <a:solidFill>
              <a:srgbClr val="D8690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723F4D5C-D002-4907-AB29-4DD2AFC7B877}"/>
              </a:ext>
            </a:extLst>
          </p:cNvPr>
          <p:cNvSpPr>
            <a:spLocks noGrp="1"/>
          </p:cNvSpPr>
          <p:nvPr/>
        </p:nvSpPr>
        <p:spPr>
          <a:xfrm>
            <a:off x="9620250" y="2228850"/>
            <a:ext cx="169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D8690E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D8690E"/>
                </a:solidFill>
                <a:latin typeface="DejaVu Sans"/>
                <a:ea typeface="DejaVu Sans"/>
                <a:cs typeface="DejaVu Sans"/>
              </a:rPr>
              <a:t>DISTRIBUIDORAS · DSO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DD33A0E8-7F0A-45F2-913D-A0E688DACE5B}"/>
              </a:ext>
            </a:extLst>
          </p:cNvPr>
          <p:cNvSpPr>
            <a:spLocks noGrp="1"/>
          </p:cNvSpPr>
          <p:nvPr/>
        </p:nvSpPr>
        <p:spPr>
          <a:xfrm>
            <a:off x="9620250" y="2581275"/>
            <a:ext cx="1714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Gerem os recursos conectados e executam ações nas próprias redes.</a:t>
            </a:r>
          </a:p>
        </p:txBody>
      </p:sp>
      <p:cxnSp>
        <p:nvCxnSpPr>
          <p:cNvPr id="69" name="Conector de Seta Reta 68"/>
          <p:cNvCxnSpPr>
            <a:stCxn id="6" idx="3"/>
            <a:endCxn id="9" idx="1"/>
          </p:cNvCxnSpPr>
          <p:nvPr/>
        </p:nvCxnSpPr>
        <p:spPr>
          <a:xfrm>
            <a:off x="2800350" y="2809875"/>
            <a:ext cx="342900" cy="0"/>
          </a:xfrm>
          <a:prstGeom prst="straightConnector1">
            <a:avLst/>
          </a:prstGeom>
          <a:ln w="20955">
            <a:solidFill>
              <a:srgbClr val="123C67"/>
            </a:solidFill>
            <a:prstDash val="solid"/>
            <a:tailEnd type="arrow" w="med" len="med"/>
          </a:ln>
        </p:spPr>
      </p:cxnSp>
      <p:cxnSp>
        <p:nvCxnSpPr>
          <p:cNvPr id="70" name="Conector de Seta Reta 69"/>
          <p:cNvCxnSpPr>
            <a:stCxn id="9" idx="3"/>
            <a:endCxn id="23" idx="1"/>
          </p:cNvCxnSpPr>
          <p:nvPr/>
        </p:nvCxnSpPr>
        <p:spPr>
          <a:xfrm>
            <a:off x="9048750" y="2809875"/>
            <a:ext cx="342900" cy="0"/>
          </a:xfrm>
          <a:prstGeom prst="straightConnector1">
            <a:avLst/>
          </a:prstGeom>
          <a:ln w="20955">
            <a:solidFill>
              <a:srgbClr val="D8690E"/>
            </a:solidFill>
            <a:prstDash val="solid"/>
            <a:tailEnd type="arrow" w="med" len="med"/>
          </a:ln>
        </p:spPr>
      </p:cxnSp>
      <p:sp>
        <p:nvSpPr>
          <p:cNvPr id="28" name="Retângulo 27">
            <a:extLst>
              <a:ext uri="{FF2B5EF4-FFF2-40B4-BE49-F238E27FC236}">
                <a16:creationId xmlns:a16="http://schemas.microsoft.com/office/drawing/2014/main" id="{C2826A2D-AD01-458C-9C4E-EB96666A0AE4}"/>
              </a:ext>
            </a:extLst>
          </p:cNvPr>
          <p:cNvSpPr>
            <a:spLocks noGrp="1"/>
          </p:cNvSpPr>
          <p:nvPr/>
        </p:nvSpPr>
        <p:spPr>
          <a:xfrm>
            <a:off x="628650" y="3914775"/>
            <a:ext cx="581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38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38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PAINEL DE EXCEDENTES TSO–DSO · PROTÓTIPO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0DB1B9BB-A7E3-4559-B642-98BAE7515AE7}"/>
              </a:ext>
            </a:extLst>
          </p:cNvPr>
          <p:cNvSpPr>
            <a:spLocks noGrp="1"/>
          </p:cNvSpPr>
          <p:nvPr/>
        </p:nvSpPr>
        <p:spPr>
          <a:xfrm>
            <a:off x="628650" y="4191000"/>
            <a:ext cx="6191250" cy="2038350"/>
          </a:xfrm>
          <a:prstGeom prst="roundRect">
            <a:avLst>
              <a:gd name="adj" fmla="val 6542"/>
            </a:avLst>
          </a:prstGeom>
          <a:solidFill>
            <a:srgbClr val="07101D"/>
          </a:solidFill>
          <a:ln w="13335">
            <a:solidFill>
              <a:srgbClr val="22C7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pic>
        <p:nvPicPr>
          <p:cNvPr id="73" name="Imagem 72"/>
          <p:cNvPicPr>
            <a:picLocks noChangeAspect="1"/>
          </p:cNvPicPr>
          <p:nvPr/>
        </p:nvPicPr>
        <p:blipFill>
          <a:blip r:embed="rId3"/>
          <a:srcRect t="25774" b="25774"/>
          <a:stretch>
            <a:fillRect/>
          </a:stretch>
        </p:blipFill>
        <p:spPr>
          <a:xfrm>
            <a:off x="695325" y="4257675"/>
            <a:ext cx="6057900" cy="1905000"/>
          </a:xfrm>
          <a:prstGeom prst="rect">
            <a:avLst/>
          </a:prstGeom>
        </p:spPr>
      </p:pic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C05E9A37-FB38-45B9-841C-A1088C14B002}"/>
              </a:ext>
            </a:extLst>
          </p:cNvPr>
          <p:cNvSpPr>
            <a:spLocks noGrp="1"/>
          </p:cNvSpPr>
          <p:nvPr/>
        </p:nvSpPr>
        <p:spPr>
          <a:xfrm>
            <a:off x="7162800" y="3924300"/>
            <a:ext cx="4400550" cy="66675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526F7588-7961-42DC-ABA8-1C8609325948}"/>
              </a:ext>
            </a:extLst>
          </p:cNvPr>
          <p:cNvSpPr>
            <a:spLocks noGrp="1"/>
          </p:cNvSpPr>
          <p:nvPr/>
        </p:nvSpPr>
        <p:spPr>
          <a:xfrm>
            <a:off x="7162800" y="3924300"/>
            <a:ext cx="76200" cy="666750"/>
          </a:xfrm>
          <a:prstGeom prst="roundRect">
            <a:avLst>
              <a:gd name="adj" fmla="val 50000"/>
            </a:avLst>
          </a:prstGeom>
          <a:solidFill>
            <a:srgbClr val="22C7F2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0BBB8226-2084-4ACC-9B84-B41E8799097A}"/>
              </a:ext>
            </a:extLst>
          </p:cNvPr>
          <p:cNvSpPr>
            <a:spLocks noGrp="1"/>
          </p:cNvSpPr>
          <p:nvPr/>
        </p:nvSpPr>
        <p:spPr>
          <a:xfrm>
            <a:off x="7391400" y="4067175"/>
            <a:ext cx="3962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1 · ANTECIPAR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330784E9-DF00-487F-9997-4D36C38C2D34}"/>
              </a:ext>
            </a:extLst>
          </p:cNvPr>
          <p:cNvSpPr>
            <a:spLocks noGrp="1"/>
          </p:cNvSpPr>
          <p:nvPr/>
        </p:nvSpPr>
        <p:spPr>
          <a:xfrm>
            <a:off x="7391400" y="4314825"/>
            <a:ext cx="39624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8096" lnSpcReduction="10000"/>
          </a:bodyPr>
          <a:lstStyle/>
          <a:p>
            <a:pPr algn="l">
              <a:lnSpc>
                <a:spcPct val="112000"/>
              </a:lnSpc>
              <a:buNone/>
              <a:defRPr sz="1013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Projetar excedentes por área e horizonte.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09D2756D-7240-4EEF-8E12-2C4591C22F01}"/>
              </a:ext>
            </a:extLst>
          </p:cNvPr>
          <p:cNvSpPr>
            <a:spLocks noGrp="1"/>
          </p:cNvSpPr>
          <p:nvPr/>
        </p:nvSpPr>
        <p:spPr>
          <a:xfrm>
            <a:off x="7162800" y="4724400"/>
            <a:ext cx="4400550" cy="66675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062F142A-AE9F-4248-96B9-14E58FD3326A}"/>
              </a:ext>
            </a:extLst>
          </p:cNvPr>
          <p:cNvSpPr>
            <a:spLocks noGrp="1"/>
          </p:cNvSpPr>
          <p:nvPr/>
        </p:nvSpPr>
        <p:spPr>
          <a:xfrm>
            <a:off x="7162800" y="4724400"/>
            <a:ext cx="76200" cy="666750"/>
          </a:xfrm>
          <a:prstGeom prst="roundRect">
            <a:avLst>
              <a:gd name="adj" fmla="val 50000"/>
            </a:avLst>
          </a:prstGeom>
          <a:solidFill>
            <a:srgbClr val="F4C95D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ADF6BAB8-5A3F-4C08-BC8E-051CBBE7B3CD}"/>
              </a:ext>
            </a:extLst>
          </p:cNvPr>
          <p:cNvSpPr>
            <a:spLocks noGrp="1"/>
          </p:cNvSpPr>
          <p:nvPr/>
        </p:nvSpPr>
        <p:spPr>
          <a:xfrm>
            <a:off x="7391400" y="4867275"/>
            <a:ext cx="3962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2 · PRIORIZAR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B3F12612-EEE1-43B2-987F-9DD315E2783B}"/>
              </a:ext>
            </a:extLst>
          </p:cNvPr>
          <p:cNvSpPr>
            <a:spLocks noGrp="1"/>
          </p:cNvSpPr>
          <p:nvPr/>
        </p:nvSpPr>
        <p:spPr>
          <a:xfrm>
            <a:off x="7391400" y="5114925"/>
            <a:ext cx="39624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8096" lnSpcReduction="10000"/>
          </a:bodyPr>
          <a:lstStyle/>
          <a:p>
            <a:pPr algn="l">
              <a:lnSpc>
                <a:spcPct val="112000"/>
              </a:lnSpc>
              <a:buNone/>
              <a:defRPr sz="1013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Ordenar criticidade, potência e motivo provável.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6EAB7358-A6EE-4CBB-8C22-085A8DBB66B4}"/>
              </a:ext>
            </a:extLst>
          </p:cNvPr>
          <p:cNvSpPr>
            <a:spLocks noGrp="1"/>
          </p:cNvSpPr>
          <p:nvPr/>
        </p:nvSpPr>
        <p:spPr>
          <a:xfrm>
            <a:off x="7162800" y="5524500"/>
            <a:ext cx="4400550" cy="704850"/>
          </a:xfrm>
          <a:prstGeom prst="roundRect">
            <a:avLst>
              <a:gd name="adj" fmla="val 24324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385C9B29-96D5-48AC-8920-B9A0A177D6B6}"/>
              </a:ext>
            </a:extLst>
          </p:cNvPr>
          <p:cNvSpPr>
            <a:spLocks noGrp="1"/>
          </p:cNvSpPr>
          <p:nvPr/>
        </p:nvSpPr>
        <p:spPr>
          <a:xfrm>
            <a:off x="7162800" y="5524500"/>
            <a:ext cx="76200" cy="704850"/>
          </a:xfrm>
          <a:prstGeom prst="roundRect">
            <a:avLst>
              <a:gd name="adj" fmla="val 50000"/>
            </a:avLst>
          </a:prstGeom>
          <a:solidFill>
            <a:srgbClr val="D8690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FCBEDE92-CBCB-48F5-B71B-AB84F52AB3C3}"/>
              </a:ext>
            </a:extLst>
          </p:cNvPr>
          <p:cNvSpPr>
            <a:spLocks noGrp="1"/>
          </p:cNvSpPr>
          <p:nvPr/>
        </p:nvSpPr>
        <p:spPr>
          <a:xfrm>
            <a:off x="7391400" y="5667375"/>
            <a:ext cx="3962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3 · COORDENAR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C8569297-72BD-4799-A19B-3EF08091B238}"/>
              </a:ext>
            </a:extLst>
          </p:cNvPr>
          <p:cNvSpPr>
            <a:spLocks noGrp="1"/>
          </p:cNvSpPr>
          <p:nvPr/>
        </p:nvSpPr>
        <p:spPr>
          <a:xfrm>
            <a:off x="7391400" y="5915025"/>
            <a:ext cx="39624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131"/>
          </a:bodyPr>
          <a:lstStyle/>
          <a:p>
            <a:pPr algn="l">
              <a:lnSpc>
                <a:spcPct val="112000"/>
              </a:lnSpc>
              <a:buNone/>
              <a:defRPr sz="1013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Apoiar uma atuação ágil entre Operador e distribuidoras.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E7263D9E-BF45-453B-B925-A7EDCD16BD65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10934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78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78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Protótipo funcional com dados demonstrativos. O produto apoia a decisão; não automatiza o despacho nem substitui procedimentos operativos.</a:t>
            </a:r>
          </a:p>
        </p:txBody>
      </p:sp>
    </p:spTree>
    <p:extLst>
      <p:ext uri="{BB962C8B-B14F-4D97-AF65-F5344CB8AC3E}">
        <p14:creationId xmlns:p14="http://schemas.microsoft.com/office/powerpoint/2010/main" val="496114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tângulo 55">
            <a:extLst>
              <a:ext uri="{FF2B5EF4-FFF2-40B4-BE49-F238E27FC236}">
                <a16:creationId xmlns:a16="http://schemas.microsoft.com/office/drawing/2014/main" id="{DD23CF10-1EA6-4555-B3B7-2771CD1C34A4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rPr>
              <a:t>A FERRAMENTA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4CDBEBC-73A2-49AE-A482-8794469D0374}"/>
              </a:ext>
            </a:extLst>
          </p:cNvPr>
          <p:cNvSpPr>
            <a:spLocks noGrp="1"/>
          </p:cNvSpPr>
          <p:nvPr/>
        </p:nvSpPr>
        <p:spPr>
          <a:xfrm>
            <a:off x="628650" y="666750"/>
            <a:ext cx="10382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29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Cinco fontes. Três evidências. Dois produtos.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BDE3ADCD-BAAF-4326-A7D1-C7F88522338C}"/>
              </a:ext>
            </a:extLst>
          </p:cNvPr>
          <p:cNvSpPr>
            <a:spLocks noGrp="1"/>
          </p:cNvSpPr>
          <p:nvPr/>
        </p:nvSpPr>
        <p:spPr>
          <a:xfrm>
            <a:off x="628650" y="1323975"/>
            <a:ext cx="10934700" cy="0"/>
          </a:xfrm>
          <a:prstGeom prst="line">
            <a:avLst/>
          </a:prstGeom>
          <a:noFill/>
          <a:ln w="12383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2B4939D-4315-4FC5-81F0-99892F967CA8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4000"/>
              </a:lnSpc>
              <a:buNone/>
              <a:def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9C99B77-1882-46AA-AADC-679AC5D1372C}"/>
              </a:ext>
            </a:extLst>
          </p:cNvPr>
          <p:cNvSpPr>
            <a:spLocks noGrp="1"/>
          </p:cNvSpPr>
          <p:nvPr/>
        </p:nvSpPr>
        <p:spPr>
          <a:xfrm>
            <a:off x="628650" y="1457325"/>
            <a:ext cx="10715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35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O ganho não vem de uma base isolada, mas do cruzamento entre operação, cadastro, topologia, clima e realidade física.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6A6379E-DB8F-4D0B-8501-5C7BCC509675}"/>
              </a:ext>
            </a:extLst>
          </p:cNvPr>
          <p:cNvSpPr>
            <a:spLocks noGrp="1"/>
          </p:cNvSpPr>
          <p:nvPr/>
        </p:nvSpPr>
        <p:spPr>
          <a:xfrm>
            <a:off x="628650" y="18669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FONTES INTEGRADAS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34CE527-D6A3-4E86-B819-3E6F3DC41274}"/>
              </a:ext>
            </a:extLst>
          </p:cNvPr>
          <p:cNvSpPr>
            <a:spLocks noGrp="1"/>
          </p:cNvSpPr>
          <p:nvPr/>
        </p:nvSpPr>
        <p:spPr>
          <a:xfrm>
            <a:off x="4381500" y="18669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TRIANGULAÇÃO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B6698D5-76CE-42B9-86CB-1B5CB8AC2FA7}"/>
              </a:ext>
            </a:extLst>
          </p:cNvPr>
          <p:cNvSpPr>
            <a:spLocks noGrp="1"/>
          </p:cNvSpPr>
          <p:nvPr/>
        </p:nvSpPr>
        <p:spPr>
          <a:xfrm>
            <a:off x="8782050" y="18669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PRODUTOS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6DF11E3-0E47-4D47-ADC7-65C02DB4D0A8}"/>
              </a:ext>
            </a:extLst>
          </p:cNvPr>
          <p:cNvSpPr>
            <a:spLocks noGrp="1"/>
          </p:cNvSpPr>
          <p:nvPr/>
        </p:nvSpPr>
        <p:spPr>
          <a:xfrm>
            <a:off x="628650" y="2181225"/>
            <a:ext cx="2952750" cy="533400"/>
          </a:xfrm>
          <a:prstGeom prst="roundRect">
            <a:avLst>
              <a:gd name="adj" fmla="val 23214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0818AF1-D5D1-4302-9740-858931D49838}"/>
              </a:ext>
            </a:extLst>
          </p:cNvPr>
          <p:cNvSpPr>
            <a:spLocks noGrp="1"/>
          </p:cNvSpPr>
          <p:nvPr/>
        </p:nvSpPr>
        <p:spPr>
          <a:xfrm>
            <a:off x="628650" y="2181225"/>
            <a:ext cx="66675" cy="533400"/>
          </a:xfrm>
          <a:prstGeom prst="roundRect">
            <a:avLst>
              <a:gd name="adj" fmla="val 42857"/>
            </a:avLst>
          </a:prstGeom>
          <a:solidFill>
            <a:srgbClr val="22C7F2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C226EB2-0BEA-4A58-B7B4-ADAF128C8A81}"/>
              </a:ext>
            </a:extLst>
          </p:cNvPr>
          <p:cNvSpPr>
            <a:spLocks noGrp="1"/>
          </p:cNvSpPr>
          <p:nvPr/>
        </p:nvSpPr>
        <p:spPr>
          <a:xfrm>
            <a:off x="838200" y="2247900"/>
            <a:ext cx="1095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013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013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ONS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E44D3DA-373A-42C1-BA64-A2CF6F837032}"/>
              </a:ext>
            </a:extLst>
          </p:cNvPr>
          <p:cNvSpPr>
            <a:spLocks noGrp="1"/>
          </p:cNvSpPr>
          <p:nvPr/>
        </p:nvSpPr>
        <p:spPr>
          <a:xfrm>
            <a:off x="838200" y="2457450"/>
            <a:ext cx="2524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863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863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séries operativas e constrained-off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62A733BA-5C45-4071-A60C-F647C618D328}"/>
              </a:ext>
            </a:extLst>
          </p:cNvPr>
          <p:cNvSpPr>
            <a:spLocks noGrp="1"/>
          </p:cNvSpPr>
          <p:nvPr/>
        </p:nvSpPr>
        <p:spPr>
          <a:xfrm>
            <a:off x="628650" y="2847975"/>
            <a:ext cx="2952750" cy="533400"/>
          </a:xfrm>
          <a:prstGeom prst="roundRect">
            <a:avLst>
              <a:gd name="adj" fmla="val 23214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F22B3302-8107-44BE-A4B0-9901C79D1BA2}"/>
              </a:ext>
            </a:extLst>
          </p:cNvPr>
          <p:cNvSpPr>
            <a:spLocks noGrp="1"/>
          </p:cNvSpPr>
          <p:nvPr/>
        </p:nvSpPr>
        <p:spPr>
          <a:xfrm>
            <a:off x="628650" y="2847975"/>
            <a:ext cx="66675" cy="533400"/>
          </a:xfrm>
          <a:prstGeom prst="roundRect">
            <a:avLst>
              <a:gd name="adj" fmla="val 42857"/>
            </a:avLst>
          </a:prstGeom>
          <a:solidFill>
            <a:srgbClr val="123C67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6DF968B-320E-4198-BC9B-F8324BFA53F6}"/>
              </a:ext>
            </a:extLst>
          </p:cNvPr>
          <p:cNvSpPr>
            <a:spLocks noGrp="1"/>
          </p:cNvSpPr>
          <p:nvPr/>
        </p:nvSpPr>
        <p:spPr>
          <a:xfrm>
            <a:off x="838200" y="2914650"/>
            <a:ext cx="1095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013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013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Medições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4795694-F269-4BF4-B2BE-7EF16724A83F}"/>
              </a:ext>
            </a:extLst>
          </p:cNvPr>
          <p:cNvSpPr>
            <a:spLocks noGrp="1"/>
          </p:cNvSpPr>
          <p:nvPr/>
        </p:nvSpPr>
        <p:spPr>
          <a:xfrm>
            <a:off x="838200" y="3124200"/>
            <a:ext cx="2524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863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863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fronteiras e séries elétricas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D468DBB4-5F07-46B9-B363-EF0706C55C31}"/>
              </a:ext>
            </a:extLst>
          </p:cNvPr>
          <p:cNvSpPr>
            <a:spLocks noGrp="1"/>
          </p:cNvSpPr>
          <p:nvPr/>
        </p:nvSpPr>
        <p:spPr>
          <a:xfrm>
            <a:off x="628650" y="3514725"/>
            <a:ext cx="2952750" cy="533400"/>
          </a:xfrm>
          <a:prstGeom prst="roundRect">
            <a:avLst>
              <a:gd name="adj" fmla="val 23214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F253AA96-C396-40AE-806A-44B939009ACD}"/>
              </a:ext>
            </a:extLst>
          </p:cNvPr>
          <p:cNvSpPr>
            <a:spLocks noGrp="1"/>
          </p:cNvSpPr>
          <p:nvPr/>
        </p:nvSpPr>
        <p:spPr>
          <a:xfrm>
            <a:off x="628650" y="3514725"/>
            <a:ext cx="66675" cy="533400"/>
          </a:xfrm>
          <a:prstGeom prst="roundRect">
            <a:avLst>
              <a:gd name="adj" fmla="val 42857"/>
            </a:avLst>
          </a:prstGeom>
          <a:solidFill>
            <a:srgbClr val="F4C95D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AF6C0AF-5025-4E1F-884F-C8082BEE3802}"/>
              </a:ext>
            </a:extLst>
          </p:cNvPr>
          <p:cNvSpPr>
            <a:spLocks noGrp="1"/>
          </p:cNvSpPr>
          <p:nvPr/>
        </p:nvSpPr>
        <p:spPr>
          <a:xfrm>
            <a:off x="838200" y="3581400"/>
            <a:ext cx="1095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013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013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Meteorologia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A858ABB-5950-48B7-9414-A38FF1116752}"/>
              </a:ext>
            </a:extLst>
          </p:cNvPr>
          <p:cNvSpPr>
            <a:spLocks noGrp="1"/>
          </p:cNvSpPr>
          <p:nvPr/>
        </p:nvSpPr>
        <p:spPr>
          <a:xfrm>
            <a:off x="838200" y="3790950"/>
            <a:ext cx="2524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863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863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irradiância, nuvens, vento e temperatura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F10C23A4-4956-4569-9FA8-A9508EA40649}"/>
              </a:ext>
            </a:extLst>
          </p:cNvPr>
          <p:cNvSpPr>
            <a:spLocks noGrp="1"/>
          </p:cNvSpPr>
          <p:nvPr/>
        </p:nvSpPr>
        <p:spPr>
          <a:xfrm>
            <a:off x="628650" y="4181475"/>
            <a:ext cx="2952750" cy="533400"/>
          </a:xfrm>
          <a:prstGeom prst="roundRect">
            <a:avLst>
              <a:gd name="adj" fmla="val 23214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446EF9F0-B788-45AC-BB6C-081E503C3155}"/>
              </a:ext>
            </a:extLst>
          </p:cNvPr>
          <p:cNvSpPr>
            <a:spLocks noGrp="1"/>
          </p:cNvSpPr>
          <p:nvPr/>
        </p:nvSpPr>
        <p:spPr>
          <a:xfrm>
            <a:off x="628650" y="4181475"/>
            <a:ext cx="66675" cy="533400"/>
          </a:xfrm>
          <a:prstGeom prst="roundRect">
            <a:avLst>
              <a:gd name="adj" fmla="val 42857"/>
            </a:avLst>
          </a:prstGeom>
          <a:solidFill>
            <a:srgbClr val="D8690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0068E3F4-E9A5-43E2-AEA1-888B81C88AC9}"/>
              </a:ext>
            </a:extLst>
          </p:cNvPr>
          <p:cNvSpPr>
            <a:spLocks noGrp="1"/>
          </p:cNvSpPr>
          <p:nvPr/>
        </p:nvSpPr>
        <p:spPr>
          <a:xfrm>
            <a:off x="838200" y="4248150"/>
            <a:ext cx="1095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013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013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Satélite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B1142FE3-0B31-49D3-BB59-7B14D444EA0D}"/>
              </a:ext>
            </a:extLst>
          </p:cNvPr>
          <p:cNvSpPr>
            <a:spLocks noGrp="1"/>
          </p:cNvSpPr>
          <p:nvPr/>
        </p:nvSpPr>
        <p:spPr>
          <a:xfrm>
            <a:off x="838200" y="4457700"/>
            <a:ext cx="2524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863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863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presença física e distribuição espacial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ADFEB9A8-DC16-411E-A012-C929538DBD1B}"/>
              </a:ext>
            </a:extLst>
          </p:cNvPr>
          <p:cNvSpPr>
            <a:spLocks noGrp="1"/>
          </p:cNvSpPr>
          <p:nvPr/>
        </p:nvSpPr>
        <p:spPr>
          <a:xfrm>
            <a:off x="628650" y="4848225"/>
            <a:ext cx="2952750" cy="533400"/>
          </a:xfrm>
          <a:prstGeom prst="roundRect">
            <a:avLst>
              <a:gd name="adj" fmla="val 23214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6044655-EB85-4F7E-B330-B5CB84879B19}"/>
              </a:ext>
            </a:extLst>
          </p:cNvPr>
          <p:cNvSpPr>
            <a:spLocks noGrp="1"/>
          </p:cNvSpPr>
          <p:nvPr/>
        </p:nvSpPr>
        <p:spPr>
          <a:xfrm>
            <a:off x="628650" y="4848225"/>
            <a:ext cx="66675" cy="533400"/>
          </a:xfrm>
          <a:prstGeom prst="roundRect">
            <a:avLst>
              <a:gd name="adj" fmla="val 42857"/>
            </a:avLst>
          </a:prstGeom>
          <a:solidFill>
            <a:srgbClr val="58D6A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79319841-C442-497B-905C-91A47E6D701C}"/>
              </a:ext>
            </a:extLst>
          </p:cNvPr>
          <p:cNvSpPr>
            <a:spLocks noGrp="1"/>
          </p:cNvSpPr>
          <p:nvPr/>
        </p:nvSpPr>
        <p:spPr>
          <a:xfrm>
            <a:off x="838200" y="4914900"/>
            <a:ext cx="1095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013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013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BDGD + ANEEL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A0E7724C-66EF-4FE0-8E2E-FA97BE09054B}"/>
              </a:ext>
            </a:extLst>
          </p:cNvPr>
          <p:cNvSpPr>
            <a:spLocks noGrp="1"/>
          </p:cNvSpPr>
          <p:nvPr/>
        </p:nvSpPr>
        <p:spPr>
          <a:xfrm>
            <a:off x="838200" y="5124450"/>
            <a:ext cx="2524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863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863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topologia, cadastro e geografia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2B9897CC-8595-48D3-A33F-EEEBFCB7F0DF}"/>
              </a:ext>
            </a:extLst>
          </p:cNvPr>
          <p:cNvSpPr>
            <a:spLocks noGrp="1"/>
          </p:cNvSpPr>
          <p:nvPr/>
        </p:nvSpPr>
        <p:spPr>
          <a:xfrm>
            <a:off x="4171950" y="2276475"/>
            <a:ext cx="3771900" cy="838200"/>
          </a:xfrm>
          <a:prstGeom prst="roundRect">
            <a:avLst>
              <a:gd name="adj" fmla="val 18182"/>
            </a:avLst>
          </a:prstGeom>
          <a:solidFill>
            <a:srgbClr val="FFF0E2"/>
          </a:solidFill>
          <a:ln w="11430">
            <a:solidFill>
              <a:srgbClr val="D8690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206550F8-FB0C-4A3F-B262-551A4037EACB}"/>
              </a:ext>
            </a:extLst>
          </p:cNvPr>
          <p:cNvSpPr>
            <a:spLocks noGrp="1"/>
          </p:cNvSpPr>
          <p:nvPr/>
        </p:nvSpPr>
        <p:spPr>
          <a:xfrm>
            <a:off x="4400550" y="2400300"/>
            <a:ext cx="3314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D8690E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D8690E"/>
                </a:solidFill>
                <a:latin typeface="DejaVu Sans"/>
                <a:ea typeface="DejaVu Sans"/>
                <a:cs typeface="DejaVu Sans"/>
              </a:rPr>
              <a:t>1 · REALIDADE FÍSICA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1C431204-C361-4F6D-AED4-D4683CF364F7}"/>
              </a:ext>
            </a:extLst>
          </p:cNvPr>
          <p:cNvSpPr>
            <a:spLocks noGrp="1"/>
          </p:cNvSpPr>
          <p:nvPr/>
        </p:nvSpPr>
        <p:spPr>
          <a:xfrm>
            <a:off x="4400550" y="2657475"/>
            <a:ext cx="33147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38" b="0" i="0">
                <a:solidFill>
                  <a:srgbClr val="132033"/>
                </a:solidFill>
                <a:latin typeface="DejaVu Sans"/>
                <a:ea typeface="DejaVu Sans"/>
                <a:cs typeface="DejaVu Sans"/>
              </a:defRPr>
            </a:pPr>
            <a:r>
              <a:rPr sz="938" b="0" i="0">
                <a:solidFill>
                  <a:srgbClr val="132033"/>
                </a:solidFill>
                <a:latin typeface="DejaVu Sans"/>
                <a:ea typeface="DejaVu Sans"/>
                <a:cs typeface="DejaVu Sans"/>
              </a:rPr>
              <a:t>Satélite + visão computacional verificam se o ativo existe e onde está.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FFDCE183-1773-4B41-96AC-6BAD6A1DD3F0}"/>
              </a:ext>
            </a:extLst>
          </p:cNvPr>
          <p:cNvSpPr>
            <a:spLocks noGrp="1"/>
          </p:cNvSpPr>
          <p:nvPr/>
        </p:nvSpPr>
        <p:spPr>
          <a:xfrm>
            <a:off x="4171950" y="3343275"/>
            <a:ext cx="3771900" cy="838200"/>
          </a:xfrm>
          <a:prstGeom prst="roundRect">
            <a:avLst>
              <a:gd name="adj" fmla="val 18182"/>
            </a:avLst>
          </a:prstGeom>
          <a:solidFill>
            <a:srgbClr val="E8F1F8"/>
          </a:solidFill>
          <a:ln w="11430">
            <a:solidFill>
              <a:srgbClr val="123C6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E18C27C5-EE34-4307-904B-72E828F611A3}"/>
              </a:ext>
            </a:extLst>
          </p:cNvPr>
          <p:cNvSpPr>
            <a:spLocks noGrp="1"/>
          </p:cNvSpPr>
          <p:nvPr/>
        </p:nvSpPr>
        <p:spPr>
          <a:xfrm>
            <a:off x="4400550" y="3467100"/>
            <a:ext cx="3314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123C6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123C67"/>
                </a:solidFill>
                <a:latin typeface="DejaVu Sans"/>
                <a:ea typeface="DejaVu Sans"/>
                <a:cs typeface="DejaVu Sans"/>
              </a:rPr>
              <a:t>2 · TOPOLOGIA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D1AABF43-A8A3-4FE5-A97E-4ADDA7162F0F}"/>
              </a:ext>
            </a:extLst>
          </p:cNvPr>
          <p:cNvSpPr>
            <a:spLocks noGrp="1"/>
          </p:cNvSpPr>
          <p:nvPr/>
        </p:nvSpPr>
        <p:spPr>
          <a:xfrm>
            <a:off x="4400550" y="3724275"/>
            <a:ext cx="33147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38" b="0" i="0">
                <a:solidFill>
                  <a:srgbClr val="132033"/>
                </a:solidFill>
                <a:latin typeface="DejaVu Sans"/>
                <a:ea typeface="DejaVu Sans"/>
                <a:cs typeface="DejaVu Sans"/>
              </a:defRPr>
            </a:pPr>
            <a:r>
              <a:rPr sz="938" b="0" i="0">
                <a:solidFill>
                  <a:srgbClr val="132033"/>
                </a:solidFill>
                <a:latin typeface="DejaVu Sans"/>
                <a:ea typeface="DejaVu Sans"/>
                <a:cs typeface="DejaVu Sans"/>
              </a:rPr>
              <a:t>A BDGD associa a unidade à rede, ao alimentador e ao transformador.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05823AD0-DE21-46F4-9506-C10E1A274C21}"/>
              </a:ext>
            </a:extLst>
          </p:cNvPr>
          <p:cNvSpPr>
            <a:spLocks noGrp="1"/>
          </p:cNvSpPr>
          <p:nvPr/>
        </p:nvSpPr>
        <p:spPr>
          <a:xfrm>
            <a:off x="4171950" y="4410075"/>
            <a:ext cx="3771900" cy="838200"/>
          </a:xfrm>
          <a:prstGeom prst="roundRect">
            <a:avLst>
              <a:gd name="adj" fmla="val 18182"/>
            </a:avLst>
          </a:prstGeom>
          <a:solidFill>
            <a:srgbClr val="DDF8ED"/>
          </a:solidFill>
          <a:ln w="11430">
            <a:solidFill>
              <a:srgbClr val="58D6A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3B5DE2C4-800E-44BF-B7DF-35ECDA40FAEF}"/>
              </a:ext>
            </a:extLst>
          </p:cNvPr>
          <p:cNvSpPr>
            <a:spLocks noGrp="1"/>
          </p:cNvSpPr>
          <p:nvPr/>
        </p:nvSpPr>
        <p:spPr>
          <a:xfrm>
            <a:off x="4400550" y="4533900"/>
            <a:ext cx="3314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58D6A5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58D6A5"/>
                </a:solidFill>
                <a:latin typeface="DejaVu Sans"/>
                <a:ea typeface="DejaVu Sans"/>
                <a:cs typeface="DejaVu Sans"/>
              </a:rPr>
              <a:t>3 · CADASTRO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5AB85B99-F1C3-45A2-BDC0-87EB931BA547}"/>
              </a:ext>
            </a:extLst>
          </p:cNvPr>
          <p:cNvSpPr>
            <a:spLocks noGrp="1"/>
          </p:cNvSpPr>
          <p:nvPr/>
        </p:nvSpPr>
        <p:spPr>
          <a:xfrm>
            <a:off x="4400550" y="4791075"/>
            <a:ext cx="33147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38" b="0" i="0">
                <a:solidFill>
                  <a:srgbClr val="132033"/>
                </a:solidFill>
                <a:latin typeface="DejaVu Sans"/>
                <a:ea typeface="DejaVu Sans"/>
                <a:cs typeface="DejaVu Sans"/>
              </a:defRPr>
            </a:pPr>
            <a:r>
              <a:rPr sz="938" b="0" i="0">
                <a:solidFill>
                  <a:srgbClr val="132033"/>
                </a:solidFill>
                <a:latin typeface="DejaVu Sans"/>
                <a:ea typeface="DejaVu Sans"/>
                <a:cs typeface="DejaVu Sans"/>
              </a:rPr>
              <a:t>A base ANEEL informa homologação, potência e atualização administrativa.</a:t>
            </a:r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BD8D774B-5D05-41F8-9388-B49DD4F5502D}"/>
              </a:ext>
            </a:extLst>
          </p:cNvPr>
          <p:cNvSpPr>
            <a:spLocks noGrp="1"/>
          </p:cNvSpPr>
          <p:nvPr/>
        </p:nvSpPr>
        <p:spPr>
          <a:xfrm>
            <a:off x="8572500" y="2476500"/>
            <a:ext cx="2990850" cy="1200150"/>
          </a:xfrm>
          <a:prstGeom prst="roundRect">
            <a:avLst>
              <a:gd name="adj" fmla="val 15873"/>
            </a:avLst>
          </a:prstGeom>
          <a:solidFill>
            <a:srgbClr val="D9F6FD"/>
          </a:solidFill>
          <a:ln w="13335">
            <a:solidFill>
              <a:srgbClr val="22C7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BF170303-C2B6-4D29-8F49-F4E9DB4B3350}"/>
              </a:ext>
            </a:extLst>
          </p:cNvPr>
          <p:cNvSpPr>
            <a:spLocks noGrp="1"/>
          </p:cNvSpPr>
          <p:nvPr/>
        </p:nvSpPr>
        <p:spPr>
          <a:xfrm>
            <a:off x="8839200" y="2657475"/>
            <a:ext cx="2457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4000"/>
              </a:lnSpc>
              <a:buNone/>
              <a:defRPr sz="900" b="1" i="0">
                <a:solidFill>
                  <a:srgbClr val="123C6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123C67"/>
                </a:solidFill>
                <a:latin typeface="DejaVu Sans"/>
                <a:ea typeface="DejaVu Sans"/>
                <a:cs typeface="DejaVu Sans"/>
              </a:rPr>
              <a:t>PRODUTO 1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B4D0B400-82D1-4D05-AEF2-2C6CB51ACBBA}"/>
              </a:ext>
            </a:extLst>
          </p:cNvPr>
          <p:cNvSpPr>
            <a:spLocks noGrp="1"/>
          </p:cNvSpPr>
          <p:nvPr/>
        </p:nvSpPr>
        <p:spPr>
          <a:xfrm>
            <a:off x="8839200" y="2962275"/>
            <a:ext cx="2457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9767"/>
          </a:bodyPr>
          <a:lstStyle/>
          <a:p>
            <a:pPr algn="ctr">
              <a:lnSpc>
                <a:spcPct val="104000"/>
              </a:lnSpc>
              <a:buNone/>
              <a:defRPr sz="15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Carga supervisionada e</a:t>
            </a:r>
          </a:p>
          <a:p>
            <a:pPr algn="ctr">
              <a:lnSpc>
                <a:spcPct val="104000"/>
              </a:lnSpc>
              <a:buNone/>
              <a:defRPr sz="15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MMGD estimada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FAB16AB2-D175-487D-A8D2-FDC10BB127C2}"/>
              </a:ext>
            </a:extLst>
          </p:cNvPr>
          <p:cNvSpPr>
            <a:spLocks noGrp="1"/>
          </p:cNvSpPr>
          <p:nvPr/>
        </p:nvSpPr>
        <p:spPr>
          <a:xfrm>
            <a:off x="8572500" y="3990975"/>
            <a:ext cx="2990850" cy="1200150"/>
          </a:xfrm>
          <a:prstGeom prst="roundRect">
            <a:avLst>
              <a:gd name="adj" fmla="val 15873"/>
            </a:avLst>
          </a:prstGeom>
          <a:solidFill>
            <a:srgbClr val="FFF0E2"/>
          </a:solidFill>
          <a:ln w="13335">
            <a:solidFill>
              <a:srgbClr val="D8690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D0C60204-84AD-44DB-9868-D131A8930B38}"/>
              </a:ext>
            </a:extLst>
          </p:cNvPr>
          <p:cNvSpPr>
            <a:spLocks noGrp="1"/>
          </p:cNvSpPr>
          <p:nvPr/>
        </p:nvSpPr>
        <p:spPr>
          <a:xfrm>
            <a:off x="8839200" y="4171950"/>
            <a:ext cx="2457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4000"/>
              </a:lnSpc>
              <a:buNone/>
              <a:defRPr sz="900" b="1" i="0">
                <a:solidFill>
                  <a:srgbClr val="D8690E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D8690E"/>
                </a:solidFill>
                <a:latin typeface="DejaVu Sans"/>
                <a:ea typeface="DejaVu Sans"/>
                <a:cs typeface="DejaVu Sans"/>
              </a:rPr>
              <a:t>PRODUTO 2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75FAD8C7-EB62-4E26-A6C4-6B5D0F17D142}"/>
              </a:ext>
            </a:extLst>
          </p:cNvPr>
          <p:cNvSpPr>
            <a:spLocks noGrp="1"/>
          </p:cNvSpPr>
          <p:nvPr/>
        </p:nvSpPr>
        <p:spPr>
          <a:xfrm>
            <a:off x="8839200" y="4476750"/>
            <a:ext cx="2457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5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Risco de curtailment</a:t>
            </a:r>
          </a:p>
          <a:p>
            <a:pPr algn="ctr">
              <a:lnSpc>
                <a:spcPct val="104000"/>
              </a:lnSpc>
              <a:buNone/>
              <a:defRPr sz="15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por razão energética</a:t>
            </a:r>
          </a:p>
        </p:txBody>
      </p:sp>
      <p:cxnSp>
        <p:nvCxnSpPr>
          <p:cNvPr id="99" name="Conector: Angulado 98"/>
          <p:cNvCxnSpPr>
            <a:stCxn id="9" idx="3"/>
            <a:endCxn id="32" idx="1"/>
          </p:cNvCxnSpPr>
          <p:nvPr/>
        </p:nvCxnSpPr>
        <p:spPr>
          <a:xfrm>
            <a:off x="3581400" y="2447925"/>
            <a:ext cx="590550" cy="1314450"/>
          </a:xfrm>
          <a:prstGeom prst="bentConnector3">
            <a:avLst>
              <a:gd name="adj1" fmla="val 50000"/>
            </a:avLst>
          </a:prstGeom>
          <a:ln w="14288">
            <a:solidFill>
              <a:srgbClr val="C9D7E5"/>
            </a:solidFill>
            <a:prstDash val="solid"/>
            <a:tailEnd type="arrow" w="sm" len="sm"/>
          </a:ln>
        </p:spPr>
      </p:cxnSp>
      <p:cxnSp>
        <p:nvCxnSpPr>
          <p:cNvPr id="100" name="Conector: Angulado 99"/>
          <p:cNvCxnSpPr>
            <a:stCxn id="13" idx="3"/>
            <a:endCxn id="32" idx="1"/>
          </p:cNvCxnSpPr>
          <p:nvPr/>
        </p:nvCxnSpPr>
        <p:spPr>
          <a:xfrm>
            <a:off x="3581400" y="3114675"/>
            <a:ext cx="590550" cy="647700"/>
          </a:xfrm>
          <a:prstGeom prst="bentConnector3">
            <a:avLst>
              <a:gd name="adj1" fmla="val 50000"/>
            </a:avLst>
          </a:prstGeom>
          <a:ln w="14288">
            <a:solidFill>
              <a:srgbClr val="C9D7E5"/>
            </a:solidFill>
            <a:prstDash val="solid"/>
            <a:tailEnd type="arrow" w="sm" len="sm"/>
          </a:ln>
        </p:spPr>
      </p:cxnSp>
      <p:cxnSp>
        <p:nvCxnSpPr>
          <p:cNvPr id="101" name="Conector: Angulado 100"/>
          <p:cNvCxnSpPr>
            <a:stCxn id="17" idx="3"/>
            <a:endCxn id="32" idx="1"/>
          </p:cNvCxnSpPr>
          <p:nvPr/>
        </p:nvCxnSpPr>
        <p:spPr>
          <a:xfrm flipV="1">
            <a:off x="3581400" y="3762375"/>
            <a:ext cx="590550" cy="19050"/>
          </a:xfrm>
          <a:prstGeom prst="bentConnector3">
            <a:avLst>
              <a:gd name="adj1" fmla="val 50000"/>
            </a:avLst>
          </a:prstGeom>
          <a:ln w="14288">
            <a:solidFill>
              <a:srgbClr val="C9D7E5"/>
            </a:solidFill>
            <a:prstDash val="solid"/>
            <a:tailEnd type="arrow" w="sm" len="sm"/>
          </a:ln>
        </p:spPr>
      </p:cxnSp>
      <p:cxnSp>
        <p:nvCxnSpPr>
          <p:cNvPr id="102" name="Conector: Angulado 101"/>
          <p:cNvCxnSpPr>
            <a:stCxn id="21" idx="3"/>
            <a:endCxn id="32" idx="1"/>
          </p:cNvCxnSpPr>
          <p:nvPr/>
        </p:nvCxnSpPr>
        <p:spPr>
          <a:xfrm flipV="1">
            <a:off x="3581400" y="3762375"/>
            <a:ext cx="590550" cy="685800"/>
          </a:xfrm>
          <a:prstGeom prst="bentConnector3">
            <a:avLst>
              <a:gd name="adj1" fmla="val 50000"/>
            </a:avLst>
          </a:prstGeom>
          <a:ln w="14288">
            <a:solidFill>
              <a:srgbClr val="C9D7E5"/>
            </a:solidFill>
            <a:prstDash val="solid"/>
            <a:tailEnd type="arrow" w="sm" len="sm"/>
          </a:ln>
        </p:spPr>
      </p:cxnSp>
      <p:cxnSp>
        <p:nvCxnSpPr>
          <p:cNvPr id="103" name="Conector: Angulado 102"/>
          <p:cNvCxnSpPr>
            <a:stCxn id="25" idx="3"/>
            <a:endCxn id="32" idx="1"/>
          </p:cNvCxnSpPr>
          <p:nvPr/>
        </p:nvCxnSpPr>
        <p:spPr>
          <a:xfrm flipV="1">
            <a:off x="3581400" y="3762375"/>
            <a:ext cx="590550" cy="1352550"/>
          </a:xfrm>
          <a:prstGeom prst="bentConnector3">
            <a:avLst>
              <a:gd name="adj1" fmla="val 50000"/>
            </a:avLst>
          </a:prstGeom>
          <a:ln w="14288">
            <a:solidFill>
              <a:srgbClr val="C9D7E5"/>
            </a:solidFill>
            <a:prstDash val="solid"/>
            <a:tailEnd type="arrow" w="sm" len="sm"/>
          </a:ln>
        </p:spPr>
      </p:cxnSp>
      <p:cxnSp>
        <p:nvCxnSpPr>
          <p:cNvPr id="104" name="Conector: Angulado 103"/>
          <p:cNvCxnSpPr>
            <a:stCxn id="29" idx="3"/>
            <a:endCxn id="38" idx="1"/>
          </p:cNvCxnSpPr>
          <p:nvPr/>
        </p:nvCxnSpPr>
        <p:spPr>
          <a:xfrm>
            <a:off x="7943850" y="2695575"/>
            <a:ext cx="628650" cy="381000"/>
          </a:xfrm>
          <a:prstGeom prst="bentConnector3">
            <a:avLst>
              <a:gd name="adj1" fmla="val 50000"/>
            </a:avLst>
          </a:prstGeom>
          <a:ln w="16193">
            <a:solidFill>
              <a:srgbClr val="22C7F2"/>
            </a:solidFill>
            <a:prstDash val="solid"/>
            <a:tailEnd type="arrow" w="sm" len="sm"/>
          </a:ln>
        </p:spPr>
      </p:cxnSp>
      <p:cxnSp>
        <p:nvCxnSpPr>
          <p:cNvPr id="105" name="Conector: Angulado 104"/>
          <p:cNvCxnSpPr>
            <a:stCxn id="32" idx="3"/>
            <a:endCxn id="38" idx="1"/>
          </p:cNvCxnSpPr>
          <p:nvPr/>
        </p:nvCxnSpPr>
        <p:spPr>
          <a:xfrm flipV="1">
            <a:off x="7943850" y="3076575"/>
            <a:ext cx="628650" cy="685800"/>
          </a:xfrm>
          <a:prstGeom prst="bentConnector3">
            <a:avLst>
              <a:gd name="adj1" fmla="val 50000"/>
            </a:avLst>
          </a:prstGeom>
          <a:ln w="16193">
            <a:solidFill>
              <a:srgbClr val="22C7F2"/>
            </a:solidFill>
            <a:prstDash val="solid"/>
            <a:tailEnd type="arrow" w="sm" len="sm"/>
          </a:ln>
        </p:spPr>
      </p:cxnSp>
      <p:cxnSp>
        <p:nvCxnSpPr>
          <p:cNvPr id="106" name="Conector: Angulado 105"/>
          <p:cNvCxnSpPr>
            <a:stCxn id="35" idx="3"/>
            <a:endCxn id="41" idx="1"/>
          </p:cNvCxnSpPr>
          <p:nvPr/>
        </p:nvCxnSpPr>
        <p:spPr>
          <a:xfrm flipV="1">
            <a:off x="7943850" y="4591050"/>
            <a:ext cx="628650" cy="238125"/>
          </a:xfrm>
          <a:prstGeom prst="bentConnector3">
            <a:avLst>
              <a:gd name="adj1" fmla="val 50000"/>
            </a:avLst>
          </a:prstGeom>
          <a:ln w="16193">
            <a:solidFill>
              <a:srgbClr val="D8690E"/>
            </a:solidFill>
            <a:prstDash val="solid"/>
            <a:tailEnd type="arrow" w="sm" len="sm"/>
          </a:ln>
        </p:spPr>
      </p:cxnSp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223B4FE3-4984-4D67-B9D4-C63601F69401}"/>
              </a:ext>
            </a:extLst>
          </p:cNvPr>
          <p:cNvSpPr>
            <a:spLocks noGrp="1"/>
          </p:cNvSpPr>
          <p:nvPr/>
        </p:nvSpPr>
        <p:spPr>
          <a:xfrm>
            <a:off x="628650" y="5657850"/>
            <a:ext cx="10934700" cy="590550"/>
          </a:xfrm>
          <a:prstGeom prst="roundRect">
            <a:avLst>
              <a:gd name="adj" fmla="val 25806"/>
            </a:avLst>
          </a:prstGeom>
          <a:solidFill>
            <a:srgbClr val="FFF4F4"/>
          </a:solidFill>
          <a:ln w="9525">
            <a:solidFill>
              <a:srgbClr val="E85C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7C862198-041C-4588-9AFF-57AE88AB19CF}"/>
              </a:ext>
            </a:extLst>
          </p:cNvPr>
          <p:cNvSpPr>
            <a:spLocks noGrp="1"/>
          </p:cNvSpPr>
          <p:nvPr/>
        </p:nvSpPr>
        <p:spPr>
          <a:xfrm>
            <a:off x="838200" y="579120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00" b="1" i="0">
                <a:solidFill>
                  <a:srgbClr val="E85C5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E85C5C"/>
                </a:solidFill>
                <a:latin typeface="DejaVu Sans"/>
                <a:ea typeface="DejaVu Sans"/>
                <a:cs typeface="DejaVu Sans"/>
              </a:rPr>
              <a:t>LIMITES ASSUMIDOS DESDE O INÍCIO</a:t>
            </a:r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19402882-1A11-458D-945F-A856AD6CE1A3}"/>
              </a:ext>
            </a:extLst>
          </p:cNvPr>
          <p:cNvSpPr>
            <a:spLocks noGrp="1"/>
          </p:cNvSpPr>
          <p:nvPr/>
        </p:nvSpPr>
        <p:spPr>
          <a:xfrm>
            <a:off x="3409950" y="5772150"/>
            <a:ext cx="784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792" lnSpcReduction="10000"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132033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132033"/>
                </a:solidFill>
                <a:latin typeface="DejaVu Sans"/>
                <a:ea typeface="DejaVu Sans"/>
                <a:cs typeface="DejaVu Sans"/>
              </a:rPr>
              <a:t>BDGD anual e heterogênea · satélite periódico, não tempo real · ERA5 para treino/backtest; previsão operacional com fontes meteorológicas futuras.</a:t>
            </a:r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98922960-D659-43C1-836B-FCDCC25657EC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10934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78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78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Bases: Portal de Dados Abertos do ONS, BDGD/ANEEL, medições, meteorologia e imagens de satélite.</a:t>
            </a:r>
          </a:p>
        </p:txBody>
      </p:sp>
    </p:spTree>
    <p:extLst>
      <p:ext uri="{BB962C8B-B14F-4D97-AF65-F5344CB8AC3E}">
        <p14:creationId xmlns:p14="http://schemas.microsoft.com/office/powerpoint/2010/main" val="97620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>
            <a:extLst>
              <a:ext uri="{FF2B5EF4-FFF2-40B4-BE49-F238E27FC236}">
                <a16:creationId xmlns:a16="http://schemas.microsoft.com/office/drawing/2014/main" id="{4B428FAA-AA2D-463B-85FE-C6A3218B96C3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58D6A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58D6A5"/>
                </a:solidFill>
                <a:latin typeface="DejaVu Sans"/>
                <a:ea typeface="DejaVu Sans"/>
                <a:cs typeface="DejaVu Sans"/>
              </a:rPr>
              <a:t>PROTÓTIPO FUNCIONAL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0646197-4ACB-4462-A98D-BFF23C70581F}"/>
              </a:ext>
            </a:extLst>
          </p:cNvPr>
          <p:cNvSpPr>
            <a:spLocks noGrp="1"/>
          </p:cNvSpPr>
          <p:nvPr/>
        </p:nvSpPr>
        <p:spPr>
          <a:xfrm>
            <a:off x="628650" y="666750"/>
            <a:ext cx="10382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30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Da medição à previsão da carga líquida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B82CCEAC-5CCB-477A-964A-25A3778CB1C1}"/>
              </a:ext>
            </a:extLst>
          </p:cNvPr>
          <p:cNvSpPr>
            <a:spLocks noGrp="1"/>
          </p:cNvSpPr>
          <p:nvPr/>
        </p:nvSpPr>
        <p:spPr>
          <a:xfrm>
            <a:off x="628650" y="1323975"/>
            <a:ext cx="10934700" cy="0"/>
          </a:xfrm>
          <a:prstGeom prst="line">
            <a:avLst/>
          </a:prstGeom>
          <a:noFill/>
          <a:ln w="12383">
            <a:solidFill>
              <a:srgbClr val="123C6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D119F74-0C1D-46BA-B1EA-BD0C78F1312F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4000"/>
              </a:lnSpc>
              <a:buNone/>
              <a:def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3A654C4-2CD5-4030-8013-9C0D2260B3B3}"/>
              </a:ext>
            </a:extLst>
          </p:cNvPr>
          <p:cNvSpPr>
            <a:spLocks noGrp="1"/>
          </p:cNvSpPr>
          <p:nvPr/>
        </p:nvSpPr>
        <p:spPr>
          <a:xfrm>
            <a:off x="628650" y="1457325"/>
            <a:ext cx="809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268"/>
          </a:bodyPr>
          <a:lstStyle/>
          <a:p>
            <a:pPr algn="l">
              <a:lnSpc>
                <a:spcPct val="104000"/>
              </a:lnSpc>
              <a:buNone/>
              <a:defRPr sz="1275" b="0" i="0">
                <a:solidFill>
                  <a:srgbClr val="D9F6F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 i="0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A visão preditiva explicita o efeito da MMGD sobre a carga supervisionada e acompanha incerteza, clima e múltiplos horizontes.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FEB0299-9A73-49DB-BEE8-692B8C977D8A}"/>
              </a:ext>
            </a:extLst>
          </p:cNvPr>
          <p:cNvSpPr>
            <a:spLocks noGrp="1"/>
          </p:cNvSpPr>
          <p:nvPr/>
        </p:nvSpPr>
        <p:spPr>
          <a:xfrm>
            <a:off x="9391650" y="1476375"/>
            <a:ext cx="2171700" cy="323850"/>
          </a:xfrm>
          <a:prstGeom prst="roundRect">
            <a:avLst>
              <a:gd name="adj" fmla="val 50000"/>
            </a:avLst>
          </a:prstGeom>
          <a:solidFill>
            <a:srgbClr val="D8690E"/>
          </a:solidFill>
          <a:ln w="0">
            <a:noFill/>
            <a:prstDash val="solid"/>
          </a:ln>
        </p:spPr>
        <p:txBody>
          <a:bodyPr lIns="95250" tIns="0" rIns="95250" bIns="0" anchor="ctr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DADOS DEMONSTRATIVOS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3E2E182-BB4F-4AA8-96D2-3552DCC408D2}"/>
              </a:ext>
            </a:extLst>
          </p:cNvPr>
          <p:cNvSpPr>
            <a:spLocks noGrp="1"/>
          </p:cNvSpPr>
          <p:nvPr/>
        </p:nvSpPr>
        <p:spPr>
          <a:xfrm>
            <a:off x="628650" y="2000250"/>
            <a:ext cx="8077200" cy="4276725"/>
          </a:xfrm>
          <a:prstGeom prst="roundRect">
            <a:avLst>
              <a:gd name="adj" fmla="val 3118"/>
            </a:avLst>
          </a:prstGeom>
          <a:solidFill>
            <a:srgbClr val="07101D"/>
          </a:solidFill>
          <a:ln w="13335">
            <a:solidFill>
              <a:srgbClr val="22C7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pic>
        <p:nvPicPr>
          <p:cNvPr id="29" name="Imagem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75189" y="2066925"/>
            <a:ext cx="6384121" cy="4143375"/>
          </a:xfrm>
          <a:prstGeom prst="rect">
            <a:avLst/>
          </a:prstGeom>
        </p:spPr>
      </p:pic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DBDC28F-9B2C-4E9A-9D7D-831DBD316BA7}"/>
              </a:ext>
            </a:extLst>
          </p:cNvPr>
          <p:cNvSpPr>
            <a:spLocks noGrp="1"/>
          </p:cNvSpPr>
          <p:nvPr/>
        </p:nvSpPr>
        <p:spPr>
          <a:xfrm>
            <a:off x="8991600" y="2000250"/>
            <a:ext cx="2571750" cy="1181100"/>
          </a:xfrm>
          <a:prstGeom prst="roundRect">
            <a:avLst>
              <a:gd name="adj" fmla="val 14516"/>
            </a:avLst>
          </a:prstGeom>
          <a:solidFill>
            <a:srgbClr val="0A2340"/>
          </a:solidFill>
          <a:ln w="9525">
            <a:solidFill>
              <a:srgbClr val="123C6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E8BD9280-EE0E-45E3-838B-D57D93FA587C}"/>
              </a:ext>
            </a:extLst>
          </p:cNvPr>
          <p:cNvSpPr>
            <a:spLocks noGrp="1"/>
          </p:cNvSpPr>
          <p:nvPr/>
        </p:nvSpPr>
        <p:spPr>
          <a:xfrm>
            <a:off x="8991600" y="2000250"/>
            <a:ext cx="76200" cy="1181100"/>
          </a:xfrm>
          <a:prstGeom prst="roundRect">
            <a:avLst>
              <a:gd name="adj" fmla="val 50000"/>
            </a:avLst>
          </a:prstGeom>
          <a:solidFill>
            <a:srgbClr val="22C7F2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B24D09A-DDF3-408B-AE2F-35A3614ADE1A}"/>
              </a:ext>
            </a:extLst>
          </p:cNvPr>
          <p:cNvSpPr>
            <a:spLocks noGrp="1"/>
          </p:cNvSpPr>
          <p:nvPr/>
        </p:nvSpPr>
        <p:spPr>
          <a:xfrm>
            <a:off x="9220200" y="2143125"/>
            <a:ext cx="2133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200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rPr>
              <a:t>1 · DECOMPOR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B22085E-B19F-4389-B29E-FB59E2DC88C8}"/>
              </a:ext>
            </a:extLst>
          </p:cNvPr>
          <p:cNvSpPr>
            <a:spLocks noGrp="1"/>
          </p:cNvSpPr>
          <p:nvPr/>
        </p:nvSpPr>
        <p:spPr>
          <a:xfrm>
            <a:off x="9220200" y="2466975"/>
            <a:ext cx="21336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451" lnSpcReduction="10000"/>
          </a:bodyPr>
          <a:lstStyle/>
          <a:p>
            <a:pPr algn="l">
              <a:lnSpc>
                <a:spcPct val="112000"/>
              </a:lnSpc>
              <a:buNone/>
              <a:defRPr sz="1088" b="0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Carga medida − MMGD estimada = carga supervisionada.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38E4608C-D132-41BD-98FA-542C1F0D4588}"/>
              </a:ext>
            </a:extLst>
          </p:cNvPr>
          <p:cNvSpPr>
            <a:spLocks noGrp="1"/>
          </p:cNvSpPr>
          <p:nvPr/>
        </p:nvSpPr>
        <p:spPr>
          <a:xfrm>
            <a:off x="8991600" y="3352800"/>
            <a:ext cx="2571750" cy="1181100"/>
          </a:xfrm>
          <a:prstGeom prst="roundRect">
            <a:avLst>
              <a:gd name="adj" fmla="val 14516"/>
            </a:avLst>
          </a:prstGeom>
          <a:solidFill>
            <a:srgbClr val="0A2340"/>
          </a:solidFill>
          <a:ln w="9525">
            <a:solidFill>
              <a:srgbClr val="123C6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85B05C8A-F3C6-4B8B-A303-F963DD1601EC}"/>
              </a:ext>
            </a:extLst>
          </p:cNvPr>
          <p:cNvSpPr>
            <a:spLocks noGrp="1"/>
          </p:cNvSpPr>
          <p:nvPr/>
        </p:nvSpPr>
        <p:spPr>
          <a:xfrm>
            <a:off x="8991600" y="3352800"/>
            <a:ext cx="76200" cy="1181100"/>
          </a:xfrm>
          <a:prstGeom prst="roundRect">
            <a:avLst>
              <a:gd name="adj" fmla="val 50000"/>
            </a:avLst>
          </a:prstGeom>
          <a:solidFill>
            <a:srgbClr val="58D6A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1E420A9-C47A-42CD-B24F-DA02D88DD7F8}"/>
              </a:ext>
            </a:extLst>
          </p:cNvPr>
          <p:cNvSpPr>
            <a:spLocks noGrp="1"/>
          </p:cNvSpPr>
          <p:nvPr/>
        </p:nvSpPr>
        <p:spPr>
          <a:xfrm>
            <a:off x="9220200" y="3495675"/>
            <a:ext cx="2133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200" b="1" i="0">
                <a:solidFill>
                  <a:srgbClr val="58D6A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58D6A5"/>
                </a:solidFill>
                <a:latin typeface="DejaVu Sans"/>
                <a:ea typeface="DejaVu Sans"/>
                <a:cs typeface="DejaVu Sans"/>
              </a:rPr>
              <a:t>2 · PROJETAR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F5F12D6-15F0-4915-BBBA-203DD30FB866}"/>
              </a:ext>
            </a:extLst>
          </p:cNvPr>
          <p:cNvSpPr>
            <a:spLocks noGrp="1"/>
          </p:cNvSpPr>
          <p:nvPr/>
        </p:nvSpPr>
        <p:spPr>
          <a:xfrm>
            <a:off x="9220200" y="3819525"/>
            <a:ext cx="21336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451" lnSpcReduction="10000"/>
          </a:bodyPr>
          <a:lstStyle/>
          <a:p>
            <a:pPr algn="l">
              <a:lnSpc>
                <a:spcPct val="112000"/>
              </a:lnSpc>
              <a:buNone/>
              <a:defRPr sz="1088" b="0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88" b="0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Horizontes de 30 min, 3 h e D+1, incorporando variáveis meteorológicas.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9A3EA908-07C7-4997-B59A-4C966061B439}"/>
              </a:ext>
            </a:extLst>
          </p:cNvPr>
          <p:cNvSpPr>
            <a:spLocks noGrp="1"/>
          </p:cNvSpPr>
          <p:nvPr/>
        </p:nvSpPr>
        <p:spPr>
          <a:xfrm>
            <a:off x="8991600" y="4705350"/>
            <a:ext cx="2571750" cy="1571625"/>
          </a:xfrm>
          <a:prstGeom prst="roundRect">
            <a:avLst>
              <a:gd name="adj" fmla="val 10909"/>
            </a:avLst>
          </a:prstGeom>
          <a:solidFill>
            <a:srgbClr val="0A2340"/>
          </a:solidFill>
          <a:ln w="9525">
            <a:solidFill>
              <a:srgbClr val="123C6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27F76C3F-B279-4C81-ADD4-C4619E667C68}"/>
              </a:ext>
            </a:extLst>
          </p:cNvPr>
          <p:cNvSpPr>
            <a:spLocks noGrp="1"/>
          </p:cNvSpPr>
          <p:nvPr/>
        </p:nvSpPr>
        <p:spPr>
          <a:xfrm>
            <a:off x="8991600" y="4705350"/>
            <a:ext cx="76200" cy="1571625"/>
          </a:xfrm>
          <a:prstGeom prst="roundRect">
            <a:avLst>
              <a:gd name="adj" fmla="val 50000"/>
            </a:avLst>
          </a:prstGeom>
          <a:solidFill>
            <a:srgbClr val="D8690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97211235-FE54-4E04-A2F6-19AB57D58FE7}"/>
              </a:ext>
            </a:extLst>
          </p:cNvPr>
          <p:cNvSpPr>
            <a:spLocks noGrp="1"/>
          </p:cNvSpPr>
          <p:nvPr/>
        </p:nvSpPr>
        <p:spPr>
          <a:xfrm>
            <a:off x="9220200" y="4848225"/>
            <a:ext cx="2133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6250"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D8690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>
                <a:solidFill>
                  <a:srgbClr val="D8690E"/>
                </a:solidFill>
                <a:latin typeface="DejaVu Sans"/>
                <a:ea typeface="DejaVu Sans"/>
                <a:cs typeface="DejaVu Sans"/>
              </a:rPr>
              <a:t>3 · QUANTIFICAR INCERTEZA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EAC85BE5-DEE6-43A6-8972-59B916B239BF}"/>
              </a:ext>
            </a:extLst>
          </p:cNvPr>
          <p:cNvSpPr>
            <a:spLocks noGrp="1"/>
          </p:cNvSpPr>
          <p:nvPr/>
        </p:nvSpPr>
        <p:spPr>
          <a:xfrm>
            <a:off x="9220200" y="5172075"/>
            <a:ext cx="21336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065" b="0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65" b="0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Bandas P10/P50/P90 tornam explícita a faixa provável, evitando uma falsa sensação de precisão pontual.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C28F3D46-CC70-461A-8E85-280836A440F8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10934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788" b="0" i="0">
                <a:solidFill>
                  <a:srgbClr val="D9F6FD"/>
                </a:solidFill>
                <a:latin typeface="DejaVu Sans"/>
                <a:ea typeface="DejaVu Sans"/>
                <a:cs typeface="DejaVu Sans"/>
              </a:defRPr>
            </a:pPr>
            <a:r>
              <a:rPr sz="788" b="0" i="0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Protótipo O.R.A.C.U.L.O. · Valores, eventos e indicadores apresentados nas telas são demonstrativos.</a:t>
            </a:r>
          </a:p>
        </p:txBody>
      </p:sp>
    </p:spTree>
    <p:extLst>
      <p:ext uri="{BB962C8B-B14F-4D97-AF65-F5344CB8AC3E}">
        <p14:creationId xmlns:p14="http://schemas.microsoft.com/office/powerpoint/2010/main" val="278837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99E4AF49-A970-4B62-A2DB-8E7DA7A951AE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rPr>
              <a:t>PROTÓTIPO FUNCIONAL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32C9F84-111D-43F1-A283-A11337AA2D29}"/>
              </a:ext>
            </a:extLst>
          </p:cNvPr>
          <p:cNvSpPr>
            <a:spLocks noGrp="1"/>
          </p:cNvSpPr>
          <p:nvPr/>
        </p:nvSpPr>
        <p:spPr>
          <a:xfrm>
            <a:off x="628650" y="666750"/>
            <a:ext cx="10382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30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Do mapa de risco à ação coordenada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203B6FEC-72C2-4D79-A5F5-903DCD456D1C}"/>
              </a:ext>
            </a:extLst>
          </p:cNvPr>
          <p:cNvSpPr>
            <a:spLocks noGrp="1"/>
          </p:cNvSpPr>
          <p:nvPr/>
        </p:nvSpPr>
        <p:spPr>
          <a:xfrm>
            <a:off x="628650" y="1323975"/>
            <a:ext cx="10934700" cy="0"/>
          </a:xfrm>
          <a:prstGeom prst="line">
            <a:avLst/>
          </a:prstGeom>
          <a:noFill/>
          <a:ln w="12383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607DCBA-2F8C-4E49-A454-C8A231E4F72A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4000"/>
              </a:lnSpc>
              <a:buNone/>
              <a:def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E2C8D96-2B10-4516-A78E-54A81EE58015}"/>
              </a:ext>
            </a:extLst>
          </p:cNvPr>
          <p:cNvSpPr>
            <a:spLocks noGrp="1"/>
          </p:cNvSpPr>
          <p:nvPr/>
        </p:nvSpPr>
        <p:spPr>
          <a:xfrm>
            <a:off x="628650" y="1457325"/>
            <a:ext cx="876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055" lnSpcReduction="10000"/>
          </a:bodyPr>
          <a:lstStyle/>
          <a:p>
            <a:pPr algn="l">
              <a:lnSpc>
                <a:spcPct val="104000"/>
              </a:lnSpc>
              <a:buNone/>
              <a:defRPr sz="1275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A previsão ganha valor quando localiza o risco, prioriza eventos e explica as causas prováveis antes da decisão operativa.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86D85D2C-4D8A-4968-A1FF-7133A5845D57}"/>
              </a:ext>
            </a:extLst>
          </p:cNvPr>
          <p:cNvSpPr>
            <a:spLocks noGrp="1"/>
          </p:cNvSpPr>
          <p:nvPr/>
        </p:nvSpPr>
        <p:spPr>
          <a:xfrm>
            <a:off x="9391650" y="1466850"/>
            <a:ext cx="2171700" cy="323850"/>
          </a:xfrm>
          <a:prstGeom prst="roundRect">
            <a:avLst>
              <a:gd name="adj" fmla="val 50000"/>
            </a:avLst>
          </a:prstGeom>
          <a:solidFill>
            <a:srgbClr val="D8690E"/>
          </a:solidFill>
          <a:ln w="0">
            <a:noFill/>
            <a:prstDash val="solid"/>
          </a:ln>
        </p:spPr>
        <p:txBody>
          <a:bodyPr lIns="95250" tIns="0" rIns="95250" bIns="0" anchor="ctr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DADOS DEMONSTRATIVOS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AAA9B13-24D6-44D6-A763-2282D87B7D98}"/>
              </a:ext>
            </a:extLst>
          </p:cNvPr>
          <p:cNvSpPr>
            <a:spLocks noGrp="1"/>
          </p:cNvSpPr>
          <p:nvPr/>
        </p:nvSpPr>
        <p:spPr>
          <a:xfrm>
            <a:off x="628650" y="1952625"/>
            <a:ext cx="5905500" cy="4000500"/>
          </a:xfrm>
          <a:prstGeom prst="roundRect">
            <a:avLst>
              <a:gd name="adj" fmla="val 3333"/>
            </a:avLst>
          </a:prstGeom>
          <a:solidFill>
            <a:srgbClr val="07101D"/>
          </a:solidFill>
          <a:ln w="13335">
            <a:solidFill>
              <a:srgbClr val="58D6A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pic>
        <p:nvPicPr>
          <p:cNvPr id="25" name="Imagem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5325" y="2079776"/>
            <a:ext cx="5772150" cy="3746198"/>
          </a:xfrm>
          <a:prstGeom prst="rect">
            <a:avLst/>
          </a:prstGeom>
        </p:spPr>
      </p:pic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AB29FEC5-6EB3-4FB5-8F85-2B2782C3DD36}"/>
              </a:ext>
            </a:extLst>
          </p:cNvPr>
          <p:cNvSpPr>
            <a:spLocks noGrp="1"/>
          </p:cNvSpPr>
          <p:nvPr/>
        </p:nvSpPr>
        <p:spPr>
          <a:xfrm>
            <a:off x="838200" y="2105025"/>
            <a:ext cx="1581150" cy="323850"/>
          </a:xfrm>
          <a:prstGeom prst="roundRect">
            <a:avLst>
              <a:gd name="adj" fmla="val 50000"/>
            </a:avLst>
          </a:prstGeom>
          <a:solidFill>
            <a:srgbClr val="58D6A5"/>
          </a:solidFill>
          <a:ln w="0">
            <a:noFill/>
            <a:prstDash val="solid"/>
          </a:ln>
        </p:spPr>
        <p:txBody>
          <a:bodyPr lIns="95250" tIns="0" rIns="95250" bIns="0" anchor="ctr">
            <a:normAutofit/>
          </a:bodyPr>
          <a:lstStyle/>
          <a:p>
            <a:pPr algn="ctr">
              <a:defRPr sz="975" b="1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1 · LOCALIZAR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2E5F9629-4943-49B5-9843-47C84D288D02}"/>
              </a:ext>
            </a:extLst>
          </p:cNvPr>
          <p:cNvSpPr>
            <a:spLocks noGrp="1"/>
          </p:cNvSpPr>
          <p:nvPr/>
        </p:nvSpPr>
        <p:spPr>
          <a:xfrm>
            <a:off x="6858000" y="1952625"/>
            <a:ext cx="4705350" cy="1790700"/>
          </a:xfrm>
          <a:prstGeom prst="roundRect">
            <a:avLst>
              <a:gd name="adj" fmla="val 7447"/>
            </a:avLst>
          </a:prstGeom>
          <a:solidFill>
            <a:srgbClr val="07101D"/>
          </a:solidFill>
          <a:ln w="13335">
            <a:solidFill>
              <a:srgbClr val="F4C95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pic>
        <p:nvPicPr>
          <p:cNvPr id="28" name="Imagem 27"/>
          <p:cNvPicPr>
            <a:picLocks noChangeAspect="1"/>
          </p:cNvPicPr>
          <p:nvPr/>
        </p:nvPicPr>
        <p:blipFill>
          <a:blip r:embed="rId4"/>
          <a:srcRect t="22073" b="22073"/>
          <a:stretch>
            <a:fillRect/>
          </a:stretch>
        </p:blipFill>
        <p:spPr>
          <a:xfrm>
            <a:off x="6924675" y="2019300"/>
            <a:ext cx="4572000" cy="1657350"/>
          </a:xfrm>
          <a:prstGeom prst="rect">
            <a:avLst/>
          </a:prstGeom>
        </p:spPr>
      </p:pic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FEAD79E6-888A-4CEC-BEB0-5E2AA73012DA}"/>
              </a:ext>
            </a:extLst>
          </p:cNvPr>
          <p:cNvSpPr>
            <a:spLocks noGrp="1"/>
          </p:cNvSpPr>
          <p:nvPr/>
        </p:nvSpPr>
        <p:spPr>
          <a:xfrm>
            <a:off x="7067550" y="2105025"/>
            <a:ext cx="1657350" cy="323850"/>
          </a:xfrm>
          <a:prstGeom prst="roundRect">
            <a:avLst>
              <a:gd name="adj" fmla="val 50000"/>
            </a:avLst>
          </a:prstGeom>
          <a:solidFill>
            <a:srgbClr val="F4C95D"/>
          </a:solidFill>
          <a:ln w="0">
            <a:noFill/>
            <a:prstDash val="solid"/>
          </a:ln>
        </p:spPr>
        <p:txBody>
          <a:bodyPr lIns="95250" tIns="0" rIns="95250" bIns="0" anchor="ctr">
            <a:normAutofit/>
          </a:bodyPr>
          <a:lstStyle/>
          <a:p>
            <a:pPr algn="ctr">
              <a:defRPr sz="975" b="1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2 · PRIORIZAR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3FF171DC-17B3-493B-A926-AD5FDD723A4D}"/>
              </a:ext>
            </a:extLst>
          </p:cNvPr>
          <p:cNvSpPr>
            <a:spLocks noGrp="1"/>
          </p:cNvSpPr>
          <p:nvPr/>
        </p:nvSpPr>
        <p:spPr>
          <a:xfrm>
            <a:off x="6858000" y="4067175"/>
            <a:ext cx="4705350" cy="1885950"/>
          </a:xfrm>
          <a:prstGeom prst="roundRect">
            <a:avLst>
              <a:gd name="adj" fmla="val 7071"/>
            </a:avLst>
          </a:prstGeom>
          <a:solidFill>
            <a:srgbClr val="07101D"/>
          </a:solidFill>
          <a:ln w="13335">
            <a:solidFill>
              <a:srgbClr val="E85C5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pic>
        <p:nvPicPr>
          <p:cNvPr id="31" name="Imagem 30"/>
          <p:cNvPicPr>
            <a:picLocks noChangeAspect="1"/>
          </p:cNvPicPr>
          <p:nvPr/>
        </p:nvPicPr>
        <p:blipFill>
          <a:blip r:embed="rId5"/>
          <a:srcRect t="20468" b="20468"/>
          <a:stretch>
            <a:fillRect/>
          </a:stretch>
        </p:blipFill>
        <p:spPr>
          <a:xfrm>
            <a:off x="6924675" y="4133850"/>
            <a:ext cx="4572000" cy="1752600"/>
          </a:xfrm>
          <a:prstGeom prst="rect">
            <a:avLst/>
          </a:prstGeom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5A6FADD8-B102-494F-81AF-58A124353B2C}"/>
              </a:ext>
            </a:extLst>
          </p:cNvPr>
          <p:cNvSpPr>
            <a:spLocks noGrp="1"/>
          </p:cNvSpPr>
          <p:nvPr/>
        </p:nvSpPr>
        <p:spPr>
          <a:xfrm>
            <a:off x="7067550" y="4219575"/>
            <a:ext cx="2781300" cy="323850"/>
          </a:xfrm>
          <a:prstGeom prst="roundRect">
            <a:avLst>
              <a:gd name="adj" fmla="val 50000"/>
            </a:avLst>
          </a:prstGeom>
          <a:solidFill>
            <a:srgbClr val="E85C5C"/>
          </a:solidFill>
          <a:ln w="0">
            <a:noFill/>
            <a:prstDash val="solid"/>
          </a:ln>
        </p:spPr>
        <p:txBody>
          <a:bodyPr lIns="95250" tIns="0" rIns="95250" bIns="0" anchor="ctr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EXPLICAR E RECOMENDAR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A3372F46-D94E-4A64-AD49-2135D62C6A38}"/>
              </a:ext>
            </a:extLst>
          </p:cNvPr>
          <p:cNvSpPr>
            <a:spLocks noGrp="1"/>
          </p:cNvSpPr>
          <p:nvPr/>
        </p:nvSpPr>
        <p:spPr>
          <a:xfrm>
            <a:off x="628650" y="6153150"/>
            <a:ext cx="10934700" cy="323850"/>
          </a:xfrm>
          <a:prstGeom prst="roundRect">
            <a:avLst>
              <a:gd name="adj" fmla="val 35294"/>
            </a:avLst>
          </a:prstGeom>
          <a:solidFill>
            <a:srgbClr val="061B3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DBC9201-AF19-4220-A19D-BEECC457A441}"/>
              </a:ext>
            </a:extLst>
          </p:cNvPr>
          <p:cNvSpPr>
            <a:spLocks noGrp="1"/>
          </p:cNvSpPr>
          <p:nvPr/>
        </p:nvSpPr>
        <p:spPr>
          <a:xfrm>
            <a:off x="857250" y="6210300"/>
            <a:ext cx="1047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0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mapa híbrido  →  lista por severidade  →  alerta rastreável  →  apoio à coordenação TSO–DSO</a:t>
            </a:r>
          </a:p>
        </p:txBody>
      </p:sp>
    </p:spTree>
    <p:extLst>
      <p:ext uri="{BB962C8B-B14F-4D97-AF65-F5344CB8AC3E}">
        <p14:creationId xmlns:p14="http://schemas.microsoft.com/office/powerpoint/2010/main" val="1385590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>
            <a:extLst>
              <a:ext uri="{FF2B5EF4-FFF2-40B4-BE49-F238E27FC236}">
                <a16:creationId xmlns:a16="http://schemas.microsoft.com/office/drawing/2014/main" id="{DD51CF0C-729F-43CA-9B1E-714B9FF963D3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rPr>
              <a:t>CONFIANÇA PARA USO OPERACIONAL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BC40F09-52DF-4546-9440-18DEC110CA21}"/>
              </a:ext>
            </a:extLst>
          </p:cNvPr>
          <p:cNvSpPr>
            <a:spLocks noGrp="1"/>
          </p:cNvSpPr>
          <p:nvPr/>
        </p:nvSpPr>
        <p:spPr>
          <a:xfrm>
            <a:off x="628650" y="666750"/>
            <a:ext cx="10382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29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Método verificável. Desempenho mensurável.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092FE5A6-6FCE-4D90-ADD4-E052C3C5EED4}"/>
              </a:ext>
            </a:extLst>
          </p:cNvPr>
          <p:cNvSpPr>
            <a:spLocks noGrp="1"/>
          </p:cNvSpPr>
          <p:nvPr/>
        </p:nvSpPr>
        <p:spPr>
          <a:xfrm>
            <a:off x="628650" y="1323975"/>
            <a:ext cx="10934700" cy="0"/>
          </a:xfrm>
          <a:prstGeom prst="line">
            <a:avLst/>
          </a:prstGeom>
          <a:noFill/>
          <a:ln w="12383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4551A44-FBCB-417E-9CCF-3BCD2DAFEC78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4000"/>
              </a:lnSpc>
              <a:buNone/>
              <a:def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CA29A42-061C-4392-95E3-6F5A860B57F8}"/>
              </a:ext>
            </a:extLst>
          </p:cNvPr>
          <p:cNvSpPr>
            <a:spLocks noGrp="1"/>
          </p:cNvSpPr>
          <p:nvPr/>
        </p:nvSpPr>
        <p:spPr>
          <a:xfrm>
            <a:off x="628650" y="1457325"/>
            <a:ext cx="847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055" lnSpcReduction="10000"/>
          </a:bodyPr>
          <a:lstStyle/>
          <a:p>
            <a:pPr algn="l">
              <a:lnSpc>
                <a:spcPct val="104000"/>
              </a:lnSpc>
              <a:buNone/>
              <a:defRPr sz="1275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A solução separa projeção de tendências, previsão operacional e avaliação fora da amostra — com limitações documentadas.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1AD8271-94A3-4195-92E8-039A080D60F4}"/>
              </a:ext>
            </a:extLst>
          </p:cNvPr>
          <p:cNvSpPr>
            <a:spLocks noGrp="1"/>
          </p:cNvSpPr>
          <p:nvPr/>
        </p:nvSpPr>
        <p:spPr>
          <a:xfrm>
            <a:off x="9124950" y="1466850"/>
            <a:ext cx="2438400" cy="323850"/>
          </a:xfrm>
          <a:prstGeom prst="roundRect">
            <a:avLst>
              <a:gd name="adj" fmla="val 50000"/>
            </a:avLst>
          </a:prstGeom>
          <a:solidFill>
            <a:srgbClr val="D8690E"/>
          </a:solidFill>
          <a:ln w="0">
            <a:noFill/>
            <a:prstDash val="solid"/>
          </a:ln>
        </p:spPr>
        <p:txBody>
          <a:bodyPr lIns="95250" tIns="0" rIns="95250" bIns="0" anchor="ctr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MÉTRICAS DEMONSTRATIVAS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9CFE821-DE71-4575-8D29-960FC62E27A1}"/>
              </a:ext>
            </a:extLst>
          </p:cNvPr>
          <p:cNvSpPr>
            <a:spLocks noGrp="1"/>
          </p:cNvSpPr>
          <p:nvPr/>
        </p:nvSpPr>
        <p:spPr>
          <a:xfrm>
            <a:off x="628650" y="1914525"/>
            <a:ext cx="3429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38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38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METODOLOGIA DE PROJEÇÃO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5EE0868-075F-46A9-9C52-DA915341CA1C}"/>
              </a:ext>
            </a:extLst>
          </p:cNvPr>
          <p:cNvSpPr>
            <a:spLocks noGrp="1"/>
          </p:cNvSpPr>
          <p:nvPr/>
        </p:nvSpPr>
        <p:spPr>
          <a:xfrm>
            <a:off x="628650" y="2181225"/>
            <a:ext cx="5219700" cy="3028950"/>
          </a:xfrm>
          <a:prstGeom prst="roundRect">
            <a:avLst>
              <a:gd name="adj" fmla="val 4403"/>
            </a:avLst>
          </a:prstGeom>
          <a:solidFill>
            <a:srgbClr val="07101D"/>
          </a:solidFill>
          <a:ln w="13335">
            <a:solidFill>
              <a:srgbClr val="22C7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pic>
        <p:nvPicPr>
          <p:cNvPr id="34" name="Imagem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2035" y="2247900"/>
            <a:ext cx="4452931" cy="2895600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F4E5D3E3-7B41-482C-A530-ACA298CF6642}"/>
              </a:ext>
            </a:extLst>
          </p:cNvPr>
          <p:cNvSpPr>
            <a:spLocks noGrp="1"/>
          </p:cNvSpPr>
          <p:nvPr/>
        </p:nvSpPr>
        <p:spPr>
          <a:xfrm>
            <a:off x="6343650" y="1914525"/>
            <a:ext cx="3429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38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38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PAINEL DE VALIDAÇÃO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E0A8F41-B153-4592-BB46-C969E087D2A4}"/>
              </a:ext>
            </a:extLst>
          </p:cNvPr>
          <p:cNvSpPr>
            <a:spLocks noGrp="1"/>
          </p:cNvSpPr>
          <p:nvPr/>
        </p:nvSpPr>
        <p:spPr>
          <a:xfrm>
            <a:off x="6343650" y="2181225"/>
            <a:ext cx="5219700" cy="3028950"/>
          </a:xfrm>
          <a:prstGeom prst="roundRect">
            <a:avLst>
              <a:gd name="adj" fmla="val 4403"/>
            </a:avLst>
          </a:prstGeom>
          <a:solidFill>
            <a:srgbClr val="07101D"/>
          </a:solidFill>
          <a:ln w="13335">
            <a:solidFill>
              <a:srgbClr val="58D6A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pic>
        <p:nvPicPr>
          <p:cNvPr id="37" name="Imagem 3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722727" y="2247900"/>
            <a:ext cx="4461547" cy="2895600"/>
          </a:xfrm>
          <a:prstGeom prst="rect">
            <a:avLst/>
          </a:prstGeom>
        </p:spPr>
      </p:pic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9FD45AE-2391-45A1-8B2F-664E44E51CB4}"/>
              </a:ext>
            </a:extLst>
          </p:cNvPr>
          <p:cNvSpPr>
            <a:spLocks noGrp="1"/>
          </p:cNvSpPr>
          <p:nvPr/>
        </p:nvSpPr>
        <p:spPr>
          <a:xfrm>
            <a:off x="628650" y="5467350"/>
            <a:ext cx="3390900" cy="74295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07AA46EF-94B6-4F93-8F35-AA9A08D69E90}"/>
              </a:ext>
            </a:extLst>
          </p:cNvPr>
          <p:cNvSpPr>
            <a:spLocks noGrp="1"/>
          </p:cNvSpPr>
          <p:nvPr/>
        </p:nvSpPr>
        <p:spPr>
          <a:xfrm>
            <a:off x="628650" y="5467350"/>
            <a:ext cx="76200" cy="742950"/>
          </a:xfrm>
          <a:prstGeom prst="roundRect">
            <a:avLst>
              <a:gd name="adj" fmla="val 50000"/>
            </a:avLst>
          </a:prstGeom>
          <a:solidFill>
            <a:srgbClr val="22C7F2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7A7BA63-978C-420A-B71B-D0342459FDB9}"/>
              </a:ext>
            </a:extLst>
          </p:cNvPr>
          <p:cNvSpPr>
            <a:spLocks noGrp="1"/>
          </p:cNvSpPr>
          <p:nvPr/>
        </p:nvSpPr>
        <p:spPr>
          <a:xfrm>
            <a:off x="857250" y="5610225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088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088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BACKTEST TEMPORAL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B9F4E95-6ACC-4B97-BA74-FC4830E04BB1}"/>
              </a:ext>
            </a:extLst>
          </p:cNvPr>
          <p:cNvSpPr>
            <a:spLocks noGrp="1"/>
          </p:cNvSpPr>
          <p:nvPr/>
        </p:nvSpPr>
        <p:spPr>
          <a:xfrm>
            <a:off x="857250" y="5867400"/>
            <a:ext cx="2952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96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6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Janelas históricas e validação fora da amostra.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7ECAD96A-3D37-4318-8BB1-B8B1D1F70982}"/>
              </a:ext>
            </a:extLst>
          </p:cNvPr>
          <p:cNvSpPr>
            <a:spLocks noGrp="1"/>
          </p:cNvSpPr>
          <p:nvPr/>
        </p:nvSpPr>
        <p:spPr>
          <a:xfrm>
            <a:off x="4400550" y="5467350"/>
            <a:ext cx="3390900" cy="74295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F9515024-F696-4CE1-8275-B5947B3D6FE7}"/>
              </a:ext>
            </a:extLst>
          </p:cNvPr>
          <p:cNvSpPr>
            <a:spLocks noGrp="1"/>
          </p:cNvSpPr>
          <p:nvPr/>
        </p:nvSpPr>
        <p:spPr>
          <a:xfrm>
            <a:off x="4400550" y="5467350"/>
            <a:ext cx="76200" cy="742950"/>
          </a:xfrm>
          <a:prstGeom prst="roundRect">
            <a:avLst>
              <a:gd name="adj" fmla="val 50000"/>
            </a:avLst>
          </a:prstGeom>
          <a:solidFill>
            <a:srgbClr val="58D6A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2F577C6-A713-42EB-AEBE-3C3F95386469}"/>
              </a:ext>
            </a:extLst>
          </p:cNvPr>
          <p:cNvSpPr>
            <a:spLocks noGrp="1"/>
          </p:cNvSpPr>
          <p:nvPr/>
        </p:nvSpPr>
        <p:spPr>
          <a:xfrm>
            <a:off x="4629150" y="5610225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088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088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BASELINES E MÉTRICAS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F54B671-8577-42AA-955D-6B078F42828A}"/>
              </a:ext>
            </a:extLst>
          </p:cNvPr>
          <p:cNvSpPr>
            <a:spLocks noGrp="1"/>
          </p:cNvSpPr>
          <p:nvPr/>
        </p:nvSpPr>
        <p:spPr>
          <a:xfrm>
            <a:off x="4629150" y="5867400"/>
            <a:ext cx="2952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949"/>
          </a:bodyPr>
          <a:lstStyle/>
          <a:p>
            <a:pPr algn="l">
              <a:lnSpc>
                <a:spcPct val="112000"/>
              </a:lnSpc>
              <a:buNone/>
              <a:defRPr sz="96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6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MAE, RMSE, MAPE, skill e calibração probabilística.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F43A47F2-6DCF-4D59-99F1-F2E69EF385D6}"/>
              </a:ext>
            </a:extLst>
          </p:cNvPr>
          <p:cNvSpPr>
            <a:spLocks noGrp="1"/>
          </p:cNvSpPr>
          <p:nvPr/>
        </p:nvSpPr>
        <p:spPr>
          <a:xfrm>
            <a:off x="8172450" y="5467350"/>
            <a:ext cx="3390900" cy="742950"/>
          </a:xfrm>
          <a:prstGeom prst="roundRect">
            <a:avLst>
              <a:gd name="adj" fmla="val 23077"/>
            </a:avLst>
          </a:prstGeom>
          <a:solidFill>
            <a:srgbClr val="FFF4F4"/>
          </a:solidFill>
          <a:ln w="9525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DF65C79C-7A9B-40D8-8A29-E2621CB248AF}"/>
              </a:ext>
            </a:extLst>
          </p:cNvPr>
          <p:cNvSpPr>
            <a:spLocks noGrp="1"/>
          </p:cNvSpPr>
          <p:nvPr/>
        </p:nvSpPr>
        <p:spPr>
          <a:xfrm>
            <a:off x="8172450" y="5467350"/>
            <a:ext cx="76200" cy="742950"/>
          </a:xfrm>
          <a:prstGeom prst="roundRect">
            <a:avLst>
              <a:gd name="adj" fmla="val 50000"/>
            </a:avLst>
          </a:prstGeom>
          <a:solidFill>
            <a:srgbClr val="E85C5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E79083DA-012C-452B-8535-C4F928B7A501}"/>
              </a:ext>
            </a:extLst>
          </p:cNvPr>
          <p:cNvSpPr>
            <a:spLocks noGrp="1"/>
          </p:cNvSpPr>
          <p:nvPr/>
        </p:nvSpPr>
        <p:spPr>
          <a:xfrm>
            <a:off x="8401050" y="5610225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088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088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LIMITES E RASTREABILIDADE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A50CAD5F-AD6B-4D88-AA8B-2A0346769C00}"/>
              </a:ext>
            </a:extLst>
          </p:cNvPr>
          <p:cNvSpPr>
            <a:spLocks noGrp="1"/>
          </p:cNvSpPr>
          <p:nvPr/>
        </p:nvSpPr>
        <p:spPr>
          <a:xfrm>
            <a:off x="8401050" y="5867400"/>
            <a:ext cx="2952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3809" lnSpcReduction="10000"/>
          </a:bodyPr>
          <a:lstStyle/>
          <a:p>
            <a:pPr algn="l">
              <a:lnSpc>
                <a:spcPct val="112000"/>
              </a:lnSpc>
              <a:buNone/>
              <a:defRPr sz="96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6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Fontes, versões, defasagens e restrições declaradas.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EA3144CE-38A7-4E00-B9B7-4D27F3921D30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10934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78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78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Princípio: nenhuma promessa de desempenho sem teste; nenhum alerta sem evidência rastreável.</a:t>
            </a:r>
          </a:p>
        </p:txBody>
      </p:sp>
    </p:spTree>
    <p:extLst>
      <p:ext uri="{BB962C8B-B14F-4D97-AF65-F5344CB8AC3E}">
        <p14:creationId xmlns:p14="http://schemas.microsoft.com/office/powerpoint/2010/main" val="816622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9628AD45-EBFC-4F1A-BAC3-AB8E3F417874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B9A6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B9A6FF"/>
                </a:solidFill>
                <a:latin typeface="DejaVu Sans"/>
                <a:ea typeface="DejaVu Sans"/>
                <a:cs typeface="DejaVu Sans"/>
              </a:rPr>
              <a:t>EQUIPE 24 — LINKFY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9921D0E-2D07-4C7D-8494-D7D788CC83C4}"/>
              </a:ext>
            </a:extLst>
          </p:cNvPr>
          <p:cNvSpPr>
            <a:spLocks noGrp="1"/>
          </p:cNvSpPr>
          <p:nvPr/>
        </p:nvSpPr>
        <p:spPr>
          <a:xfrm>
            <a:off x="495300" y="66675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320" lnSpcReduction="20000"/>
          </a:bodyPr>
          <a:lstStyle/>
          <a:p>
            <a:pPr algn="l">
              <a:lnSpc>
                <a:spcPct val="104000"/>
              </a:lnSpc>
              <a:buNone/>
              <a:defRPr sz="21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Sistemas elétricos de potência, dados, visão computacional e modelagem preditiva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E0ECE83-EE89-479B-B5D2-2694C114EEB3}"/>
              </a:ext>
            </a:extLst>
          </p:cNvPr>
          <p:cNvSpPr>
            <a:spLocks noGrp="1"/>
          </p:cNvSpPr>
          <p:nvPr/>
        </p:nvSpPr>
        <p:spPr>
          <a:xfrm>
            <a:off x="9620250" y="352425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4000"/>
              </a:lnSpc>
              <a:buNone/>
              <a:defRPr sz="975" b="1" i="0">
                <a:solidFill>
                  <a:srgbClr val="7F8AA3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7F8AA3"/>
                </a:solidFill>
                <a:latin typeface="DejaVu Sans"/>
                <a:ea typeface="DejaVu Sans"/>
                <a:cs typeface="DejaVu Sans"/>
              </a:rPr>
              <a:t>O.R.A.C.U.L.O.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C509676A-93C0-4232-8F8D-93C81FA87337}"/>
              </a:ext>
            </a:extLst>
          </p:cNvPr>
          <p:cNvSpPr>
            <a:spLocks noGrp="1"/>
          </p:cNvSpPr>
          <p:nvPr/>
        </p:nvSpPr>
        <p:spPr>
          <a:xfrm>
            <a:off x="419100" y="1381125"/>
            <a:ext cx="2152650" cy="1028700"/>
          </a:xfrm>
          <a:prstGeom prst="roundRect">
            <a:avLst>
              <a:gd name="adj" fmla="val 14815"/>
            </a:avLst>
          </a:prstGeom>
          <a:solidFill>
            <a:srgbClr val="1D2438"/>
          </a:solidFill>
          <a:ln w="9525">
            <a:solidFill>
              <a:srgbClr val="2C385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5" name="Conector reto 4">
            <a:extLst>
              <a:ext uri="{FF2B5EF4-FFF2-40B4-BE49-F238E27FC236}">
                <a16:creationId xmlns:a16="http://schemas.microsoft.com/office/drawing/2014/main" id="{3EF1174D-8188-403E-AB74-B53AAF73DE4C}"/>
              </a:ext>
            </a:extLst>
          </p:cNvPr>
          <p:cNvSpPr>
            <a:spLocks noGrp="1"/>
          </p:cNvSpPr>
          <p:nvPr/>
        </p:nvSpPr>
        <p:spPr>
          <a:xfrm>
            <a:off x="590550" y="1581150"/>
            <a:ext cx="323850" cy="0"/>
          </a:xfrm>
          <a:prstGeom prst="line">
            <a:avLst/>
          </a:prstGeom>
          <a:noFill/>
          <a:ln w="28575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7924AB5-CAE1-46D4-BF0C-C58FE6E91520}"/>
              </a:ext>
            </a:extLst>
          </p:cNvPr>
          <p:cNvSpPr>
            <a:spLocks noGrp="1"/>
          </p:cNvSpPr>
          <p:nvPr/>
        </p:nvSpPr>
        <p:spPr>
          <a:xfrm>
            <a:off x="590550" y="1724025"/>
            <a:ext cx="1809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238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38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Daniel Gudin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10C3FA5-8140-44FC-B6B3-9E5CC16508E7}"/>
              </a:ext>
            </a:extLst>
          </p:cNvPr>
          <p:cNvSpPr>
            <a:spLocks noGrp="1"/>
          </p:cNvSpPr>
          <p:nvPr/>
        </p:nvSpPr>
        <p:spPr>
          <a:xfrm>
            <a:off x="590550" y="207645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38" b="0" i="0">
                <a:solidFill>
                  <a:srgbClr val="D7D9EB"/>
                </a:solidFill>
                <a:latin typeface="DejaVu Sans"/>
                <a:ea typeface="DejaVu Sans"/>
                <a:cs typeface="DejaVu Sans"/>
              </a:defRPr>
            </a:pPr>
            <a:r>
              <a:rPr sz="938" b="0" i="0">
                <a:solidFill>
                  <a:srgbClr val="D7D9EB"/>
                </a:solidFill>
                <a:latin typeface="DejaVu Sans"/>
                <a:ea typeface="DejaVu Sans"/>
                <a:cs typeface="DejaVu Sans"/>
              </a:rPr>
              <a:t>Scrum Master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89D9D71-B773-449F-A8CE-E42DAA0BB58E}"/>
              </a:ext>
            </a:extLst>
          </p:cNvPr>
          <p:cNvSpPr>
            <a:spLocks noGrp="1"/>
          </p:cNvSpPr>
          <p:nvPr/>
        </p:nvSpPr>
        <p:spPr>
          <a:xfrm>
            <a:off x="2762250" y="1381125"/>
            <a:ext cx="2152650" cy="1028700"/>
          </a:xfrm>
          <a:prstGeom prst="roundRect">
            <a:avLst>
              <a:gd name="adj" fmla="val 14815"/>
            </a:avLst>
          </a:prstGeom>
          <a:solidFill>
            <a:srgbClr val="1D2438"/>
          </a:solidFill>
          <a:ln w="9525">
            <a:solidFill>
              <a:srgbClr val="2C385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9" name="Conector reto 8">
            <a:extLst>
              <a:ext uri="{FF2B5EF4-FFF2-40B4-BE49-F238E27FC236}">
                <a16:creationId xmlns:a16="http://schemas.microsoft.com/office/drawing/2014/main" id="{D470C85F-A6E8-46E4-8FA0-E91F7CF8BC6E}"/>
              </a:ext>
            </a:extLst>
          </p:cNvPr>
          <p:cNvSpPr>
            <a:spLocks noGrp="1"/>
          </p:cNvSpPr>
          <p:nvPr/>
        </p:nvSpPr>
        <p:spPr>
          <a:xfrm>
            <a:off x="2933700" y="1581150"/>
            <a:ext cx="323850" cy="0"/>
          </a:xfrm>
          <a:prstGeom prst="line">
            <a:avLst/>
          </a:prstGeom>
          <a:noFill/>
          <a:ln w="28575">
            <a:solidFill>
              <a:srgbClr val="58D6A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10CE336-6802-46D4-86E4-2B2CC5DFC4E8}"/>
              </a:ext>
            </a:extLst>
          </p:cNvPr>
          <p:cNvSpPr>
            <a:spLocks noGrp="1"/>
          </p:cNvSpPr>
          <p:nvPr/>
        </p:nvSpPr>
        <p:spPr>
          <a:xfrm>
            <a:off x="2933700" y="1724025"/>
            <a:ext cx="1809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238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38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Luiz F. Perrout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F76526D-0AA5-4D9B-8569-50F6AA8CB006}"/>
              </a:ext>
            </a:extLst>
          </p:cNvPr>
          <p:cNvSpPr>
            <a:spLocks noGrp="1"/>
          </p:cNvSpPr>
          <p:nvPr/>
        </p:nvSpPr>
        <p:spPr>
          <a:xfrm>
            <a:off x="2933700" y="207645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38" b="0" i="0">
                <a:solidFill>
                  <a:srgbClr val="D7D9EB"/>
                </a:solidFill>
                <a:latin typeface="DejaVu Sans"/>
                <a:ea typeface="DejaVu Sans"/>
                <a:cs typeface="DejaVu Sans"/>
              </a:defRPr>
            </a:pPr>
            <a:r>
              <a:rPr sz="938" b="0" i="0">
                <a:solidFill>
                  <a:srgbClr val="D7D9EB"/>
                </a:solidFill>
                <a:latin typeface="DejaVu Sans"/>
                <a:ea typeface="DejaVu Sans"/>
                <a:cs typeface="DejaVu Sans"/>
              </a:rPr>
              <a:t>Desenvolvedor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F4A5ED4A-F25B-4DB7-8E93-A4B0A5F51662}"/>
              </a:ext>
            </a:extLst>
          </p:cNvPr>
          <p:cNvSpPr>
            <a:spLocks noGrp="1"/>
          </p:cNvSpPr>
          <p:nvPr/>
        </p:nvSpPr>
        <p:spPr>
          <a:xfrm>
            <a:off x="5105400" y="1381125"/>
            <a:ext cx="2152650" cy="1028700"/>
          </a:xfrm>
          <a:prstGeom prst="roundRect">
            <a:avLst>
              <a:gd name="adj" fmla="val 14815"/>
            </a:avLst>
          </a:prstGeom>
          <a:solidFill>
            <a:srgbClr val="1D2438"/>
          </a:solidFill>
          <a:ln w="9525">
            <a:solidFill>
              <a:srgbClr val="2C385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3" name="Conector reto 12">
            <a:extLst>
              <a:ext uri="{FF2B5EF4-FFF2-40B4-BE49-F238E27FC236}">
                <a16:creationId xmlns:a16="http://schemas.microsoft.com/office/drawing/2014/main" id="{0B5DFE54-44F0-4865-8ECD-9AFEA756E8E4}"/>
              </a:ext>
            </a:extLst>
          </p:cNvPr>
          <p:cNvSpPr>
            <a:spLocks noGrp="1"/>
          </p:cNvSpPr>
          <p:nvPr/>
        </p:nvSpPr>
        <p:spPr>
          <a:xfrm>
            <a:off x="5276850" y="1581150"/>
            <a:ext cx="323850" cy="0"/>
          </a:xfrm>
          <a:prstGeom prst="line">
            <a:avLst/>
          </a:prstGeom>
          <a:noFill/>
          <a:ln w="28575">
            <a:solidFill>
              <a:srgbClr val="F4C95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B59E0BF-F370-408F-A974-7ED22996A30B}"/>
              </a:ext>
            </a:extLst>
          </p:cNvPr>
          <p:cNvSpPr>
            <a:spLocks noGrp="1"/>
          </p:cNvSpPr>
          <p:nvPr/>
        </p:nvSpPr>
        <p:spPr>
          <a:xfrm>
            <a:off x="5276850" y="1724025"/>
            <a:ext cx="1809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238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38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Marcos V. Theodoro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3A26245-7D8D-4C44-8C45-68EB8D80D8AE}"/>
              </a:ext>
            </a:extLst>
          </p:cNvPr>
          <p:cNvSpPr>
            <a:spLocks noGrp="1"/>
          </p:cNvSpPr>
          <p:nvPr/>
        </p:nvSpPr>
        <p:spPr>
          <a:xfrm>
            <a:off x="5276850" y="207645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38" b="0" i="0">
                <a:solidFill>
                  <a:srgbClr val="D7D9EB"/>
                </a:solidFill>
                <a:latin typeface="DejaVu Sans"/>
                <a:ea typeface="DejaVu Sans"/>
                <a:cs typeface="DejaVu Sans"/>
              </a:defRPr>
            </a:pPr>
            <a:r>
              <a:rPr sz="938" b="0" i="0">
                <a:solidFill>
                  <a:srgbClr val="D7D9EB"/>
                </a:solidFill>
                <a:latin typeface="DejaVu Sans"/>
                <a:ea typeface="DejaVu Sans"/>
                <a:cs typeface="DejaVu Sans"/>
              </a:rPr>
              <a:t>Desenvolvedor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43AB739-D528-4E5F-AB41-9420A1DA65EA}"/>
              </a:ext>
            </a:extLst>
          </p:cNvPr>
          <p:cNvSpPr>
            <a:spLocks noGrp="1"/>
          </p:cNvSpPr>
          <p:nvPr/>
        </p:nvSpPr>
        <p:spPr>
          <a:xfrm>
            <a:off x="7448550" y="1381125"/>
            <a:ext cx="2152650" cy="1028700"/>
          </a:xfrm>
          <a:prstGeom prst="roundRect">
            <a:avLst>
              <a:gd name="adj" fmla="val 14815"/>
            </a:avLst>
          </a:prstGeom>
          <a:solidFill>
            <a:srgbClr val="1D2438"/>
          </a:solidFill>
          <a:ln w="9525">
            <a:solidFill>
              <a:srgbClr val="2C385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7" name="Conector reto 16">
            <a:extLst>
              <a:ext uri="{FF2B5EF4-FFF2-40B4-BE49-F238E27FC236}">
                <a16:creationId xmlns:a16="http://schemas.microsoft.com/office/drawing/2014/main" id="{80B50173-0067-46F3-9B5A-6CEA8074B2C5}"/>
              </a:ext>
            </a:extLst>
          </p:cNvPr>
          <p:cNvSpPr>
            <a:spLocks noGrp="1"/>
          </p:cNvSpPr>
          <p:nvPr/>
        </p:nvSpPr>
        <p:spPr>
          <a:xfrm>
            <a:off x="7620000" y="1581150"/>
            <a:ext cx="323850" cy="0"/>
          </a:xfrm>
          <a:prstGeom prst="line">
            <a:avLst/>
          </a:prstGeom>
          <a:noFill/>
          <a:ln w="28575">
            <a:solidFill>
              <a:srgbClr val="D8690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22A7110-F2F4-4FA0-BE60-243DB1F6980D}"/>
              </a:ext>
            </a:extLst>
          </p:cNvPr>
          <p:cNvSpPr>
            <a:spLocks noGrp="1"/>
          </p:cNvSpPr>
          <p:nvPr/>
        </p:nvSpPr>
        <p:spPr>
          <a:xfrm>
            <a:off x="7620000" y="1724025"/>
            <a:ext cx="1809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238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38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Tiago Gomes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AEE0B3D-DCC2-4D9F-BEC5-67A2FDBD1A58}"/>
              </a:ext>
            </a:extLst>
          </p:cNvPr>
          <p:cNvSpPr>
            <a:spLocks noGrp="1"/>
          </p:cNvSpPr>
          <p:nvPr/>
        </p:nvSpPr>
        <p:spPr>
          <a:xfrm>
            <a:off x="7620000" y="207645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38" b="0" i="0">
                <a:solidFill>
                  <a:srgbClr val="D7D9EB"/>
                </a:solidFill>
                <a:latin typeface="DejaVu Sans"/>
                <a:ea typeface="DejaVu Sans"/>
                <a:cs typeface="DejaVu Sans"/>
              </a:defRPr>
            </a:pPr>
            <a:r>
              <a:rPr sz="938" b="0" i="0">
                <a:solidFill>
                  <a:srgbClr val="D7D9EB"/>
                </a:solidFill>
                <a:latin typeface="DejaVu Sans"/>
                <a:ea typeface="DejaVu Sans"/>
                <a:cs typeface="DejaVu Sans"/>
              </a:rPr>
              <a:t>Desenvolvedor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A0A2C1AD-39CD-4631-A9F8-FB4441A4FDC9}"/>
              </a:ext>
            </a:extLst>
          </p:cNvPr>
          <p:cNvSpPr>
            <a:spLocks noGrp="1"/>
          </p:cNvSpPr>
          <p:nvPr/>
        </p:nvSpPr>
        <p:spPr>
          <a:xfrm>
            <a:off x="9791700" y="1381125"/>
            <a:ext cx="2152650" cy="1028700"/>
          </a:xfrm>
          <a:prstGeom prst="roundRect">
            <a:avLst>
              <a:gd name="adj" fmla="val 14815"/>
            </a:avLst>
          </a:prstGeom>
          <a:solidFill>
            <a:srgbClr val="2A2547"/>
          </a:solidFill>
          <a:ln w="9525">
            <a:solidFill>
              <a:srgbClr val="5F4B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1" name="Conector reto 20">
            <a:extLst>
              <a:ext uri="{FF2B5EF4-FFF2-40B4-BE49-F238E27FC236}">
                <a16:creationId xmlns:a16="http://schemas.microsoft.com/office/drawing/2014/main" id="{DB7B2683-BBA3-4A07-9A42-777A5E6EB04A}"/>
              </a:ext>
            </a:extLst>
          </p:cNvPr>
          <p:cNvSpPr>
            <a:spLocks noGrp="1"/>
          </p:cNvSpPr>
          <p:nvPr/>
        </p:nvSpPr>
        <p:spPr>
          <a:xfrm>
            <a:off x="9963150" y="1581150"/>
            <a:ext cx="323850" cy="0"/>
          </a:xfrm>
          <a:prstGeom prst="line">
            <a:avLst/>
          </a:prstGeom>
          <a:noFill/>
          <a:ln w="28575">
            <a:solidFill>
              <a:srgbClr val="B99A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E7DD31CF-981B-4045-940A-92DFBB5642AE}"/>
              </a:ext>
            </a:extLst>
          </p:cNvPr>
          <p:cNvSpPr>
            <a:spLocks noGrp="1"/>
          </p:cNvSpPr>
          <p:nvPr/>
        </p:nvSpPr>
        <p:spPr>
          <a:xfrm>
            <a:off x="9963150" y="1724025"/>
            <a:ext cx="1809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238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38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Lígia Rolim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AFD9677A-819D-4FCC-9921-9651362D8667}"/>
              </a:ext>
            </a:extLst>
          </p:cNvPr>
          <p:cNvSpPr>
            <a:spLocks noGrp="1"/>
          </p:cNvSpPr>
          <p:nvPr/>
        </p:nvSpPr>
        <p:spPr>
          <a:xfrm>
            <a:off x="9963150" y="207645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38" b="0" i="0">
                <a:solidFill>
                  <a:srgbClr val="D7D9EB"/>
                </a:solidFill>
                <a:latin typeface="DejaVu Sans"/>
                <a:ea typeface="DejaVu Sans"/>
                <a:cs typeface="DejaVu Sans"/>
              </a:defRPr>
            </a:pPr>
            <a:r>
              <a:rPr sz="938" b="0" i="0">
                <a:solidFill>
                  <a:srgbClr val="D7D9EB"/>
                </a:solidFill>
                <a:latin typeface="DejaVu Sans"/>
                <a:ea typeface="DejaVu Sans"/>
                <a:cs typeface="DejaVu Sans"/>
              </a:rPr>
              <a:t>Especialista Convidada</a:t>
            </a:r>
          </a:p>
        </p:txBody>
      </p:sp>
      <p:sp>
        <p:nvSpPr>
          <p:cNvPr id="24" name="Conector reto 23">
            <a:extLst>
              <a:ext uri="{FF2B5EF4-FFF2-40B4-BE49-F238E27FC236}">
                <a16:creationId xmlns:a16="http://schemas.microsoft.com/office/drawing/2014/main" id="{00EB70BC-17F8-4E80-9588-BAB9C891B609}"/>
              </a:ext>
            </a:extLst>
          </p:cNvPr>
          <p:cNvSpPr>
            <a:spLocks noGrp="1"/>
          </p:cNvSpPr>
          <p:nvPr/>
        </p:nvSpPr>
        <p:spPr>
          <a:xfrm>
            <a:off x="495300" y="2857500"/>
            <a:ext cx="11201400" cy="0"/>
          </a:xfrm>
          <a:prstGeom prst="line">
            <a:avLst/>
          </a:prstGeom>
          <a:noFill/>
          <a:ln w="9525">
            <a:solidFill>
              <a:srgbClr val="3540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C99009E4-70CB-46D0-BF46-E2A43395A511}"/>
              </a:ext>
            </a:extLst>
          </p:cNvPr>
          <p:cNvSpPr>
            <a:spLocks noGrp="1"/>
          </p:cNvSpPr>
          <p:nvPr/>
        </p:nvSpPr>
        <p:spPr>
          <a:xfrm>
            <a:off x="495300" y="31051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58D6A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58D6A5"/>
                </a:solidFill>
                <a:latin typeface="DejaVu Sans"/>
                <a:ea typeface="DejaVu Sans"/>
                <a:cs typeface="DejaVu Sans"/>
              </a:rPr>
              <a:t>MENSAGEM FINAL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3C61537C-A2B0-48F8-95E8-C2A2FB132065}"/>
              </a:ext>
            </a:extLst>
          </p:cNvPr>
          <p:cNvSpPr>
            <a:spLocks noGrp="1"/>
          </p:cNvSpPr>
          <p:nvPr/>
        </p:nvSpPr>
        <p:spPr>
          <a:xfrm>
            <a:off x="495300" y="3390900"/>
            <a:ext cx="11144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070"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 ONS dispõe de elevada observabilidade sobre o sistema sob sua supervisão. O O.R.A.C.U.L.O. leva visibilidade preditiva à distribuição — onde está a MMGD, quanto poderá gerar e onde o excedente poderá surgir.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C217C351-4BF7-4722-BB64-8A36392E31AF}"/>
              </a:ext>
            </a:extLst>
          </p:cNvPr>
          <p:cNvSpPr>
            <a:spLocks noGrp="1"/>
          </p:cNvSpPr>
          <p:nvPr/>
        </p:nvSpPr>
        <p:spPr>
          <a:xfrm>
            <a:off x="495300" y="4552950"/>
            <a:ext cx="5867400" cy="323850"/>
          </a:xfrm>
          <a:prstGeom prst="roundRect">
            <a:avLst>
              <a:gd name="adj" fmla="val 50000"/>
            </a:avLst>
          </a:prstGeom>
          <a:solidFill>
            <a:srgbClr val="22C7F2"/>
          </a:solidFill>
          <a:ln w="0">
            <a:noFill/>
            <a:prstDash val="solid"/>
          </a:ln>
        </p:spPr>
        <p:txBody>
          <a:bodyPr lIns="95250" tIns="0" rIns="95250" bIns="0" anchor="ctr">
            <a:normAutofit/>
          </a:bodyPr>
          <a:lstStyle/>
          <a:p>
            <a:pPr algn="ctr">
              <a:defRPr sz="975" b="1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INTERPRETAR SINAIS · ANTECIPAR CONDIÇÕES · APOIAR DECISÕES</a:t>
            </a:r>
          </a:p>
        </p:txBody>
      </p:sp>
      <p:sp>
        <p:nvSpPr>
          <p:cNvPr id="28" name="Conector reto 27">
            <a:extLst>
              <a:ext uri="{FF2B5EF4-FFF2-40B4-BE49-F238E27FC236}">
                <a16:creationId xmlns:a16="http://schemas.microsoft.com/office/drawing/2014/main" id="{5D26943F-4733-4101-A927-F2D77F0A1112}"/>
              </a:ext>
            </a:extLst>
          </p:cNvPr>
          <p:cNvSpPr>
            <a:spLocks noGrp="1"/>
          </p:cNvSpPr>
          <p:nvPr/>
        </p:nvSpPr>
        <p:spPr>
          <a:xfrm>
            <a:off x="495300" y="5124450"/>
            <a:ext cx="11201400" cy="0"/>
          </a:xfrm>
          <a:prstGeom prst="line">
            <a:avLst/>
          </a:prstGeom>
          <a:noFill/>
          <a:ln w="9525">
            <a:solidFill>
              <a:srgbClr val="3540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FE91F308-A2E5-45CD-8571-D008C72CA262}"/>
              </a:ext>
            </a:extLst>
          </p:cNvPr>
          <p:cNvSpPr>
            <a:spLocks noGrp="1"/>
          </p:cNvSpPr>
          <p:nvPr/>
        </p:nvSpPr>
        <p:spPr>
          <a:xfrm>
            <a:off x="495300" y="53530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00" b="1" i="0">
                <a:solidFill>
                  <a:srgbClr val="AEB7CD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AEB7CD"/>
                </a:solidFill>
                <a:latin typeface="DejaVu Sans"/>
                <a:ea typeface="DejaVu Sans"/>
                <a:cs typeface="DejaVu Sans"/>
              </a:rPr>
              <a:t>FONTES TÉCNICAS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5DC91C08-1D03-48F0-8BB3-7213B9D7C5F2}"/>
              </a:ext>
            </a:extLst>
          </p:cNvPr>
          <p:cNvSpPr>
            <a:spLocks noGrp="1"/>
          </p:cNvSpPr>
          <p:nvPr/>
        </p:nvSpPr>
        <p:spPr>
          <a:xfrm>
            <a:off x="495300" y="5638800"/>
            <a:ext cx="4476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4000"/>
              </a:lnSpc>
              <a:buNone/>
              <a:defRPr sz="975" b="0" i="0">
                <a:solidFill>
                  <a:srgbClr val="D4D8E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 i="0">
                <a:solidFill>
                  <a:srgbClr val="D4D8E6"/>
                </a:solidFill>
                <a:latin typeface="DejaVu Sans"/>
                <a:ea typeface="DejaVu Sans"/>
                <a:cs typeface="DejaVu Sans"/>
              </a:rPr>
              <a:t>ONS · PAR/PEL 2025 — Sumário Executivo</a:t>
            </a:r>
          </a:p>
          <a:p>
            <a:pPr algn="l">
              <a:lnSpc>
                <a:spcPct val="124000"/>
              </a:lnSpc>
              <a:buNone/>
              <a:defRPr sz="975" b="0" i="0">
                <a:solidFill>
                  <a:srgbClr val="D4D8E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 i="0">
                <a:solidFill>
                  <a:srgbClr val="D4D8E6"/>
                </a:solidFill>
                <a:latin typeface="DejaVu Sans"/>
                <a:ea typeface="DejaVu Sans"/>
                <a:cs typeface="DejaVu Sans"/>
              </a:rPr>
              <a:t>ONS · Portal de Dados Abertos</a:t>
            </a:r>
          </a:p>
          <a:p>
            <a:pPr algn="l">
              <a:lnSpc>
                <a:spcPct val="124000"/>
              </a:lnSpc>
              <a:buNone/>
              <a:defRPr sz="975" b="0" i="0">
                <a:solidFill>
                  <a:srgbClr val="D4D8E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 i="0">
                <a:solidFill>
                  <a:srgbClr val="D4D8E6"/>
                </a:solidFill>
                <a:latin typeface="DejaVu Sans"/>
                <a:ea typeface="DejaVu Sans"/>
                <a:cs typeface="DejaVu Sans"/>
              </a:rPr>
              <a:t>ONS · FAQ Curtailment</a:t>
            </a:r>
          </a:p>
          <a:p>
            <a:pPr algn="l">
              <a:lnSpc>
                <a:spcPct val="124000"/>
              </a:lnSpc>
              <a:buNone/>
              <a:defRPr sz="975" b="0" i="0">
                <a:solidFill>
                  <a:srgbClr val="D4D8E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 i="0">
                <a:solidFill>
                  <a:srgbClr val="D4D8E6"/>
                </a:solidFill>
                <a:latin typeface="DejaVu Sans"/>
                <a:ea typeface="DejaVu Sans"/>
                <a:cs typeface="DejaVu Sans"/>
              </a:rPr>
              <a:t>WECC · Composite Load Model Specification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16D7E17A-9FF7-4CDE-91C0-CCF490C597F6}"/>
              </a:ext>
            </a:extLst>
          </p:cNvPr>
          <p:cNvSpPr>
            <a:spLocks noGrp="1"/>
          </p:cNvSpPr>
          <p:nvPr/>
        </p:nvSpPr>
        <p:spPr>
          <a:xfrm>
            <a:off x="5600700" y="5638800"/>
            <a:ext cx="5905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4000"/>
              </a:lnSpc>
              <a:buNone/>
              <a:defRPr sz="975" b="0" i="0">
                <a:solidFill>
                  <a:srgbClr val="C9C4F5"/>
                </a:solidFill>
                <a:latin typeface="DejaVu Sans"/>
                <a:ea typeface="DejaVu Sans"/>
                <a:cs typeface="DejaVu Sans"/>
              </a:defRPr>
            </a:pPr>
            <a:r>
              <a:rPr sz="975" b="0" i="0">
                <a:solidFill>
                  <a:srgbClr val="C9C4F5"/>
                </a:solidFill>
                <a:latin typeface="DejaVu Sans"/>
                <a:ea typeface="DejaVu Sans"/>
                <a:cs typeface="DejaVu Sans"/>
              </a:rPr>
              <a:t>ons.org.br/.../parpel2025/sumario-executivo</a:t>
            </a:r>
          </a:p>
          <a:p>
            <a:pPr algn="l">
              <a:lnSpc>
                <a:spcPct val="124000"/>
              </a:lnSpc>
              <a:buNone/>
              <a:defRPr sz="975" b="0" i="0">
                <a:solidFill>
                  <a:srgbClr val="C9C4F5"/>
                </a:solidFill>
                <a:latin typeface="DejaVu Sans"/>
                <a:ea typeface="DejaVu Sans"/>
                <a:cs typeface="DejaVu Sans"/>
              </a:defRPr>
            </a:pPr>
            <a:r>
              <a:rPr sz="975" b="0" i="0">
                <a:solidFill>
                  <a:srgbClr val="C9C4F5"/>
                </a:solidFill>
                <a:latin typeface="DejaVu Sans"/>
                <a:ea typeface="DejaVu Sans"/>
                <a:cs typeface="DejaVu Sans"/>
              </a:rPr>
              <a:t>dados.ons.org.br</a:t>
            </a:r>
          </a:p>
          <a:p>
            <a:pPr algn="l">
              <a:lnSpc>
                <a:spcPct val="124000"/>
              </a:lnSpc>
              <a:buNone/>
              <a:defRPr sz="975" b="0" i="0">
                <a:solidFill>
                  <a:srgbClr val="C9C4F5"/>
                </a:solidFill>
                <a:latin typeface="DejaVu Sans"/>
                <a:ea typeface="DejaVu Sans"/>
                <a:cs typeface="DejaVu Sans"/>
              </a:defRPr>
            </a:pPr>
            <a:r>
              <a:rPr sz="975" b="0" i="0">
                <a:solidFill>
                  <a:srgbClr val="C9C4F5"/>
                </a:solidFill>
                <a:latin typeface="DejaVu Sans"/>
                <a:ea typeface="DejaVu Sans"/>
                <a:cs typeface="DejaVu Sans"/>
              </a:rPr>
              <a:t>ons.org.br/Paginas/faq_curtailment.aspx</a:t>
            </a:r>
          </a:p>
          <a:p>
            <a:pPr algn="l">
              <a:lnSpc>
                <a:spcPct val="124000"/>
              </a:lnSpc>
              <a:buNone/>
              <a:defRPr sz="975" b="0" i="0">
                <a:solidFill>
                  <a:srgbClr val="C9C4F5"/>
                </a:solidFill>
                <a:latin typeface="DejaVu Sans"/>
                <a:ea typeface="DejaVu Sans"/>
                <a:cs typeface="DejaVu Sans"/>
              </a:defRPr>
            </a:pPr>
            <a:r>
              <a:rPr sz="975" b="0" i="0">
                <a:solidFill>
                  <a:srgbClr val="C9C4F5"/>
                </a:solidFill>
                <a:latin typeface="DejaVu Sans"/>
                <a:ea typeface="DejaVu Sans"/>
                <a:cs typeface="DejaVu Sans"/>
              </a:rPr>
              <a:t>wecc.org/.../Composite Load Model Specification_final.pdf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7CC0C141-0017-4909-A0C5-AA7E03C0EE9A}"/>
              </a:ext>
            </a:extLst>
          </p:cNvPr>
          <p:cNvSpPr>
            <a:spLocks noGrp="1"/>
          </p:cNvSpPr>
          <p:nvPr/>
        </p:nvSpPr>
        <p:spPr>
          <a:xfrm>
            <a:off x="495300" y="6486525"/>
            <a:ext cx="590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863" b="0" i="0">
                <a:solidFill>
                  <a:srgbClr val="AEB7CD"/>
                </a:solidFill>
                <a:latin typeface="DejaVu Sans"/>
                <a:ea typeface="DejaVu Sans"/>
                <a:cs typeface="DejaVu Sans"/>
              </a:defRPr>
            </a:pPr>
            <a:r>
              <a:rPr sz="863" b="0" i="0">
                <a:solidFill>
                  <a:srgbClr val="AEB7CD"/>
                </a:solidFill>
                <a:latin typeface="DejaVu Sans"/>
                <a:ea typeface="DejaVu Sans"/>
                <a:cs typeface="DejaVu Sans"/>
              </a:rPr>
              <a:t>Hackathon IA COPPE/UFRJ 2026 · Transição Energética</a:t>
            </a:r>
          </a:p>
        </p:txBody>
      </p:sp>
    </p:spTree>
    <p:extLst>
      <p:ext uri="{BB962C8B-B14F-4D97-AF65-F5344CB8AC3E}">
        <p14:creationId xmlns:p14="http://schemas.microsoft.com/office/powerpoint/2010/main" val="15152700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2243</Words>
  <Application>Microsoft Office PowerPoint</Application>
  <DocSecurity>0</DocSecurity>
  <PresentationFormat>Widescreen</PresentationFormat>
  <Paragraphs>249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Calibri</vt:lpstr>
      <vt:lpstr>DejaVu Sans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Lígia Rolim</cp:lastModifiedBy>
  <cp:revision>1</cp:revision>
  <dcterms:created xsi:type="dcterms:W3CDTF">2026-09-13T22:50:12Z</dcterms:created>
  <dcterms:modified xsi:type="dcterms:W3CDTF">2026-09-13T22:55:57Z</dcterms:modified>
</cp:coreProperties>
</file>